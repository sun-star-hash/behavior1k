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61" autoAdjust="0"/>
    <p:restoredTop sz="95026" autoAdjust="0"/>
  </p:normalViewPr>
  <p:slideViewPr>
    <p:cSldViewPr snapToGrid="0">
      <p:cViewPr>
        <p:scale>
          <a:sx n="25" d="100"/>
          <a:sy n="25" d="100"/>
        </p:scale>
        <p:origin x="2155" y="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CE3CB-5277-48E6-BCBF-B434DC32A1C2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0AD9B5-C3A7-43BC-9ED1-A76F648430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03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1pPr>
    <a:lvl2pPr marL="1239789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2pPr>
    <a:lvl3pPr marL="2479578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3pPr>
    <a:lvl4pPr marL="3719368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4pPr>
    <a:lvl5pPr marL="4959157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5pPr>
    <a:lvl6pPr marL="6198946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6pPr>
    <a:lvl7pPr marL="7438735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7pPr>
    <a:lvl8pPr marL="8678525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8pPr>
    <a:lvl9pPr marL="9918314" algn="l" defTabSz="2479578" rtl="0" eaLnBrk="1" latinLnBrk="1" hangingPunct="1">
      <a:defRPr sz="3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0AD9B5-C3A7-43BC-9ED1-A76F648430F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4398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544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7601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262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979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4826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88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7379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5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474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34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31A69-130F-4AFA-87E1-41757229F71B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036860-EB71-4593-97E5-6A298007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938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1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1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0EC81771-B908-395D-7D63-8730307F9584}"/>
              </a:ext>
            </a:extLst>
          </p:cNvPr>
          <p:cNvGrpSpPr/>
          <p:nvPr/>
        </p:nvGrpSpPr>
        <p:grpSpPr>
          <a:xfrm>
            <a:off x="10705017" y="7916913"/>
            <a:ext cx="10180800" cy="8658000"/>
            <a:chOff x="530719" y="2641752"/>
            <a:chExt cx="10169298" cy="8679299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67BA1A4-385E-3AA0-0B3B-48717AC870FC}"/>
                </a:ext>
              </a:extLst>
            </p:cNvPr>
            <p:cNvSpPr txBox="1"/>
            <p:nvPr/>
          </p:nvSpPr>
          <p:spPr>
            <a:xfrm>
              <a:off x="530719" y="2641752"/>
              <a:ext cx="10169298" cy="8679299"/>
            </a:xfrm>
            <a:prstGeom prst="rect">
              <a:avLst/>
            </a:prstGeom>
            <a:noFill/>
            <a:ln w="57150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altLang="ko-KR" sz="5400" b="1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  <a:p>
              <a:pPr algn="ctr"/>
              <a:endParaRPr lang="en-US" altLang="ko-KR" sz="3600" dirty="0">
                <a:latin typeface="+mn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30C0648-3A2F-0131-FB4B-1DCD67DE1899}"/>
                </a:ext>
              </a:extLst>
            </p:cNvPr>
            <p:cNvSpPr txBox="1"/>
            <p:nvPr/>
          </p:nvSpPr>
          <p:spPr>
            <a:xfrm>
              <a:off x="545663" y="2679034"/>
              <a:ext cx="4019006" cy="646331"/>
            </a:xfrm>
            <a:prstGeom prst="rect">
              <a:avLst/>
            </a:prstGeom>
            <a:gradFill>
              <a:gsLst>
                <a:gs pos="0">
                  <a:schemeClr val="accent4">
                    <a:shade val="30000"/>
                    <a:satMod val="115000"/>
                    <a:lumMod val="48000"/>
                    <a:alpha val="95000"/>
                  </a:schemeClr>
                </a:gs>
                <a:gs pos="50000">
                  <a:schemeClr val="accent4">
                    <a:lumMod val="50000"/>
                    <a:shade val="67500"/>
                    <a:satMod val="115000"/>
                  </a:schemeClr>
                </a:gs>
                <a:gs pos="100000">
                  <a:schemeClr val="accent4">
                    <a:lumMod val="50000"/>
                    <a:shade val="100000"/>
                    <a:satMod val="115000"/>
                  </a:schemeClr>
                </a:gs>
              </a:gsLst>
              <a:path path="rect">
                <a:fillToRect l="50000" t="50000" r="50000" b="50000"/>
              </a:path>
            </a:gradFill>
            <a:ln w="57150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3600" b="1" dirty="0">
                  <a:solidFill>
                    <a:schemeClr val="bg1"/>
                  </a:solidFill>
                  <a:latin typeface="+mn-ea"/>
                </a:rPr>
                <a:t>결과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04E150-3344-E153-815A-D2847E49875B}"/>
              </a:ext>
            </a:extLst>
          </p:cNvPr>
          <p:cNvSpPr txBox="1"/>
          <p:nvPr/>
        </p:nvSpPr>
        <p:spPr>
          <a:xfrm>
            <a:off x="526514" y="6173468"/>
            <a:ext cx="10180800" cy="5293757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5400" b="1" dirty="0">
              <a:latin typeface="+mn-ea"/>
            </a:endParaRPr>
          </a:p>
          <a:p>
            <a:pPr algn="ctr"/>
            <a:r>
              <a:rPr lang="ko-KR" altLang="ko-KR" sz="2400" dirty="0" err="1"/>
              <a:t>OmniGibson</a:t>
            </a:r>
            <a:r>
              <a:rPr lang="ko-KR" altLang="ko-KR" sz="2400" dirty="0"/>
              <a:t> 기반 가정환경 시뮬레이션 벤치마크로, 로봇의 장기 작업 </a:t>
            </a:r>
            <a:r>
              <a:rPr lang="ko-KR" altLang="ko-KR" sz="2400" dirty="0" err="1"/>
              <a:t>수행·이동·양팔</a:t>
            </a:r>
            <a:r>
              <a:rPr lang="ko-KR" altLang="ko-KR" sz="2400" dirty="0"/>
              <a:t> </a:t>
            </a:r>
            <a:r>
              <a:rPr lang="ko-KR" altLang="ko-KR" sz="2400" dirty="0" err="1"/>
              <a:t>조작·물체</a:t>
            </a:r>
            <a:r>
              <a:rPr lang="ko-KR" altLang="ko-KR" sz="2400" dirty="0"/>
              <a:t> 상호작용 능력을 평가하는 데이터셋 및 환경</a:t>
            </a:r>
            <a:endParaRPr lang="en-US" altLang="ko-KR" sz="24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200" dirty="0">
              <a:latin typeface="+mn-ea"/>
            </a:endParaRPr>
          </a:p>
          <a:p>
            <a:pPr algn="ctr"/>
            <a:endParaRPr lang="en-US" altLang="ko-KR" sz="20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960D056F-BB26-F74E-8730-70D872199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4213" y="8738894"/>
            <a:ext cx="9882248" cy="37223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37C99B-9CE4-13DD-7E3A-61A600B1E6F9}"/>
              </a:ext>
            </a:extLst>
          </p:cNvPr>
          <p:cNvSpPr txBox="1"/>
          <p:nvPr/>
        </p:nvSpPr>
        <p:spPr>
          <a:xfrm>
            <a:off x="522513" y="436991"/>
            <a:ext cx="203385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6000" b="1" dirty="0"/>
              <a:t>BEHAVIOR-1K </a:t>
            </a:r>
            <a:r>
              <a:rPr lang="ko-KR" altLang="en-US" sz="6000" b="1" dirty="0"/>
              <a:t>기반 양팔 로봇 정책 학습</a:t>
            </a:r>
            <a:endParaRPr lang="ko-KR" altLang="en-US" sz="5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791E0-6CF5-D63E-BD9E-794012C4381A}"/>
              </a:ext>
            </a:extLst>
          </p:cNvPr>
          <p:cNvSpPr txBox="1"/>
          <p:nvPr/>
        </p:nvSpPr>
        <p:spPr>
          <a:xfrm>
            <a:off x="525846" y="1767279"/>
            <a:ext cx="10179301" cy="830997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b="1" dirty="0">
                <a:latin typeface="+mn-ea"/>
              </a:rPr>
              <a:t>지도 교수님</a:t>
            </a:r>
            <a:r>
              <a:rPr lang="en-US" altLang="ko-KR" sz="4800" b="1" dirty="0">
                <a:latin typeface="+mn-ea"/>
              </a:rPr>
              <a:t>: </a:t>
            </a:r>
            <a:r>
              <a:rPr lang="ko-KR" altLang="en-US" sz="4800" b="1" dirty="0" err="1">
                <a:latin typeface="+mn-ea"/>
              </a:rPr>
              <a:t>하종은</a:t>
            </a:r>
            <a:r>
              <a:rPr lang="ko-KR" altLang="en-US" sz="4800" b="1" dirty="0">
                <a:latin typeface="+mn-ea"/>
              </a:rPr>
              <a:t> 교수님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C29D6-F5C9-1FEE-2470-ECFA1AD996C6}"/>
              </a:ext>
            </a:extLst>
          </p:cNvPr>
          <p:cNvSpPr txBox="1"/>
          <p:nvPr/>
        </p:nvSpPr>
        <p:spPr>
          <a:xfrm>
            <a:off x="10705529" y="1767279"/>
            <a:ext cx="10180800" cy="830997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b="1" dirty="0">
                <a:latin typeface="+mn-ea"/>
              </a:rPr>
              <a:t>조원</a:t>
            </a:r>
            <a:r>
              <a:rPr lang="en-US" altLang="ko-KR" sz="4800" b="1" dirty="0">
                <a:latin typeface="+mn-ea"/>
              </a:rPr>
              <a:t>: </a:t>
            </a:r>
            <a:r>
              <a:rPr lang="ko-KR" altLang="en-US" sz="4800" b="1" dirty="0">
                <a:latin typeface="+mn-ea"/>
              </a:rPr>
              <a:t>강지호</a:t>
            </a:r>
            <a:r>
              <a:rPr lang="en-US" altLang="ko-KR" sz="4800" b="1" dirty="0">
                <a:latin typeface="+mn-ea"/>
              </a:rPr>
              <a:t>, </a:t>
            </a:r>
            <a:r>
              <a:rPr lang="ko-KR" altLang="en-US" sz="4800" b="1" dirty="0" err="1">
                <a:latin typeface="+mn-ea"/>
              </a:rPr>
              <a:t>문병선</a:t>
            </a:r>
            <a:endParaRPr lang="ko-KR" altLang="en-US" sz="4800" b="1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F21E68-84F7-27E5-88B3-AD831848791A}"/>
              </a:ext>
            </a:extLst>
          </p:cNvPr>
          <p:cNvSpPr txBox="1"/>
          <p:nvPr/>
        </p:nvSpPr>
        <p:spPr>
          <a:xfrm>
            <a:off x="526393" y="2598276"/>
            <a:ext cx="10180800" cy="3570208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5400" b="1" dirty="0">
              <a:latin typeface="+mn-ea"/>
            </a:endParaRP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altLang="ko-KR" sz="2400" dirty="0">
                <a:latin typeface="+mn-ea"/>
              </a:rPr>
              <a:t>BEHAVIOR-1K </a:t>
            </a:r>
            <a:r>
              <a:rPr lang="ko-KR" altLang="en-US" sz="2400" dirty="0">
                <a:latin typeface="+mn-ea"/>
              </a:rPr>
              <a:t>환경에서 </a:t>
            </a:r>
            <a:r>
              <a:rPr lang="en-US" altLang="ko-KR" sz="2400" dirty="0">
                <a:latin typeface="+mn-ea"/>
              </a:rPr>
              <a:t>Vision-Language-Action </a:t>
            </a:r>
            <a:r>
              <a:rPr lang="ko-KR" altLang="en-US" sz="2400" dirty="0">
                <a:latin typeface="+mn-ea"/>
              </a:rPr>
              <a:t>기반 양팔 로봇 조작 정책을 구현하고 평가</a:t>
            </a:r>
            <a:endParaRPr lang="en-US" altLang="ko-KR" sz="2400" dirty="0">
              <a:latin typeface="+mn-ea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ko-KR" altLang="ko-KR" sz="2400" dirty="0"/>
              <a:t>Pi0.5 기반 모델을 활용하여 장기 시퀀스 작업 수행 성능을 분석하고, </a:t>
            </a:r>
            <a:r>
              <a:rPr lang="ko-KR" altLang="ko-KR" sz="2400" dirty="0" err="1"/>
              <a:t>Flow</a:t>
            </a:r>
            <a:r>
              <a:rPr lang="ko-KR" altLang="ko-KR" sz="2400" dirty="0"/>
              <a:t> </a:t>
            </a:r>
            <a:r>
              <a:rPr lang="ko-KR" altLang="ko-KR" sz="2400" dirty="0" err="1"/>
              <a:t>Matching</a:t>
            </a:r>
            <a:r>
              <a:rPr lang="ko-KR" altLang="ko-KR" sz="2400" dirty="0"/>
              <a:t> 기반 정책 학습 구조를 적용</a:t>
            </a:r>
            <a:endParaRPr lang="en-US" altLang="ko-KR" sz="2400" dirty="0"/>
          </a:p>
          <a:p>
            <a:pPr marL="342900" indent="-342900" algn="ctr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ko-KR" altLang="ko-KR" sz="2400" dirty="0" err="1"/>
              <a:t>OmniGibson</a:t>
            </a:r>
            <a:r>
              <a:rPr lang="ko-KR" altLang="ko-KR" sz="2400" dirty="0"/>
              <a:t> 환경에서 다양한 작업 수행 결과를 통해 모델의 실효성 검증</a:t>
            </a:r>
            <a:endParaRPr lang="en-US" altLang="ko-KR" sz="2400" dirty="0"/>
          </a:p>
          <a:p>
            <a:pPr algn="ctr"/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8A191C-5F83-480C-7015-4DA81E72DAFF}"/>
              </a:ext>
            </a:extLst>
          </p:cNvPr>
          <p:cNvSpPr txBox="1"/>
          <p:nvPr/>
        </p:nvSpPr>
        <p:spPr>
          <a:xfrm>
            <a:off x="542326" y="2598276"/>
            <a:ext cx="4019006" cy="64633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1"/>
                </a:solidFill>
                <a:latin typeface="+mn-ea"/>
              </a:rPr>
              <a:t>연구 목적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36297D-C66E-2FF3-A2C5-91FB5F095DDA}"/>
              </a:ext>
            </a:extLst>
          </p:cNvPr>
          <p:cNvSpPr txBox="1"/>
          <p:nvPr/>
        </p:nvSpPr>
        <p:spPr>
          <a:xfrm>
            <a:off x="10705820" y="2588074"/>
            <a:ext cx="10180800" cy="5324535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3600" b="1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1600" dirty="0"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4BA792-A182-B99F-83BD-30DF7E0EBF88}"/>
              </a:ext>
            </a:extLst>
          </p:cNvPr>
          <p:cNvSpPr txBox="1"/>
          <p:nvPr/>
        </p:nvSpPr>
        <p:spPr>
          <a:xfrm>
            <a:off x="10712132" y="2598276"/>
            <a:ext cx="8112004" cy="64633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1"/>
                </a:solidFill>
                <a:latin typeface="+mn-ea"/>
              </a:rPr>
              <a:t>주차별 진행 상황 및 역할 분담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E37084-1706-89B6-3818-C425F45E15B4}"/>
              </a:ext>
            </a:extLst>
          </p:cNvPr>
          <p:cNvSpPr txBox="1"/>
          <p:nvPr/>
        </p:nvSpPr>
        <p:spPr>
          <a:xfrm>
            <a:off x="10685715" y="3343435"/>
            <a:ext cx="5084650" cy="3416320"/>
          </a:xfrm>
          <a:prstGeom prst="rect">
            <a:avLst/>
          </a:prstGeom>
          <a:noFill/>
          <a:ln w="57150"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1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en-US" sz="2400" dirty="0"/>
              <a:t>프로젝트 주제 선정 및 개발 </a:t>
            </a:r>
            <a:r>
              <a:rPr lang="en-US" altLang="ko-KR" sz="2400" dirty="0"/>
              <a:t>		</a:t>
            </a:r>
            <a:r>
              <a:rPr lang="ko-KR" altLang="en-US" sz="2400" dirty="0"/>
              <a:t>환경 조사</a:t>
            </a:r>
            <a:endParaRPr lang="en-US" altLang="ko-KR" sz="2400" dirty="0"/>
          </a:p>
          <a:p>
            <a:r>
              <a:rPr lang="en-US" altLang="ko-KR" sz="2400" dirty="0"/>
              <a:t> 2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ko-KR" sz="2400" dirty="0"/>
              <a:t>OpenPI·Pi0.5 기반 코드 구조 </a:t>
            </a:r>
            <a:r>
              <a:rPr lang="en-US" altLang="ko-KR" sz="2400" dirty="0"/>
              <a:t>		</a:t>
            </a:r>
            <a:r>
              <a:rPr lang="ko-KR" altLang="ko-KR" sz="2400" dirty="0"/>
              <a:t>분석 및 학습 파이프라인 구축</a:t>
            </a:r>
            <a:endParaRPr lang="en-US" altLang="ko-KR" sz="2400" dirty="0"/>
          </a:p>
          <a:p>
            <a:r>
              <a:rPr lang="en-US" altLang="ko-KR" sz="2400" dirty="0"/>
              <a:t> 3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ko-KR" sz="2400" dirty="0"/>
              <a:t>모델 구조 설계 및 실험 환경 </a:t>
            </a:r>
            <a:r>
              <a:rPr lang="en-US" altLang="ko-KR" sz="2400" dirty="0"/>
              <a:t>		</a:t>
            </a:r>
            <a:r>
              <a:rPr lang="ko-KR" altLang="ko-KR" sz="2400" dirty="0"/>
              <a:t>구성</a:t>
            </a:r>
            <a:endParaRPr lang="en-US" altLang="ko-KR" sz="2400" dirty="0"/>
          </a:p>
          <a:p>
            <a:r>
              <a:rPr lang="en-US" altLang="ko-KR" sz="2400" dirty="0"/>
              <a:t> 4</a:t>
            </a:r>
            <a:r>
              <a:rPr lang="ko-KR" altLang="en-US" sz="2400" dirty="0"/>
              <a:t>주차</a:t>
            </a:r>
            <a:r>
              <a:rPr lang="en-US" altLang="ko-KR" sz="2400" dirty="0"/>
              <a:t>:  </a:t>
            </a:r>
            <a:r>
              <a:rPr lang="ko-KR" altLang="ko-KR" sz="2400" dirty="0" err="1"/>
              <a:t>OmniGibson</a:t>
            </a:r>
            <a:r>
              <a:rPr lang="ko-KR" altLang="ko-KR" sz="2400" dirty="0"/>
              <a:t> 평가 환경 구축</a:t>
            </a:r>
            <a:endParaRPr lang="en-US" altLang="ko-KR" sz="2400" dirty="0"/>
          </a:p>
          <a:p>
            <a:r>
              <a:rPr lang="en-US" altLang="ko-KR" sz="2400" dirty="0"/>
              <a:t> 5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ko-KR" sz="2400" dirty="0"/>
              <a:t>실데이터 학습 파이프라인 </a:t>
            </a:r>
            <a:r>
              <a:rPr lang="en-US" altLang="ko-KR" sz="2400" dirty="0"/>
              <a:t>			</a:t>
            </a:r>
            <a:r>
              <a:rPr lang="ko-KR" altLang="ko-KR" sz="2400" dirty="0"/>
              <a:t>구현</a:t>
            </a:r>
            <a:endParaRPr lang="en-US" altLang="ko-KR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FBE48B-B887-151D-2BF6-D02E76534210}"/>
              </a:ext>
            </a:extLst>
          </p:cNvPr>
          <p:cNvSpPr txBox="1"/>
          <p:nvPr/>
        </p:nvSpPr>
        <p:spPr>
          <a:xfrm>
            <a:off x="15776460" y="3306162"/>
            <a:ext cx="5084650" cy="3693319"/>
          </a:xfrm>
          <a:prstGeom prst="rect">
            <a:avLst/>
          </a:prstGeom>
          <a:noFill/>
          <a:ln w="57150"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6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ko-KR" sz="2400" dirty="0"/>
              <a:t>메모리 최적화 및 학습 성능 </a:t>
            </a:r>
            <a:r>
              <a:rPr lang="en-US" altLang="ko-KR" sz="2400" dirty="0"/>
              <a:t>		</a:t>
            </a:r>
            <a:r>
              <a:rPr lang="ko-KR" altLang="ko-KR" sz="2400" dirty="0"/>
              <a:t>분석</a:t>
            </a:r>
            <a:r>
              <a:rPr lang="en-US" altLang="ko-KR" sz="2400" dirty="0"/>
              <a:t>  </a:t>
            </a:r>
          </a:p>
          <a:p>
            <a:r>
              <a:rPr lang="en-US" altLang="ko-KR" sz="2400" dirty="0"/>
              <a:t>7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ko-KR" sz="2400" dirty="0"/>
              <a:t>학습 및 W&amp;B 로깅 시스템 </a:t>
            </a:r>
            <a:r>
              <a:rPr lang="en-US" altLang="ko-KR" sz="2400" dirty="0"/>
              <a:t>			</a:t>
            </a:r>
            <a:r>
              <a:rPr lang="ko-KR" altLang="ko-KR" sz="2400" dirty="0"/>
              <a:t>구축</a:t>
            </a:r>
            <a:endParaRPr lang="en-US" altLang="ko-KR" sz="2400" dirty="0"/>
          </a:p>
          <a:p>
            <a:r>
              <a:rPr lang="en-US" altLang="ko-KR" sz="2400" dirty="0"/>
              <a:t> 8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en-US" sz="2400" dirty="0"/>
              <a:t>경량화 모델 학습</a:t>
            </a:r>
            <a:endParaRPr lang="en-US" altLang="ko-KR" sz="2400" dirty="0"/>
          </a:p>
          <a:p>
            <a:r>
              <a:rPr lang="en-US" altLang="ko-KR" sz="2400" dirty="0"/>
              <a:t> 9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en-US" sz="2400" dirty="0"/>
              <a:t>경량화 모델 학습</a:t>
            </a:r>
            <a:endParaRPr lang="en-US" altLang="ko-KR" sz="2400" dirty="0"/>
          </a:p>
          <a:p>
            <a:r>
              <a:rPr lang="en-US" altLang="ko-KR" sz="2400" dirty="0"/>
              <a:t> 10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en-US" sz="2400" dirty="0"/>
              <a:t>경량화 모델 학습</a:t>
            </a:r>
            <a:endParaRPr lang="en-US" altLang="ko-KR" sz="2400" dirty="0"/>
          </a:p>
          <a:p>
            <a:r>
              <a:rPr lang="en-US" altLang="ko-KR" sz="2400" dirty="0"/>
              <a:t> 11</a:t>
            </a:r>
            <a:r>
              <a:rPr lang="ko-KR" altLang="en-US" sz="2400" dirty="0"/>
              <a:t>주차</a:t>
            </a:r>
            <a:r>
              <a:rPr lang="en-US" altLang="ko-KR" sz="2400" dirty="0"/>
              <a:t>: rollout </a:t>
            </a:r>
            <a:r>
              <a:rPr lang="ko-KR" altLang="en-US" sz="2400" dirty="0"/>
              <a:t>안정화 및 평가 개선</a:t>
            </a:r>
            <a:endParaRPr lang="en-US" altLang="ko-KR" sz="2400" dirty="0"/>
          </a:p>
          <a:p>
            <a:r>
              <a:rPr lang="en-US" altLang="ko-KR" sz="2400" dirty="0"/>
              <a:t> 12</a:t>
            </a:r>
            <a:r>
              <a:rPr lang="ko-KR" altLang="en-US" sz="2400" dirty="0"/>
              <a:t>주차</a:t>
            </a:r>
            <a:r>
              <a:rPr lang="en-US" altLang="ko-KR" sz="2400" dirty="0"/>
              <a:t>: </a:t>
            </a:r>
            <a:r>
              <a:rPr lang="ko-KR" altLang="ko-KR" sz="2400" dirty="0"/>
              <a:t>최종 실험 결과 정리</a:t>
            </a:r>
            <a:endParaRPr lang="en-US" altLang="ko-KR" sz="2400" dirty="0"/>
          </a:p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28F00E-856C-97B8-EDC1-27E6B218DCA2}"/>
              </a:ext>
            </a:extLst>
          </p:cNvPr>
          <p:cNvSpPr txBox="1"/>
          <p:nvPr/>
        </p:nvSpPr>
        <p:spPr>
          <a:xfrm>
            <a:off x="10691811" y="6968060"/>
            <a:ext cx="10169298" cy="830997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+mn-ea"/>
              </a:rPr>
              <a:t> 강지호</a:t>
            </a:r>
            <a:r>
              <a:rPr lang="en-US" altLang="ko-KR" sz="2400" dirty="0">
                <a:latin typeface="+mn-ea"/>
              </a:rPr>
              <a:t>: </a:t>
            </a:r>
            <a:r>
              <a:rPr lang="ko-KR" altLang="ko-KR" sz="2400" dirty="0"/>
              <a:t>VLA 모델 </a:t>
            </a:r>
            <a:r>
              <a:rPr lang="ko-KR" altLang="ko-KR" sz="2400" dirty="0" err="1"/>
              <a:t>구현·학습</a:t>
            </a:r>
            <a:r>
              <a:rPr lang="ko-KR" altLang="ko-KR" sz="2400" dirty="0"/>
              <a:t> 및 핵심 알고리즘 실험 진행</a:t>
            </a:r>
            <a:endParaRPr lang="en-US" altLang="ko-KR" sz="2400" dirty="0">
              <a:latin typeface="+mn-ea"/>
            </a:endParaRPr>
          </a:p>
          <a:p>
            <a:r>
              <a:rPr lang="ko-KR" altLang="en-US" sz="2400" dirty="0">
                <a:latin typeface="+mn-ea"/>
              </a:rPr>
              <a:t> </a:t>
            </a:r>
            <a:r>
              <a:rPr lang="ko-KR" altLang="en-US" sz="2400" dirty="0" err="1">
                <a:latin typeface="+mn-ea"/>
              </a:rPr>
              <a:t>문병선</a:t>
            </a:r>
            <a:r>
              <a:rPr lang="en-US" altLang="ko-KR" sz="2400" dirty="0">
                <a:latin typeface="+mn-ea"/>
              </a:rPr>
              <a:t>: </a:t>
            </a:r>
            <a:r>
              <a:rPr lang="ko-KR" altLang="ko-KR" sz="2400" dirty="0" err="1"/>
              <a:t>OmniGibson</a:t>
            </a:r>
            <a:r>
              <a:rPr lang="ko-KR" altLang="ko-KR" sz="2400" dirty="0"/>
              <a:t> 평가 환경 </a:t>
            </a:r>
            <a:r>
              <a:rPr lang="ko-KR" altLang="ko-KR" sz="2400" dirty="0" err="1"/>
              <a:t>구축·영상</a:t>
            </a:r>
            <a:r>
              <a:rPr lang="ko-KR" altLang="ko-KR" sz="2400" dirty="0"/>
              <a:t> 생성 및 결과 정리</a:t>
            </a:r>
            <a:endParaRPr lang="en-US" altLang="ko-KR" sz="2400" dirty="0"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26A61D-12C0-0739-A1E6-47055D9A7D9B}"/>
              </a:ext>
            </a:extLst>
          </p:cNvPr>
          <p:cNvSpPr txBox="1"/>
          <p:nvPr/>
        </p:nvSpPr>
        <p:spPr>
          <a:xfrm>
            <a:off x="526393" y="11468788"/>
            <a:ext cx="10180800" cy="8340745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5400" b="1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>
                <a:latin typeface="+mn-ea"/>
              </a:rPr>
              <a:t>Model Architecture</a:t>
            </a:r>
          </a:p>
          <a:p>
            <a:r>
              <a:rPr lang="en-US" altLang="ko-KR" sz="2200" dirty="0">
                <a:latin typeface="+mn-ea"/>
              </a:rPr>
              <a:t> </a:t>
            </a:r>
            <a:r>
              <a:rPr lang="en-US" altLang="ko-KR" sz="2200" b="1" dirty="0">
                <a:latin typeface="+mn-ea"/>
              </a:rPr>
              <a:t>Backbone: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OpenPI의</a:t>
            </a:r>
            <a:r>
              <a:rPr lang="ko-KR" altLang="ko-KR" sz="2200" dirty="0">
                <a:latin typeface="+mn-ea"/>
              </a:rPr>
              <a:t> Pi0.5 기반 구조</a:t>
            </a:r>
            <a:endParaRPr lang="en-US" altLang="ko-KR" sz="2200" dirty="0">
              <a:latin typeface="+mn-ea"/>
            </a:endParaRPr>
          </a:p>
          <a:p>
            <a:r>
              <a:rPr lang="ko-KR" altLang="ko-KR" sz="2200" dirty="0">
                <a:latin typeface="+mn-ea"/>
              </a:rPr>
              <a:t>(</a:t>
            </a:r>
            <a:r>
              <a:rPr lang="ko-KR" altLang="ko-KR" sz="2200" dirty="0" err="1">
                <a:latin typeface="+mn-ea"/>
              </a:rPr>
              <a:t>SigLIP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>
                <a:latin typeface="+mn-ea"/>
              </a:rPr>
              <a:t>+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PaliGemma</a:t>
            </a:r>
            <a:r>
              <a:rPr lang="en-US" altLang="ko-KR" sz="2200" dirty="0">
                <a:latin typeface="+mn-ea"/>
              </a:rPr>
              <a:t> + </a:t>
            </a:r>
            <a:r>
              <a:rPr lang="ko-KR" altLang="ko-KR" sz="2200" dirty="0" err="1">
                <a:latin typeface="+mn-ea"/>
              </a:rPr>
              <a:t>Flow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Matching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Action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Expert</a:t>
            </a:r>
            <a:r>
              <a:rPr lang="ko-KR" altLang="ko-KR" sz="2200" dirty="0">
                <a:latin typeface="+mn-ea"/>
              </a:rPr>
              <a:t>)</a:t>
            </a:r>
            <a:endParaRPr lang="en-US" altLang="ko-KR" sz="2200" dirty="0">
              <a:latin typeface="+mn-ea"/>
            </a:endParaRPr>
          </a:p>
          <a:p>
            <a:endParaRPr lang="en-US" altLang="ko-KR" sz="2400" dirty="0">
              <a:latin typeface="+mn-ea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24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>
                <a:latin typeface="Arial" panose="020B0604020202020204" pitchFamily="34" charset="0"/>
              </a:rPr>
              <a:t>System 2 </a:t>
            </a:r>
            <a:r>
              <a:rPr lang="ko-KR" altLang="ko-KR" sz="2200" b="1" dirty="0" err="1">
                <a:latin typeface="Arial" panose="020B0604020202020204" pitchFamily="34" charset="0"/>
              </a:rPr>
              <a:t>Stage</a:t>
            </a:r>
            <a:r>
              <a:rPr lang="ko-KR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 err="1">
                <a:latin typeface="Arial" panose="020B0604020202020204" pitchFamily="34" charset="0"/>
              </a:rPr>
              <a:t>Tracking</a:t>
            </a:r>
            <a:r>
              <a:rPr lang="ko-KR" altLang="ko-KR" sz="2200" dirty="0">
                <a:latin typeface="Arial" panose="020B0604020202020204" pitchFamily="34" charset="0"/>
              </a:rPr>
              <a:t> : 현재 작업 진행 단계 예측 및 추적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 err="1">
                <a:latin typeface="Arial" panose="020B0604020202020204" pitchFamily="34" charset="0"/>
              </a:rPr>
              <a:t>Task</a:t>
            </a:r>
            <a:r>
              <a:rPr lang="ko-KR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 err="1">
                <a:latin typeface="Arial" panose="020B0604020202020204" pitchFamily="34" charset="0"/>
              </a:rPr>
              <a:t>Embedding</a:t>
            </a:r>
            <a:r>
              <a:rPr lang="ko-KR" altLang="ko-KR" sz="2200" dirty="0">
                <a:latin typeface="Arial" panose="020B0604020202020204" pitchFamily="34" charset="0"/>
              </a:rPr>
              <a:t> : 작업 종류를 벡터로 표현하는 조건 정보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>
                <a:latin typeface="Arial" panose="020B0604020202020204" pitchFamily="34" charset="0"/>
              </a:rPr>
              <a:t>FAST </a:t>
            </a:r>
            <a:r>
              <a:rPr lang="ko-KR" altLang="ko-KR" sz="2200" b="1" dirty="0" err="1">
                <a:latin typeface="Arial" panose="020B0604020202020204" pitchFamily="34" charset="0"/>
              </a:rPr>
              <a:t>Auxiliary</a:t>
            </a:r>
            <a:r>
              <a:rPr lang="ko-KR" altLang="ko-KR" sz="2200" dirty="0">
                <a:latin typeface="Arial" panose="020B0604020202020204" pitchFamily="34" charset="0"/>
              </a:rPr>
              <a:t> : 행동 시퀀스를 토큰화해 보조 학습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 err="1">
                <a:latin typeface="Arial" panose="020B0604020202020204" pitchFamily="34" charset="0"/>
              </a:rPr>
              <a:t>Correlated</a:t>
            </a:r>
            <a:r>
              <a:rPr lang="ko-KR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 err="1">
                <a:latin typeface="Arial" panose="020B0604020202020204" pitchFamily="34" charset="0"/>
              </a:rPr>
              <a:t>Noise</a:t>
            </a:r>
            <a:r>
              <a:rPr lang="ko-KR" altLang="ko-KR" sz="2200" dirty="0">
                <a:latin typeface="Arial" panose="020B0604020202020204" pitchFamily="34" charset="0"/>
              </a:rPr>
              <a:t> : 행동 간 </a:t>
            </a:r>
            <a:r>
              <a:rPr lang="ko-KR" altLang="ko-KR" sz="2200" dirty="0" err="1">
                <a:latin typeface="Arial" panose="020B0604020202020204" pitchFamily="34" charset="0"/>
              </a:rPr>
              <a:t>시간적·공간적</a:t>
            </a:r>
            <a:r>
              <a:rPr lang="ko-KR" altLang="ko-KR" sz="2200" dirty="0">
                <a:latin typeface="Arial" panose="020B0604020202020204" pitchFamily="34" charset="0"/>
              </a:rPr>
              <a:t> 상관관계를 반영한 노이즈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>
                <a:latin typeface="Arial" panose="020B0604020202020204" pitchFamily="34" charset="0"/>
              </a:rPr>
              <a:t>KV </a:t>
            </a:r>
            <a:r>
              <a:rPr lang="ko-KR" altLang="ko-KR" sz="2200" b="1" dirty="0" err="1">
                <a:latin typeface="Arial" panose="020B0604020202020204" pitchFamily="34" charset="0"/>
              </a:rPr>
              <a:t>Transform</a:t>
            </a:r>
            <a:r>
              <a:rPr lang="ko-KR" altLang="ko-KR" sz="2200" dirty="0">
                <a:latin typeface="Arial" panose="020B0604020202020204" pitchFamily="34" charset="0"/>
              </a:rPr>
              <a:t> : </a:t>
            </a:r>
            <a:r>
              <a:rPr lang="ko-KR" altLang="ko-KR" sz="2200" dirty="0" err="1">
                <a:latin typeface="Arial" panose="020B0604020202020204" pitchFamily="34" charset="0"/>
              </a:rPr>
              <a:t>VLM의</a:t>
            </a:r>
            <a:r>
              <a:rPr lang="ko-KR" altLang="ko-KR" sz="2200" dirty="0">
                <a:latin typeface="Arial" panose="020B0604020202020204" pitchFamily="34" charset="0"/>
              </a:rPr>
              <a:t> </a:t>
            </a:r>
            <a:r>
              <a:rPr lang="ko-KR" altLang="ko-KR" sz="2200" dirty="0" err="1">
                <a:latin typeface="Arial" panose="020B0604020202020204" pitchFamily="34" charset="0"/>
              </a:rPr>
              <a:t>Key</a:t>
            </a:r>
            <a:r>
              <a:rPr lang="ko-KR" altLang="ko-KR" sz="2200" dirty="0">
                <a:latin typeface="Arial" panose="020B0604020202020204" pitchFamily="34" charset="0"/>
              </a:rPr>
              <a:t>/</a:t>
            </a:r>
            <a:r>
              <a:rPr lang="ko-KR" altLang="ko-KR" sz="2200" dirty="0" err="1">
                <a:latin typeface="Arial" panose="020B0604020202020204" pitchFamily="34" charset="0"/>
              </a:rPr>
              <a:t>Value</a:t>
            </a:r>
            <a:r>
              <a:rPr lang="ko-KR" altLang="ko-KR" sz="2200" dirty="0">
                <a:latin typeface="Arial" panose="020B0604020202020204" pitchFamily="34" charset="0"/>
              </a:rPr>
              <a:t> 정보를 조합해 </a:t>
            </a:r>
            <a:r>
              <a:rPr lang="ko-KR" altLang="ko-KR" sz="2200" dirty="0" err="1">
                <a:latin typeface="Arial" panose="020B0604020202020204" pitchFamily="34" charset="0"/>
              </a:rPr>
              <a:t>attention</a:t>
            </a:r>
            <a:r>
              <a:rPr lang="ko-KR" altLang="ko-KR" sz="2200" dirty="0">
                <a:latin typeface="Arial" panose="020B0604020202020204" pitchFamily="34" charset="0"/>
              </a:rPr>
              <a:t> 활용 개선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 err="1">
                <a:latin typeface="Arial" panose="020B0604020202020204" pitchFamily="34" charset="0"/>
              </a:rPr>
              <a:t>Custom</a:t>
            </a:r>
            <a:r>
              <a:rPr lang="ko-KR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 err="1">
                <a:latin typeface="Arial" panose="020B0604020202020204" pitchFamily="34" charset="0"/>
              </a:rPr>
              <a:t>Attention</a:t>
            </a:r>
            <a:r>
              <a:rPr lang="ko-KR" altLang="ko-KR" sz="2200" b="1" dirty="0">
                <a:latin typeface="Arial" panose="020B0604020202020204" pitchFamily="34" charset="0"/>
              </a:rPr>
              <a:t> </a:t>
            </a:r>
            <a:r>
              <a:rPr lang="ko-KR" altLang="ko-KR" sz="2200" b="1" dirty="0" err="1">
                <a:latin typeface="Arial" panose="020B0604020202020204" pitchFamily="34" charset="0"/>
              </a:rPr>
              <a:t>Masks</a:t>
            </a:r>
            <a:r>
              <a:rPr lang="ko-KR" altLang="ko-KR" sz="2200" dirty="0">
                <a:latin typeface="Arial" panose="020B0604020202020204" pitchFamily="34" charset="0"/>
              </a:rPr>
              <a:t> : </a:t>
            </a:r>
            <a:r>
              <a:rPr lang="ko-KR" altLang="ko-KR" sz="2200" dirty="0" err="1">
                <a:latin typeface="Arial" panose="020B0604020202020204" pitchFamily="34" charset="0"/>
              </a:rPr>
              <a:t>token</a:t>
            </a:r>
            <a:r>
              <a:rPr lang="ko-KR" altLang="ko-KR" sz="2200" dirty="0">
                <a:latin typeface="Arial" panose="020B0604020202020204" pitchFamily="34" charset="0"/>
              </a:rPr>
              <a:t> 간 정보 흐름을 제한해 학습 안정성 향상</a:t>
            </a:r>
            <a:endParaRPr lang="en-US" altLang="ko-KR" sz="2200" dirty="0">
              <a:latin typeface="+mn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8B75AA-D85E-C3A4-7671-DD508ADE16BA}"/>
              </a:ext>
            </a:extLst>
          </p:cNvPr>
          <p:cNvSpPr txBox="1"/>
          <p:nvPr/>
        </p:nvSpPr>
        <p:spPr>
          <a:xfrm>
            <a:off x="530855" y="11468788"/>
            <a:ext cx="4019006" cy="646331"/>
          </a:xfrm>
          <a:prstGeom prst="rect">
            <a:avLst/>
          </a:prstGeom>
          <a:gradFill flip="none" rotWithShape="1"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  <a:tileRect/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1"/>
                </a:solidFill>
                <a:latin typeface="+mn-ea"/>
              </a:rPr>
              <a:t>모델 구조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C4B32F19-1AD2-59DB-F0B3-02E986BA816C}"/>
              </a:ext>
            </a:extLst>
          </p:cNvPr>
          <p:cNvGrpSpPr/>
          <p:nvPr/>
        </p:nvGrpSpPr>
        <p:grpSpPr>
          <a:xfrm>
            <a:off x="10704929" y="16574975"/>
            <a:ext cx="10180800" cy="6084000"/>
            <a:chOff x="518849" y="571413"/>
            <a:chExt cx="10169298" cy="600906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7BA84FD-51C9-6B5E-DE5D-64607CD4740D}"/>
                </a:ext>
              </a:extLst>
            </p:cNvPr>
            <p:cNvSpPr txBox="1"/>
            <p:nvPr/>
          </p:nvSpPr>
          <p:spPr>
            <a:xfrm>
              <a:off x="518849" y="571413"/>
              <a:ext cx="10169298" cy="6009061"/>
            </a:xfrm>
            <a:prstGeom prst="rect">
              <a:avLst/>
            </a:prstGeom>
            <a:noFill/>
            <a:ln w="57150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altLang="ko-KR" sz="4800" b="1" dirty="0">
                <a:latin typeface="+mn-ea"/>
              </a:endParaRPr>
            </a:p>
            <a:p>
              <a:r>
                <a:rPr lang="en-US" altLang="ko-KR" sz="2400" b="1" dirty="0"/>
                <a:t> </a:t>
              </a:r>
              <a:r>
                <a:rPr lang="ko-KR" altLang="ko-KR" sz="2400" b="1" dirty="0"/>
                <a:t>1. 학습 및 파이프라인 검증</a:t>
              </a:r>
            </a:p>
            <a:p>
              <a:r>
                <a:rPr lang="en-US" altLang="ko-KR" sz="2200" dirty="0"/>
                <a:t> </a:t>
              </a:r>
              <a:r>
                <a:rPr lang="ko-KR" altLang="ko-KR" sz="2200" dirty="0" err="1"/>
                <a:t>Total</a:t>
              </a:r>
              <a:r>
                <a:rPr lang="ko-KR" altLang="ko-KR" sz="2200" dirty="0"/>
                <a:t> </a:t>
              </a:r>
              <a:r>
                <a:rPr lang="ko-KR" altLang="ko-KR" sz="2200" dirty="0" err="1"/>
                <a:t>loss</a:t>
              </a:r>
              <a:r>
                <a:rPr lang="ko-KR" altLang="ko-KR" sz="2200" dirty="0"/>
                <a:t> 감소 및 </a:t>
              </a:r>
              <a:r>
                <a:rPr lang="ko-KR" altLang="ko-KR" sz="2200" dirty="0" err="1"/>
                <a:t>stage</a:t>
              </a:r>
              <a:r>
                <a:rPr lang="ko-KR" altLang="ko-KR" sz="2200" dirty="0"/>
                <a:t> </a:t>
              </a:r>
              <a:r>
                <a:rPr lang="ko-KR" altLang="ko-KR" sz="2200" dirty="0" err="1"/>
                <a:t>accuracy</a:t>
              </a:r>
              <a:r>
                <a:rPr lang="ko-KR" altLang="ko-KR" sz="2200" dirty="0"/>
                <a:t> 향상 </a:t>
              </a:r>
            </a:p>
            <a:p>
              <a:r>
                <a:rPr lang="en-US" altLang="ko-KR" sz="2200" dirty="0"/>
                <a:t> </a:t>
              </a:r>
              <a:r>
                <a:rPr lang="ko-KR" altLang="ko-KR" sz="2200" dirty="0"/>
                <a:t>W&amp;B </a:t>
              </a:r>
              <a:r>
                <a:rPr lang="ko-KR" altLang="ko-KR" sz="2200" dirty="0" err="1"/>
                <a:t>logging</a:t>
              </a:r>
              <a:r>
                <a:rPr lang="ko-KR" altLang="ko-KR" sz="2200" dirty="0"/>
                <a:t> / </a:t>
              </a:r>
              <a:r>
                <a:rPr lang="ko-KR" altLang="ko-KR" sz="2200" dirty="0" err="1"/>
                <a:t>checkpoint</a:t>
              </a:r>
              <a:r>
                <a:rPr lang="ko-KR" altLang="ko-KR" sz="2200" dirty="0"/>
                <a:t> 저장 검증 </a:t>
              </a:r>
            </a:p>
            <a:p>
              <a:r>
                <a:rPr lang="en-US" altLang="ko-KR" sz="2200" dirty="0"/>
                <a:t> </a:t>
              </a:r>
              <a:r>
                <a:rPr lang="ko-KR" altLang="ko-KR" sz="2200" dirty="0"/>
                <a:t>A100–RTX5070 기반 </a:t>
              </a:r>
              <a:r>
                <a:rPr lang="ko-KR" altLang="ko-KR" sz="2200" dirty="0" err="1"/>
                <a:t>rollout</a:t>
              </a:r>
              <a:r>
                <a:rPr lang="ko-KR" altLang="ko-KR" sz="2200" dirty="0"/>
                <a:t> </a:t>
              </a:r>
              <a:r>
                <a:rPr lang="ko-KR" altLang="ko-KR" sz="2200" dirty="0" err="1"/>
                <a:t>pipeline</a:t>
              </a:r>
              <a:r>
                <a:rPr lang="ko-KR" altLang="ko-KR" sz="2200" dirty="0"/>
                <a:t> 구축 </a:t>
              </a:r>
              <a:endParaRPr lang="en-US" altLang="ko-KR" sz="2200" dirty="0"/>
            </a:p>
            <a:p>
              <a:endParaRPr lang="ko-KR" altLang="ko-KR" sz="1400" dirty="0"/>
            </a:p>
            <a:p>
              <a:r>
                <a:rPr lang="en-US" altLang="ko-KR" sz="2400" b="1" dirty="0"/>
                <a:t> 2. </a:t>
              </a:r>
              <a:r>
                <a:rPr lang="ko-KR" altLang="en-US" sz="2400" b="1" dirty="0"/>
                <a:t>결과 비교</a:t>
              </a:r>
              <a:endParaRPr lang="en-US" altLang="ko-KR" sz="2400" b="1" dirty="0"/>
            </a:p>
            <a:p>
              <a:endParaRPr lang="en-US" altLang="ko-KR" sz="2400" b="1" dirty="0"/>
            </a:p>
            <a:p>
              <a:endParaRPr lang="en-US" altLang="ko-KR" sz="2400" b="1" dirty="0"/>
            </a:p>
            <a:p>
              <a:endParaRPr lang="en-US" altLang="ko-KR" sz="2400" b="1" dirty="0"/>
            </a:p>
            <a:p>
              <a:endParaRPr lang="en-US" altLang="ko-KR" sz="2400" b="1" dirty="0"/>
            </a:p>
            <a:p>
              <a:endParaRPr lang="en-US" altLang="ko-KR" sz="2000" b="1" dirty="0"/>
            </a:p>
            <a:p>
              <a:r>
                <a:rPr lang="en-US" altLang="ko-KR" sz="2400" b="1" dirty="0"/>
                <a:t> 3</a:t>
              </a:r>
              <a:r>
                <a:rPr lang="ko-KR" altLang="ko-KR" sz="2400" b="1" dirty="0"/>
                <a:t>. </a:t>
              </a:r>
              <a:r>
                <a:rPr lang="ko-KR" altLang="ko-KR" sz="2400" b="1" dirty="0" err="1"/>
                <a:t>Rollout</a:t>
              </a:r>
              <a:r>
                <a:rPr lang="ko-KR" altLang="ko-KR" sz="2400" b="1" dirty="0"/>
                <a:t> 성능 한계</a:t>
              </a:r>
            </a:p>
            <a:p>
              <a:r>
                <a:rPr lang="en-US" altLang="ko-KR" sz="2400" dirty="0"/>
                <a:t> </a:t>
              </a:r>
              <a:r>
                <a:rPr lang="ko-KR" altLang="ko-KR" sz="2200" dirty="0"/>
                <a:t>OOD 상태에서 </a:t>
              </a:r>
              <a:r>
                <a:rPr lang="ko-KR" altLang="ko-KR" sz="2200" dirty="0" err="1"/>
                <a:t>freeze·반복</a:t>
              </a:r>
              <a:r>
                <a:rPr lang="ko-KR" altLang="ko-KR" sz="2200" dirty="0"/>
                <a:t> 행동 발생 </a:t>
              </a:r>
            </a:p>
            <a:p>
              <a:r>
                <a:rPr lang="en-US" altLang="ko-KR" sz="2200" dirty="0"/>
                <a:t> </a:t>
              </a:r>
              <a:r>
                <a:rPr lang="ko-KR" altLang="ko-KR" sz="2200" dirty="0" err="1"/>
                <a:t>Normalization</a:t>
              </a:r>
              <a:r>
                <a:rPr lang="ko-KR" altLang="ko-KR" sz="2200" dirty="0"/>
                <a:t> 및 </a:t>
              </a:r>
              <a:r>
                <a:rPr lang="ko-KR" altLang="ko-KR" sz="2200" dirty="0" err="1"/>
                <a:t>action</a:t>
              </a:r>
              <a:r>
                <a:rPr lang="ko-KR" altLang="ko-KR" sz="2200" dirty="0"/>
                <a:t> </a:t>
              </a:r>
              <a:r>
                <a:rPr lang="ko-KR" altLang="ko-KR" sz="2200" dirty="0" err="1"/>
                <a:t>scale</a:t>
              </a:r>
              <a:r>
                <a:rPr lang="ko-KR" altLang="ko-KR" sz="2200" dirty="0"/>
                <a:t> 차이로 </a:t>
              </a:r>
              <a:r>
                <a:rPr lang="ko-KR" altLang="ko-KR" sz="2200" dirty="0" err="1"/>
                <a:t>base</a:t>
              </a:r>
              <a:r>
                <a:rPr lang="ko-KR" altLang="ko-KR" sz="2200" dirty="0"/>
                <a:t> 불안정 </a:t>
              </a:r>
            </a:p>
            <a:p>
              <a:r>
                <a:rPr lang="en-US" altLang="ko-KR" sz="2200" dirty="0"/>
                <a:t> </a:t>
              </a:r>
              <a:r>
                <a:rPr lang="ko-KR" altLang="ko-KR" sz="2200" dirty="0" err="1"/>
                <a:t>Stage</a:t>
              </a:r>
              <a:r>
                <a:rPr lang="ko-KR" altLang="ko-KR" sz="2200" dirty="0"/>
                <a:t> </a:t>
              </a:r>
              <a:r>
                <a:rPr lang="ko-KR" altLang="ko-KR" sz="2200" dirty="0" err="1"/>
                <a:t>tracking</a:t>
              </a:r>
              <a:r>
                <a:rPr lang="ko-KR" altLang="ko-KR" sz="2200" dirty="0"/>
                <a:t> 및 정밀 조작 성능 한계 확인</a:t>
              </a:r>
              <a:endParaRPr lang="en-US" altLang="ko-KR" sz="22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2CDF326-5257-9AED-0676-9B3040D78972}"/>
                </a:ext>
              </a:extLst>
            </p:cNvPr>
            <p:cNvSpPr txBox="1"/>
            <p:nvPr/>
          </p:nvSpPr>
          <p:spPr>
            <a:xfrm>
              <a:off x="522513" y="585816"/>
              <a:ext cx="4019006" cy="610757"/>
            </a:xfrm>
            <a:prstGeom prst="rect">
              <a:avLst/>
            </a:prstGeom>
            <a:gradFill>
              <a:gsLst>
                <a:gs pos="0">
                  <a:schemeClr val="accent4">
                    <a:shade val="30000"/>
                    <a:satMod val="115000"/>
                    <a:lumMod val="48000"/>
                    <a:alpha val="95000"/>
                  </a:schemeClr>
                </a:gs>
                <a:gs pos="50000">
                  <a:schemeClr val="accent4">
                    <a:lumMod val="50000"/>
                    <a:shade val="67500"/>
                    <a:satMod val="115000"/>
                  </a:schemeClr>
                </a:gs>
                <a:gs pos="100000">
                  <a:schemeClr val="accent4">
                    <a:lumMod val="50000"/>
                    <a:shade val="100000"/>
                    <a:satMod val="115000"/>
                  </a:schemeClr>
                </a:gs>
              </a:gsLst>
              <a:path path="rect">
                <a:fillToRect l="50000" t="50000" r="50000" b="50000"/>
              </a:path>
            </a:gradFill>
            <a:ln w="57150">
              <a:solidFill>
                <a:schemeClr val="accent4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3600" b="1" dirty="0">
                  <a:solidFill>
                    <a:schemeClr val="bg1"/>
                  </a:solidFill>
                  <a:latin typeface="+mn-ea"/>
                </a:rPr>
                <a:t>결과 분석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2B7E9E23-A4B9-47D5-4A0D-B241E1F2049F}"/>
              </a:ext>
            </a:extLst>
          </p:cNvPr>
          <p:cNvSpPr txBox="1"/>
          <p:nvPr/>
        </p:nvSpPr>
        <p:spPr>
          <a:xfrm>
            <a:off x="526393" y="19808001"/>
            <a:ext cx="10180800" cy="7452000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5400" b="1" dirty="0">
              <a:latin typeface="+mn-ea"/>
            </a:endParaRPr>
          </a:p>
          <a:p>
            <a:r>
              <a:rPr lang="en-US" altLang="ko-KR" sz="2400" b="1" dirty="0">
                <a:latin typeface="+mn-ea"/>
              </a:rPr>
              <a:t> 1. Hardware Environment</a:t>
            </a:r>
          </a:p>
          <a:p>
            <a:r>
              <a:rPr lang="en-US" altLang="ko-KR" sz="2200" dirty="0">
                <a:latin typeface="+mn-ea"/>
              </a:rPr>
              <a:t> A100 80GB GPU Server, RTX 5070 PC, Ubuntu + JAX/Flax</a:t>
            </a:r>
          </a:p>
          <a:p>
            <a:endParaRPr lang="en-US" altLang="ko-KR" sz="1200" b="1" dirty="0">
              <a:latin typeface="+mn-ea"/>
            </a:endParaRPr>
          </a:p>
          <a:p>
            <a:r>
              <a:rPr lang="en-US" altLang="ko-KR" sz="2400" b="1" dirty="0">
                <a:latin typeface="+mn-ea"/>
              </a:rPr>
              <a:t> 2. </a:t>
            </a:r>
            <a:r>
              <a:rPr lang="ko-KR" altLang="en-US" sz="2400" b="1" dirty="0">
                <a:latin typeface="+mn-ea"/>
              </a:rPr>
              <a:t>실험 및 모델 경량화</a:t>
            </a:r>
            <a:endParaRPr lang="en-US" altLang="ko-KR" sz="2400" b="1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3600" dirty="0">
              <a:latin typeface="+mn-ea"/>
            </a:endParaRPr>
          </a:p>
          <a:p>
            <a:pPr algn="ctr"/>
            <a:endParaRPr lang="en-US" altLang="ko-KR" sz="2000" dirty="0">
              <a:latin typeface="+mn-ea"/>
            </a:endParaRPr>
          </a:p>
          <a:p>
            <a:r>
              <a:rPr lang="en-US" altLang="ko-KR" sz="2400" b="1" dirty="0">
                <a:latin typeface="+mn-ea"/>
              </a:rPr>
              <a:t>3. Selected 12 Tasks</a:t>
            </a:r>
          </a:p>
          <a:p>
            <a:r>
              <a:rPr lang="en-US" altLang="ko-KR" sz="2200" dirty="0">
                <a:latin typeface="+mn-ea"/>
              </a:rPr>
              <a:t>Turning on radio, Picking up trash, Setting mousetraps, Putting dishes away, Preparing lunch box, Outfit a basic toolbox, Putting shoes on rack, Clean boxing gloves, Spraying fruit trees, Make microwave popcorn, Cook hot dogs, Cook bacon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09C2A2-C8D4-4271-EA33-35C6312F93C8}"/>
              </a:ext>
            </a:extLst>
          </p:cNvPr>
          <p:cNvSpPr txBox="1"/>
          <p:nvPr/>
        </p:nvSpPr>
        <p:spPr>
          <a:xfrm>
            <a:off x="534087" y="19808001"/>
            <a:ext cx="4014431" cy="64633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1"/>
                </a:solidFill>
                <a:latin typeface="+mn-ea"/>
              </a:rPr>
              <a:t>실험 환경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EC2704-2B83-6385-71E3-0D0E8ABD844A}"/>
              </a:ext>
            </a:extLst>
          </p:cNvPr>
          <p:cNvSpPr txBox="1"/>
          <p:nvPr/>
        </p:nvSpPr>
        <p:spPr>
          <a:xfrm>
            <a:off x="526393" y="27268442"/>
            <a:ext cx="20359424" cy="2462213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sz="4400" b="1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1. </a:t>
            </a:r>
            <a:r>
              <a:rPr lang="ko-KR" altLang="ko-KR" sz="2200" dirty="0" err="1">
                <a:latin typeface="+mn-ea"/>
              </a:rPr>
              <a:t>Ilia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Larchenko</a:t>
            </a:r>
            <a:r>
              <a:rPr lang="ko-KR" altLang="ko-KR" sz="2200" dirty="0">
                <a:latin typeface="+mn-ea"/>
              </a:rPr>
              <a:t>, </a:t>
            </a:r>
            <a:r>
              <a:rPr lang="ko-KR" altLang="ko-KR" sz="2200" dirty="0" err="1">
                <a:latin typeface="+mn-ea"/>
              </a:rPr>
              <a:t>Gleb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Zarin</a:t>
            </a:r>
            <a:r>
              <a:rPr lang="ko-KR" altLang="ko-KR" sz="2200" dirty="0">
                <a:latin typeface="+mn-ea"/>
              </a:rPr>
              <a:t>, </a:t>
            </a:r>
            <a:r>
              <a:rPr lang="ko-KR" altLang="ko-KR" sz="2200" dirty="0" err="1">
                <a:latin typeface="+mn-ea"/>
              </a:rPr>
              <a:t>Akash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Karnatak</a:t>
            </a:r>
            <a:r>
              <a:rPr lang="ko-KR" altLang="ko-KR" sz="2200" dirty="0">
                <a:latin typeface="+mn-ea"/>
              </a:rPr>
              <a:t>,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>
                <a:latin typeface="+mn-ea"/>
              </a:rPr>
              <a:t>“</a:t>
            </a:r>
            <a:r>
              <a:rPr lang="ko-KR" altLang="ko-KR" sz="2200" dirty="0" err="1">
                <a:latin typeface="+mn-ea"/>
              </a:rPr>
              <a:t>Task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Adaptation</a:t>
            </a:r>
            <a:r>
              <a:rPr lang="ko-KR" altLang="ko-KR" sz="2200" dirty="0">
                <a:latin typeface="+mn-ea"/>
              </a:rPr>
              <a:t> of </a:t>
            </a:r>
            <a:r>
              <a:rPr lang="ko-KR" altLang="ko-KR" sz="2200" dirty="0" err="1">
                <a:latin typeface="+mn-ea"/>
              </a:rPr>
              <a:t>Vision-Language-Action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Model</a:t>
            </a:r>
            <a:r>
              <a:rPr lang="ko-KR" altLang="ko-KR" sz="2200" dirty="0">
                <a:latin typeface="+mn-ea"/>
              </a:rPr>
              <a:t>: 1st </a:t>
            </a:r>
            <a:r>
              <a:rPr lang="ko-KR" altLang="ko-KR" sz="2200" dirty="0" err="1">
                <a:latin typeface="+mn-ea"/>
              </a:rPr>
              <a:t>Place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Solution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for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the</a:t>
            </a:r>
            <a:r>
              <a:rPr lang="ko-KR" altLang="ko-KR" sz="2200" dirty="0">
                <a:latin typeface="+mn-ea"/>
              </a:rPr>
              <a:t> 2025 BEHAVIOR </a:t>
            </a:r>
            <a:r>
              <a:rPr lang="ko-KR" altLang="ko-KR" sz="2200" dirty="0" err="1">
                <a:latin typeface="+mn-ea"/>
              </a:rPr>
              <a:t>Challenge</a:t>
            </a:r>
            <a:r>
              <a:rPr lang="ko-KR" altLang="ko-KR" sz="2200" dirty="0">
                <a:latin typeface="+mn-ea"/>
              </a:rPr>
              <a:t>”, 2025,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>
                <a:latin typeface="+mn-ea"/>
              </a:rPr>
              <a:t>arXiv:2512.06951.</a:t>
            </a:r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2. </a:t>
            </a:r>
            <a:r>
              <a:rPr lang="ko-KR" altLang="ko-KR" sz="2200" dirty="0" err="1">
                <a:latin typeface="+mn-ea"/>
              </a:rPr>
              <a:t>Marcel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Torne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et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al</a:t>
            </a:r>
            <a:r>
              <a:rPr lang="ko-KR" altLang="ko-KR" sz="2200" dirty="0">
                <a:latin typeface="+mn-ea"/>
              </a:rPr>
              <a:t>.,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>
                <a:latin typeface="+mn-ea"/>
              </a:rPr>
              <a:t>“MEM: </a:t>
            </a:r>
            <a:r>
              <a:rPr lang="ko-KR" altLang="ko-KR" sz="2200" dirty="0" err="1">
                <a:latin typeface="+mn-ea"/>
              </a:rPr>
              <a:t>Multi-Scale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Embodied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Memory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for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Vision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Language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Action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Models</a:t>
            </a:r>
            <a:r>
              <a:rPr lang="ko-KR" altLang="ko-KR" sz="2200" dirty="0">
                <a:latin typeface="+mn-ea"/>
              </a:rPr>
              <a:t>”, 2026,</a:t>
            </a:r>
            <a:r>
              <a:rPr lang="en-US" altLang="ko-KR" sz="2200" dirty="0">
                <a:latin typeface="+mn-ea"/>
              </a:rPr>
              <a:t> </a:t>
            </a:r>
            <a:r>
              <a:rPr lang="ko-KR" altLang="ko-KR" sz="2200" dirty="0">
                <a:latin typeface="+mn-ea"/>
              </a:rPr>
              <a:t>arXiv:2603.03596.</a:t>
            </a:r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3. </a:t>
            </a:r>
            <a:r>
              <a:rPr lang="ko-KR" altLang="ko-KR" sz="2200" dirty="0" err="1"/>
              <a:t>Yalcin</a:t>
            </a:r>
            <a:r>
              <a:rPr lang="ko-KR" altLang="ko-KR" sz="2200" dirty="0"/>
              <a:t> </a:t>
            </a:r>
            <a:r>
              <a:rPr lang="ko-KR" altLang="ko-KR" sz="2200" dirty="0" err="1"/>
              <a:t>Tur</a:t>
            </a:r>
            <a:r>
              <a:rPr lang="ko-KR" altLang="ko-KR" sz="2200" dirty="0"/>
              <a:t> </a:t>
            </a:r>
            <a:r>
              <a:rPr lang="ko-KR" altLang="ko-KR" sz="2200" dirty="0" err="1"/>
              <a:t>et</a:t>
            </a:r>
            <a:r>
              <a:rPr lang="ko-KR" altLang="ko-KR" sz="2200" dirty="0"/>
              <a:t> </a:t>
            </a:r>
            <a:r>
              <a:rPr lang="ko-KR" altLang="ko-KR" sz="2200" dirty="0" err="1"/>
              <a:t>al</a:t>
            </a:r>
            <a:r>
              <a:rPr lang="ko-KR" altLang="ko-KR" sz="2200" dirty="0"/>
              <a:t>.,</a:t>
            </a:r>
            <a:r>
              <a:rPr lang="en-US" altLang="ko-KR" sz="2200" dirty="0"/>
              <a:t> </a:t>
            </a:r>
            <a:r>
              <a:rPr lang="ko-KR" altLang="ko-KR" sz="2200" dirty="0"/>
              <a:t>“</a:t>
            </a:r>
            <a:r>
              <a:rPr lang="ko-KR" altLang="ko-KR" sz="2200" dirty="0" err="1"/>
              <a:t>Recurrent-Depth</a:t>
            </a:r>
            <a:r>
              <a:rPr lang="ko-KR" altLang="ko-KR" sz="2200" dirty="0"/>
              <a:t> VLA: </a:t>
            </a:r>
            <a:r>
              <a:rPr lang="ko-KR" altLang="ko-KR" sz="2200" dirty="0" err="1"/>
              <a:t>Implicit</a:t>
            </a:r>
            <a:r>
              <a:rPr lang="ko-KR" altLang="ko-KR" sz="2200" dirty="0"/>
              <a:t> </a:t>
            </a:r>
            <a:r>
              <a:rPr lang="ko-KR" altLang="ko-KR" sz="2200" dirty="0" err="1"/>
              <a:t>Test</a:t>
            </a:r>
            <a:r>
              <a:rPr lang="ko-KR" altLang="ko-KR" sz="2200" dirty="0"/>
              <a:t>-Time </a:t>
            </a:r>
            <a:r>
              <a:rPr lang="ko-KR" altLang="ko-KR" sz="2200" dirty="0" err="1"/>
              <a:t>Compute</a:t>
            </a:r>
            <a:r>
              <a:rPr lang="ko-KR" altLang="ko-KR" sz="2200" dirty="0"/>
              <a:t> </a:t>
            </a:r>
            <a:r>
              <a:rPr lang="ko-KR" altLang="ko-KR" sz="2200" dirty="0" err="1"/>
              <a:t>Scaling</a:t>
            </a:r>
            <a:r>
              <a:rPr lang="ko-KR" altLang="ko-KR" sz="2200" dirty="0"/>
              <a:t> of </a:t>
            </a:r>
            <a:r>
              <a:rPr lang="ko-KR" altLang="ko-KR" sz="2200" dirty="0" err="1"/>
              <a:t>Vision-Language-Action</a:t>
            </a:r>
            <a:r>
              <a:rPr lang="ko-KR" altLang="ko-KR" sz="2200" dirty="0"/>
              <a:t> </a:t>
            </a:r>
            <a:r>
              <a:rPr lang="ko-KR" altLang="ko-KR" sz="2200" dirty="0" err="1"/>
              <a:t>Models</a:t>
            </a:r>
            <a:r>
              <a:rPr lang="ko-KR" altLang="ko-KR" sz="2200" dirty="0"/>
              <a:t> </a:t>
            </a:r>
            <a:r>
              <a:rPr lang="ko-KR" altLang="ko-KR" sz="2200" dirty="0" err="1"/>
              <a:t>via</a:t>
            </a:r>
            <a:r>
              <a:rPr lang="ko-KR" altLang="ko-KR" sz="2200" dirty="0"/>
              <a:t> </a:t>
            </a:r>
            <a:r>
              <a:rPr lang="ko-KR" altLang="ko-KR" sz="2200" dirty="0" err="1"/>
              <a:t>Latent</a:t>
            </a:r>
            <a:r>
              <a:rPr lang="ko-KR" altLang="ko-KR" sz="2200" dirty="0"/>
              <a:t> </a:t>
            </a:r>
            <a:r>
              <a:rPr lang="ko-KR" altLang="ko-KR" sz="2200" dirty="0" err="1"/>
              <a:t>Iterative</a:t>
            </a:r>
            <a:r>
              <a:rPr lang="ko-KR" altLang="ko-KR" sz="2200" dirty="0"/>
              <a:t> </a:t>
            </a:r>
            <a:r>
              <a:rPr lang="ko-KR" altLang="ko-KR" sz="2200" dirty="0" err="1"/>
              <a:t>Reasoning</a:t>
            </a:r>
            <a:r>
              <a:rPr lang="ko-KR" altLang="ko-KR" sz="2200" dirty="0"/>
              <a:t>”, 2026,</a:t>
            </a:r>
            <a:r>
              <a:rPr lang="en-US" altLang="ko-KR" sz="2200" dirty="0"/>
              <a:t> </a:t>
            </a:r>
            <a:r>
              <a:rPr lang="ko-KR" altLang="ko-KR" sz="2200" dirty="0"/>
              <a:t>arXiv:2602.07845.</a:t>
            </a:r>
            <a:endParaRPr lang="en-US" altLang="ko-KR" sz="2200" dirty="0"/>
          </a:p>
          <a:p>
            <a:r>
              <a:rPr lang="en-US" altLang="ko-KR" sz="2200" dirty="0">
                <a:latin typeface="+mn-ea"/>
              </a:rPr>
              <a:t>4. </a:t>
            </a:r>
            <a:r>
              <a:rPr lang="ko-KR" altLang="ko-KR" sz="2200" dirty="0" err="1"/>
              <a:t>Ali</a:t>
            </a:r>
            <a:r>
              <a:rPr lang="ko-KR" altLang="ko-KR" sz="2200" dirty="0"/>
              <a:t> </a:t>
            </a:r>
            <a:r>
              <a:rPr lang="ko-KR" altLang="ko-KR" sz="2200" dirty="0" err="1"/>
              <a:t>Amin</a:t>
            </a:r>
            <a:r>
              <a:rPr lang="ko-KR" altLang="ko-KR" sz="2200" dirty="0"/>
              <a:t> </a:t>
            </a:r>
            <a:r>
              <a:rPr lang="ko-KR" altLang="ko-KR" sz="2200" dirty="0" err="1"/>
              <a:t>et</a:t>
            </a:r>
            <a:r>
              <a:rPr lang="ko-KR" altLang="ko-KR" sz="2200" dirty="0"/>
              <a:t> </a:t>
            </a:r>
            <a:r>
              <a:rPr lang="ko-KR" altLang="ko-KR" sz="2200" dirty="0" err="1"/>
              <a:t>al</a:t>
            </a:r>
            <a:r>
              <a:rPr lang="ko-KR" altLang="ko-KR" sz="2200" dirty="0"/>
              <a:t>.,</a:t>
            </a:r>
            <a:r>
              <a:rPr lang="en-US" altLang="ko-KR" sz="2200" dirty="0"/>
              <a:t> </a:t>
            </a:r>
            <a:r>
              <a:rPr lang="ko-KR" altLang="ko-KR" sz="2200" dirty="0"/>
              <a:t>“π*0.6: </a:t>
            </a:r>
            <a:r>
              <a:rPr lang="ko-KR" altLang="ko-KR" sz="2200" dirty="0" err="1"/>
              <a:t>A</a:t>
            </a:r>
            <a:r>
              <a:rPr lang="ko-KR" altLang="ko-KR" sz="2200" dirty="0"/>
              <a:t> VLA </a:t>
            </a:r>
            <a:r>
              <a:rPr lang="ko-KR" altLang="ko-KR" sz="2200" dirty="0" err="1"/>
              <a:t>That</a:t>
            </a:r>
            <a:r>
              <a:rPr lang="ko-KR" altLang="ko-KR" sz="2200" dirty="0"/>
              <a:t> </a:t>
            </a:r>
            <a:r>
              <a:rPr lang="ko-KR" altLang="ko-KR" sz="2200" dirty="0" err="1"/>
              <a:t>Learns</a:t>
            </a:r>
            <a:r>
              <a:rPr lang="ko-KR" altLang="ko-KR" sz="2200" dirty="0"/>
              <a:t> </a:t>
            </a:r>
            <a:r>
              <a:rPr lang="ko-KR" altLang="ko-KR" sz="2200" dirty="0" err="1"/>
              <a:t>From</a:t>
            </a:r>
            <a:r>
              <a:rPr lang="ko-KR" altLang="ko-KR" sz="2200" dirty="0"/>
              <a:t> </a:t>
            </a:r>
            <a:r>
              <a:rPr lang="ko-KR" altLang="ko-KR" sz="2200" dirty="0" err="1"/>
              <a:t>Experience</a:t>
            </a:r>
            <a:r>
              <a:rPr lang="ko-KR" altLang="ko-KR" sz="2200" dirty="0"/>
              <a:t>”, 2025,</a:t>
            </a:r>
            <a:r>
              <a:rPr lang="en-US" altLang="ko-KR" sz="2200" dirty="0"/>
              <a:t> </a:t>
            </a:r>
            <a:r>
              <a:rPr lang="ko-KR" altLang="ko-KR" sz="2200" dirty="0"/>
              <a:t>arXiv:2511.14759.</a:t>
            </a:r>
            <a:endParaRPr lang="en-US" altLang="ko-KR" sz="2200" dirty="0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55A3BA-B8CA-CFC2-B324-40802DD3C8F7}"/>
              </a:ext>
            </a:extLst>
          </p:cNvPr>
          <p:cNvSpPr txBox="1"/>
          <p:nvPr/>
        </p:nvSpPr>
        <p:spPr>
          <a:xfrm>
            <a:off x="530160" y="27262776"/>
            <a:ext cx="4021957" cy="646330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1"/>
                </a:solidFill>
                <a:latin typeface="+mn-ea"/>
              </a:rPr>
              <a:t>참고 문헌</a:t>
            </a:r>
            <a:endParaRPr lang="en-US" altLang="ko-KR" sz="3600" b="1" dirty="0">
              <a:solidFill>
                <a:schemeClr val="bg1"/>
              </a:solidFill>
              <a:latin typeface="+mn-ea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9ECEE2F-DA3C-A19B-0A1C-3EFB6CB0D3AF}"/>
              </a:ext>
            </a:extLst>
          </p:cNvPr>
          <p:cNvCxnSpPr>
            <a:cxnSpLocks/>
          </p:cNvCxnSpPr>
          <p:nvPr/>
        </p:nvCxnSpPr>
        <p:spPr>
          <a:xfrm>
            <a:off x="15776460" y="3428082"/>
            <a:ext cx="6358" cy="3331673"/>
          </a:xfrm>
          <a:prstGeom prst="line">
            <a:avLst/>
          </a:prstGeom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8D0F76D-4880-0354-E114-EE979387E359}"/>
              </a:ext>
            </a:extLst>
          </p:cNvPr>
          <p:cNvCxnSpPr>
            <a:cxnSpLocks/>
          </p:cNvCxnSpPr>
          <p:nvPr/>
        </p:nvCxnSpPr>
        <p:spPr>
          <a:xfrm>
            <a:off x="10942381" y="6890969"/>
            <a:ext cx="9646920" cy="0"/>
          </a:xfrm>
          <a:prstGeom prst="line">
            <a:avLst/>
          </a:prstGeom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그림 48">
            <a:extLst>
              <a:ext uri="{FF2B5EF4-FFF2-40B4-BE49-F238E27FC236}">
                <a16:creationId xmlns:a16="http://schemas.microsoft.com/office/drawing/2014/main" id="{0E319863-8D29-8677-0528-71E664C10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93" y="12236892"/>
            <a:ext cx="6652406" cy="3583504"/>
          </a:xfrm>
          <a:prstGeom prst="rect">
            <a:avLst/>
          </a:prstGeom>
        </p:spPr>
      </p:pic>
      <p:sp>
        <p:nvSpPr>
          <p:cNvPr id="63" name="AutoShape 8">
            <a:extLst>
              <a:ext uri="{FF2B5EF4-FFF2-40B4-BE49-F238E27FC236}">
                <a16:creationId xmlns:a16="http://schemas.microsoft.com/office/drawing/2014/main" id="{FB9C8253-00AC-F309-D968-60B6A8055B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539413" y="1336663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8983FFBB-814B-2803-43F3-68CC70CD61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0770" y="12518400"/>
            <a:ext cx="9895691" cy="36659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95FFC5BA-CB4A-01E7-524A-DE54FC1B8E73}"/>
                  </a:ext>
                </a:extLst>
              </p:cNvPr>
              <p:cNvSpPr txBox="1"/>
              <p:nvPr/>
            </p:nvSpPr>
            <p:spPr>
              <a:xfrm>
                <a:off x="13213034" y="10357804"/>
                <a:ext cx="6694550" cy="138473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ko-KR" sz="2600" b="1" dirty="0"/>
                  <a:t>System2 </a:t>
                </a:r>
                <a:r>
                  <a:rPr lang="ko-KR" altLang="ko-KR" sz="2600" b="1" dirty="0" err="1"/>
                  <a:t>stage</a:t>
                </a:r>
                <a:r>
                  <a:rPr lang="ko-KR" altLang="ko-KR" sz="2600" b="1" dirty="0"/>
                  <a:t>/</a:t>
                </a:r>
                <a:r>
                  <a:rPr lang="ko-KR" altLang="ko-KR" sz="2600" b="1" dirty="0" err="1"/>
                  <a:t>subtask</a:t>
                </a:r>
                <a:r>
                  <a:rPr lang="ko-KR" altLang="ko-KR" sz="2600" b="1" dirty="0"/>
                  <a:t> </a:t>
                </a:r>
                <a:r>
                  <a:rPr lang="ko-KR" altLang="ko-KR" sz="2600" b="1" dirty="0" err="1"/>
                  <a:t>prediction의</a:t>
                </a:r>
                <a:r>
                  <a:rPr lang="ko-KR" altLang="ko-KR" sz="2600" b="1" dirty="0"/>
                  <a:t> 정확도</a:t>
                </a:r>
                <a:endParaRPr lang="en-US" altLang="ko-KR" sz="2600" b="1" dirty="0"/>
              </a:p>
              <a:p>
                <a:pPr marL="342900" indent="-342900" algn="ctr">
                  <a:buFont typeface="Arial" panose="020B0604020202020204" pitchFamily="34" charset="0"/>
                  <a:buChar char="•"/>
                </a:pPr>
                <a:endParaRPr lang="en-US" altLang="ko-KR" sz="2600" b="1" dirty="0">
                  <a:latin typeface="+mj-ea"/>
                  <a:ea typeface="+mj-ea"/>
                </a:endParaRPr>
              </a:p>
              <a:p>
                <a:pPr algn="ctr"/>
                <a:r>
                  <a:rPr lang="en-US" altLang="ko-KR" sz="2600" dirty="0">
                    <a:latin typeface="+mj-ea"/>
                    <a:ea typeface="+mj-ea"/>
                  </a:rPr>
                  <a:t>Accuracy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2600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Number</m:t>
                        </m:r>
                        <m: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of</m:t>
                        </m:r>
                        <m: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Correct</m:t>
                        </m:r>
                        <m: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Prediction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Total</m:t>
                        </m:r>
                        <m: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2600" b="0" i="0" smtClean="0">
                            <a:latin typeface="Cambria Math" panose="02040503050406030204" pitchFamily="18" charset="0"/>
                            <a:ea typeface="+mj-ea"/>
                          </a:rPr>
                          <m:t>Prediction</m:t>
                        </m:r>
                      </m:den>
                    </m:f>
                  </m:oMath>
                </a14:m>
                <a:endParaRPr lang="ko-KR" altLang="en-US" sz="2600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95FFC5BA-CB4A-01E7-524A-DE54FC1B8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3034" y="10357804"/>
                <a:ext cx="6694550" cy="1384738"/>
              </a:xfrm>
              <a:prstGeom prst="rect">
                <a:avLst/>
              </a:prstGeom>
              <a:blipFill>
                <a:blip r:embed="rId6"/>
                <a:stretch>
                  <a:fillRect l="-1272" t="-7860" r="-1362" b="-655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5D4B410-2449-16E0-3BAA-69809814850A}"/>
                  </a:ext>
                </a:extLst>
              </p:cNvPr>
              <p:cNvSpPr txBox="1"/>
              <p:nvPr/>
            </p:nvSpPr>
            <p:spPr>
              <a:xfrm>
                <a:off x="13691800" y="13562575"/>
                <a:ext cx="5392630" cy="123822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o-KR" altLang="en-US" sz="2600" b="1" dirty="0">
                    <a:latin typeface="+mj-ea"/>
                    <a:ea typeface="+mj-ea"/>
                  </a:rPr>
                  <a:t>모델의 전체 학습 손실</a:t>
                </a:r>
                <a:r>
                  <a:rPr lang="en-US" altLang="ko-KR" sz="2600" b="1" dirty="0">
                    <a:latin typeface="+mj-ea"/>
                    <a:ea typeface="+mj-ea"/>
                  </a:rPr>
                  <a:t>(total loss)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ko-KR" sz="2600" i="1" dirty="0">
                  <a:latin typeface="+mj-ea"/>
                  <a:ea typeface="+mj-ea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600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600" b="0" i="1" smtClean="0">
                            <a:latin typeface="Cambria Math" panose="02040503050406030204" pitchFamily="18" charset="0"/>
                            <a:ea typeface="+mj-ea"/>
                          </a:rPr>
                          <m:t>𝐿</m:t>
                        </m:r>
                      </m:e>
                      <m:sub>
                        <m:r>
                          <a:rPr lang="en-US" altLang="ko-KR" sz="2600" b="0" i="1" smtClean="0">
                            <a:latin typeface="Cambria Math" panose="02040503050406030204" pitchFamily="18" charset="0"/>
                            <a:ea typeface="+mj-ea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ko-KR" altLang="en-US" sz="2600" dirty="0">
                    <a:latin typeface="+mj-ea"/>
                    <a:ea typeface="+mj-ea"/>
                  </a:rPr>
                  <a:t> </a:t>
                </a:r>
                <a:r>
                  <a:rPr lang="en-US" altLang="ko-KR" sz="2600" dirty="0">
                    <a:latin typeface="+mj-ea"/>
                    <a:ea typeface="+mj-ea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6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600" b="0" i="1">
                            <a:latin typeface="Cambria Math" panose="02040503050406030204" pitchFamily="18" charset="0"/>
                            <a:ea typeface="+mj-ea"/>
                          </a:rPr>
                          <m:t>𝐿</m:t>
                        </m:r>
                      </m:e>
                      <m:sub>
                        <m:r>
                          <a:rPr lang="en-US" altLang="ko-KR" sz="2600" b="0" i="1" smtClean="0">
                            <a:latin typeface="Cambria Math" panose="02040503050406030204" pitchFamily="18" charset="0"/>
                            <a:ea typeface="+mj-ea"/>
                          </a:rPr>
                          <m:t>𝑎𝑐𝑡𝑖𝑜𝑛</m:t>
                        </m:r>
                      </m:sub>
                    </m:sSub>
                  </m:oMath>
                </a14:m>
                <a:r>
                  <a:rPr lang="ko-KR" altLang="en-US" sz="2600" dirty="0">
                    <a:latin typeface="+mj-ea"/>
                    <a:ea typeface="+mj-ea"/>
                  </a:rPr>
                  <a:t> </a:t>
                </a:r>
                <a:r>
                  <a:rPr lang="en-US" altLang="ko-KR" sz="2600" dirty="0">
                    <a:latin typeface="+mj-ea"/>
                    <a:ea typeface="+mj-ea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6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ko-KR" altLang="en-US" sz="26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sSubPr>
                          <m:e>
                            <m:r>
                              <a:rPr lang="ko-KR" altLang="en-US" sz="2600" b="0" i="1" smtClean="0">
                                <a:latin typeface="Cambria Math" panose="02040503050406030204" pitchFamily="18" charset="0"/>
                                <a:ea typeface="+mj-ea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ko-KR" sz="2600" b="0" i="1" smtClean="0">
                                <a:latin typeface="Cambria Math" panose="02040503050406030204" pitchFamily="18" charset="0"/>
                                <a:ea typeface="+mj-ea"/>
                              </a:rPr>
                              <m:t>𝑠</m:t>
                            </m:r>
                          </m:sub>
                        </m:sSub>
                        <m:r>
                          <a:rPr lang="en-US" altLang="ko-KR" sz="2600" b="0" i="1">
                            <a:latin typeface="Cambria Math" panose="02040503050406030204" pitchFamily="18" charset="0"/>
                            <a:ea typeface="+mj-ea"/>
                          </a:rPr>
                          <m:t>𝐿</m:t>
                        </m:r>
                      </m:e>
                      <m:sub>
                        <m:r>
                          <a:rPr lang="en-US" altLang="ko-KR" sz="2600" b="0" i="1" smtClean="0">
                            <a:latin typeface="Cambria Math" panose="02040503050406030204" pitchFamily="18" charset="0"/>
                            <a:ea typeface="+mj-ea"/>
                          </a:rPr>
                          <m:t>𝑠𝑡𝑎𝑔𝑒</m:t>
                        </m:r>
                      </m:sub>
                    </m:sSub>
                  </m:oMath>
                </a14:m>
                <a:r>
                  <a:rPr lang="ko-KR" altLang="en-US" sz="2600" dirty="0">
                    <a:latin typeface="+mj-ea"/>
                    <a:ea typeface="+mj-ea"/>
                  </a:rPr>
                  <a:t> </a:t>
                </a:r>
                <a:r>
                  <a:rPr lang="en-US" altLang="ko-KR" sz="2600" dirty="0">
                    <a:latin typeface="+mj-ea"/>
                    <a:ea typeface="+mj-ea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6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600" b="0" i="1">
                            <a:latin typeface="Cambria Math" panose="02040503050406030204" pitchFamily="18" charset="0"/>
                            <a:ea typeface="+mj-ea"/>
                          </a:rPr>
                          <m:t>𝜆</m:t>
                        </m:r>
                      </m:e>
                      <m:sub>
                        <m:r>
                          <a:rPr lang="en-US" altLang="ko-KR" sz="2600" b="0" i="1" smtClean="0">
                            <a:latin typeface="Cambria Math" panose="02040503050406030204" pitchFamily="18" charset="0"/>
                            <a:ea typeface="+mj-ea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ko-KR" altLang="en-US" sz="26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600" b="0" i="1">
                            <a:latin typeface="Cambria Math" panose="02040503050406030204" pitchFamily="18" charset="0"/>
                            <a:ea typeface="+mj-ea"/>
                          </a:rPr>
                          <m:t>𝐿</m:t>
                        </m:r>
                      </m:e>
                      <m:sub>
                        <m:r>
                          <a:rPr lang="en-US" altLang="ko-KR" sz="2600" b="0" i="1" smtClean="0">
                            <a:latin typeface="Cambria Math" panose="02040503050406030204" pitchFamily="18" charset="0"/>
                            <a:ea typeface="+mj-ea"/>
                          </a:rPr>
                          <m:t>𝐹𝐴𝑆𝑇</m:t>
                        </m:r>
                      </m:sub>
                    </m:sSub>
                  </m:oMath>
                </a14:m>
                <a:endParaRPr lang="ko-KR" altLang="en-US" sz="2600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5D4B410-2449-16E0-3BAA-698098148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1800" y="13562575"/>
                <a:ext cx="5392630" cy="1238224"/>
              </a:xfrm>
              <a:prstGeom prst="rect">
                <a:avLst/>
              </a:prstGeom>
              <a:blipFill>
                <a:blip r:embed="rId7"/>
                <a:stretch>
                  <a:fillRect t="-7805" b="-112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9" name="표 78">
            <a:extLst>
              <a:ext uri="{FF2B5EF4-FFF2-40B4-BE49-F238E27FC236}">
                <a16:creationId xmlns:a16="http://schemas.microsoft.com/office/drawing/2014/main" id="{48999F9D-D38D-4137-315A-515D9D102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557120"/>
              </p:ext>
            </p:extLst>
          </p:nvPr>
        </p:nvGraphicFramePr>
        <p:xfrm>
          <a:off x="2000727" y="21991308"/>
          <a:ext cx="7321297" cy="33528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70825">
                  <a:extLst>
                    <a:ext uri="{9D8B030D-6E8A-4147-A177-3AD203B41FA5}">
                      <a16:colId xmlns:a16="http://schemas.microsoft.com/office/drawing/2014/main" val="75515524"/>
                    </a:ext>
                  </a:extLst>
                </a:gridCol>
                <a:gridCol w="2742883">
                  <a:extLst>
                    <a:ext uri="{9D8B030D-6E8A-4147-A177-3AD203B41FA5}">
                      <a16:colId xmlns:a16="http://schemas.microsoft.com/office/drawing/2014/main" val="3559314400"/>
                    </a:ext>
                  </a:extLst>
                </a:gridCol>
                <a:gridCol w="2807589">
                  <a:extLst>
                    <a:ext uri="{9D8B030D-6E8A-4147-A177-3AD203B41FA5}">
                      <a16:colId xmlns:a16="http://schemas.microsoft.com/office/drawing/2014/main" val="10072973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/>
                        <a:t>1</a:t>
                      </a:r>
                      <a:r>
                        <a:rPr lang="en-US" altLang="ko-KR" sz="2400" baseline="30000" dirty="0"/>
                        <a:t>st</a:t>
                      </a:r>
                      <a:r>
                        <a:rPr lang="en-US" altLang="ko-KR" sz="2400" dirty="0"/>
                        <a:t> </a:t>
                      </a:r>
                      <a:endParaRPr lang="ko-KR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경량화 모델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84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200" dirty="0"/>
                        <a:t>GPU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H200 x 8</a:t>
                      </a:r>
                    </a:p>
                    <a:p>
                      <a:pPr algn="ctr" latinLnBrk="1"/>
                      <a:r>
                        <a:rPr lang="en-US" altLang="ko-KR" sz="2200" dirty="0"/>
                        <a:t>RTX 4090 x</a:t>
                      </a:r>
                      <a:r>
                        <a:rPr lang="ko-KR" altLang="en-US" sz="2200" dirty="0"/>
                        <a:t> </a:t>
                      </a:r>
                      <a:r>
                        <a:rPr lang="en-US" altLang="ko-KR" sz="2200" dirty="0"/>
                        <a:t>20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A100 x 1</a:t>
                      </a:r>
                    </a:p>
                    <a:p>
                      <a:pPr algn="ctr" latinLnBrk="1"/>
                      <a:r>
                        <a:rPr lang="en-US" altLang="ko-KR" sz="2200" dirty="0"/>
                        <a:t>RTX 5070 x 2</a:t>
                      </a:r>
                      <a:endParaRPr lang="ko-KR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945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200" dirty="0"/>
                        <a:t>Task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50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12</a:t>
                      </a:r>
                      <a:endParaRPr lang="ko-KR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4784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200" dirty="0"/>
                        <a:t>Batch size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2048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16</a:t>
                      </a:r>
                      <a:endParaRPr lang="ko-KR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851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200" dirty="0"/>
                        <a:t>Step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200,000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70,000</a:t>
                      </a:r>
                      <a:endParaRPr lang="ko-KR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14496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200" dirty="0"/>
                        <a:t>Flow sample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15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1</a:t>
                      </a:r>
                      <a:endParaRPr lang="ko-KR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48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200" dirty="0"/>
                        <a:t>evaluation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50 task x 10 instance</a:t>
                      </a:r>
                      <a:endParaRPr lang="ko-KR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/>
                        <a:t>12 task x 1 instance</a:t>
                      </a:r>
                      <a:endParaRPr lang="ko-KR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022273"/>
                  </a:ext>
                </a:extLst>
              </a:tr>
            </a:tbl>
          </a:graphicData>
        </a:graphic>
      </p:graphicFrame>
      <p:sp>
        <p:nvSpPr>
          <p:cNvPr id="88" name="TextBox 87">
            <a:extLst>
              <a:ext uri="{FF2B5EF4-FFF2-40B4-BE49-F238E27FC236}">
                <a16:creationId xmlns:a16="http://schemas.microsoft.com/office/drawing/2014/main" id="{8BC2F8D5-B6FF-D3FA-99B9-5DE02FA7AD64}"/>
              </a:ext>
            </a:extLst>
          </p:cNvPr>
          <p:cNvSpPr txBox="1"/>
          <p:nvPr/>
        </p:nvSpPr>
        <p:spPr>
          <a:xfrm>
            <a:off x="10705545" y="22640929"/>
            <a:ext cx="10180800" cy="4616648"/>
          </a:xfrm>
          <a:prstGeom prst="rect">
            <a:avLst/>
          </a:prstGeom>
          <a:noFill/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5400" b="1" dirty="0">
              <a:latin typeface="+mn-ea"/>
            </a:endParaRPr>
          </a:p>
          <a:p>
            <a:r>
              <a:rPr lang="en-US" altLang="ko-KR" sz="2400" b="1" dirty="0">
                <a:latin typeface="+mn-ea"/>
              </a:rPr>
              <a:t>1. </a:t>
            </a:r>
            <a:r>
              <a:rPr lang="ko-KR" altLang="en-US" sz="2400" b="1" dirty="0">
                <a:latin typeface="+mn-ea"/>
              </a:rPr>
              <a:t>학습 관련</a:t>
            </a:r>
            <a:endParaRPr lang="en-US" altLang="ko-KR" sz="2400" b="1" dirty="0">
              <a:latin typeface="+mn-ea"/>
            </a:endParaRPr>
          </a:p>
          <a:p>
            <a:r>
              <a:rPr lang="ko-KR" altLang="ko-KR" sz="2200" dirty="0">
                <a:latin typeface="+mn-ea"/>
              </a:rPr>
              <a:t>학습 </a:t>
            </a:r>
            <a:r>
              <a:rPr lang="ko-KR" altLang="ko-KR" sz="2200" dirty="0" err="1">
                <a:latin typeface="+mn-ea"/>
              </a:rPr>
              <a:t>step</a:t>
            </a:r>
            <a:r>
              <a:rPr lang="ko-KR" altLang="ko-KR" sz="2200" dirty="0">
                <a:latin typeface="+mn-ea"/>
              </a:rPr>
              <a:t> 증가를 통한 장기 수렴 성능 분석</a:t>
            </a:r>
            <a:endParaRPr lang="en-US" altLang="ko-KR" sz="2200" dirty="0">
              <a:latin typeface="+mn-ea"/>
            </a:endParaRPr>
          </a:p>
          <a:p>
            <a:r>
              <a:rPr lang="ko-KR" altLang="ko-KR" sz="2200" dirty="0">
                <a:latin typeface="+mn-ea"/>
              </a:rPr>
              <a:t>다양한 </a:t>
            </a:r>
            <a:r>
              <a:rPr lang="ko-KR" altLang="ko-KR" sz="2200" dirty="0" err="1">
                <a:latin typeface="+mn-ea"/>
              </a:rPr>
              <a:t>seed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en-US" sz="2200" dirty="0">
                <a:latin typeface="+mn-ea"/>
              </a:rPr>
              <a:t>활용 및 </a:t>
            </a:r>
            <a:r>
              <a:rPr lang="en-US" altLang="ko-KR" sz="2200" dirty="0">
                <a:latin typeface="+mn-ea"/>
              </a:rPr>
              <a:t>task </a:t>
            </a:r>
            <a:r>
              <a:rPr lang="ko-KR" altLang="en-US" sz="2200" dirty="0">
                <a:latin typeface="+mn-ea"/>
              </a:rPr>
              <a:t>수 확장 통한 일반화 성능 향상</a:t>
            </a:r>
            <a:r>
              <a:rPr lang="ko-KR" altLang="ko-KR" sz="2200" dirty="0">
                <a:latin typeface="+mn-ea"/>
              </a:rPr>
              <a:t> </a:t>
            </a:r>
          </a:p>
          <a:p>
            <a:endParaRPr lang="en-US" altLang="ko-KR" sz="1400" b="1" dirty="0">
              <a:latin typeface="+mn-ea"/>
            </a:endParaRPr>
          </a:p>
          <a:p>
            <a:r>
              <a:rPr lang="en-US" altLang="ko-KR" sz="2400" b="1" dirty="0">
                <a:latin typeface="+mn-ea"/>
              </a:rPr>
              <a:t>2. </a:t>
            </a:r>
            <a:r>
              <a:rPr lang="ko-KR" altLang="en-US" sz="2400" b="1" dirty="0">
                <a:latin typeface="+mn-ea"/>
              </a:rPr>
              <a:t>추가 </a:t>
            </a:r>
            <a:r>
              <a:rPr lang="en-US" altLang="ko-KR" sz="2400" b="1" dirty="0">
                <a:latin typeface="+mn-ea"/>
              </a:rPr>
              <a:t>VLA </a:t>
            </a:r>
            <a:r>
              <a:rPr lang="ko-KR" altLang="en-US" sz="2400" b="1" dirty="0">
                <a:latin typeface="+mn-ea"/>
              </a:rPr>
              <a:t>기술</a:t>
            </a:r>
            <a:endParaRPr lang="en-US" altLang="ko-KR" sz="2400" b="1" dirty="0">
              <a:latin typeface="+mn-ea"/>
            </a:endParaRPr>
          </a:p>
          <a:p>
            <a:r>
              <a:rPr lang="ko-KR" altLang="ko-KR" sz="2200" b="1" dirty="0" err="1">
                <a:latin typeface="+mn-ea"/>
              </a:rPr>
              <a:t>MeM</a:t>
            </a:r>
            <a:r>
              <a:rPr lang="ko-KR" altLang="ko-KR" sz="2200" b="1" dirty="0">
                <a:latin typeface="+mn-ea"/>
              </a:rPr>
              <a:t> (</a:t>
            </a:r>
            <a:r>
              <a:rPr lang="ko-KR" altLang="ko-KR" sz="2200" b="1" dirty="0" err="1">
                <a:latin typeface="+mn-ea"/>
              </a:rPr>
              <a:t>Multi-Scale</a:t>
            </a:r>
            <a:r>
              <a:rPr lang="ko-KR" altLang="ko-KR" sz="2200" b="1" dirty="0">
                <a:latin typeface="+mn-ea"/>
              </a:rPr>
              <a:t> </a:t>
            </a:r>
            <a:r>
              <a:rPr lang="ko-KR" altLang="ko-KR" sz="2200" b="1" dirty="0" err="1">
                <a:latin typeface="+mn-ea"/>
              </a:rPr>
              <a:t>Embodied</a:t>
            </a:r>
            <a:r>
              <a:rPr lang="ko-KR" altLang="ko-KR" sz="2200" b="1" dirty="0">
                <a:latin typeface="+mn-ea"/>
              </a:rPr>
              <a:t> </a:t>
            </a:r>
            <a:r>
              <a:rPr lang="ko-KR" altLang="ko-KR" sz="2200" b="1" dirty="0" err="1">
                <a:latin typeface="+mn-ea"/>
              </a:rPr>
              <a:t>Memory</a:t>
            </a:r>
            <a:r>
              <a:rPr lang="ko-KR" altLang="ko-KR" sz="2200" b="1" dirty="0">
                <a:latin typeface="+mn-ea"/>
              </a:rPr>
              <a:t>)</a:t>
            </a:r>
            <a:r>
              <a:rPr lang="en-US" altLang="ko-KR" sz="2200" b="1" dirty="0">
                <a:latin typeface="+mn-ea"/>
              </a:rPr>
              <a:t>: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short-term</a:t>
            </a:r>
            <a:r>
              <a:rPr lang="ko-KR" altLang="ko-KR" sz="2200" dirty="0">
                <a:latin typeface="+mn-ea"/>
              </a:rPr>
              <a:t> / </a:t>
            </a:r>
            <a:r>
              <a:rPr lang="ko-KR" altLang="ko-KR" sz="2200" dirty="0" err="1">
                <a:latin typeface="+mn-ea"/>
              </a:rPr>
              <a:t>long-term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memory</a:t>
            </a:r>
            <a:r>
              <a:rPr lang="ko-KR" altLang="ko-KR" sz="2200" dirty="0">
                <a:latin typeface="+mn-ea"/>
              </a:rPr>
              <a:t> 기반 </a:t>
            </a:r>
            <a:r>
              <a:rPr lang="ko-KR" altLang="ko-KR" sz="2200" dirty="0" err="1">
                <a:latin typeface="+mn-ea"/>
              </a:rPr>
              <a:t>long-horizon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task</a:t>
            </a:r>
            <a:r>
              <a:rPr lang="ko-KR" altLang="ko-KR" sz="2200" dirty="0">
                <a:latin typeface="+mn-ea"/>
              </a:rPr>
              <a:t> 안정성 향상</a:t>
            </a:r>
            <a:endParaRPr lang="en-US" altLang="ko-KR" sz="2200" dirty="0">
              <a:latin typeface="+mn-ea"/>
            </a:endParaRPr>
          </a:p>
          <a:p>
            <a:r>
              <a:rPr lang="ko-KR" altLang="ko-KR" sz="2200" b="1" dirty="0">
                <a:latin typeface="+mn-ea"/>
              </a:rPr>
              <a:t>RD-VLA (</a:t>
            </a:r>
            <a:r>
              <a:rPr lang="ko-KR" altLang="ko-KR" sz="2200" b="1" dirty="0" err="1">
                <a:latin typeface="+mn-ea"/>
              </a:rPr>
              <a:t>Recurrent-Depth</a:t>
            </a:r>
            <a:r>
              <a:rPr lang="ko-KR" altLang="ko-KR" sz="2200" b="1" dirty="0">
                <a:latin typeface="+mn-ea"/>
              </a:rPr>
              <a:t> VLA)</a:t>
            </a:r>
            <a:r>
              <a:rPr lang="en-US" altLang="ko-KR" sz="2200" b="1" dirty="0">
                <a:latin typeface="+mn-ea"/>
              </a:rPr>
              <a:t>: </a:t>
            </a:r>
            <a:r>
              <a:rPr lang="ko-KR" altLang="en-US" sz="2200" dirty="0">
                <a:latin typeface="+mn-ea"/>
              </a:rPr>
              <a:t>잠재 행동 계획을 반복적으로 </a:t>
            </a:r>
            <a:r>
              <a:rPr lang="ko-KR" altLang="en-US" sz="2200" dirty="0" err="1">
                <a:latin typeface="+mn-ea"/>
              </a:rPr>
              <a:t>정교화하여</a:t>
            </a:r>
            <a:r>
              <a:rPr lang="ko-KR" altLang="en-US" sz="2200" dirty="0">
                <a:latin typeface="+mn-ea"/>
              </a:rPr>
              <a:t> 장기 작업에서 더 정밀한 행동 궤적 생성</a:t>
            </a:r>
            <a:endParaRPr lang="en-US" altLang="ko-KR" sz="2200" dirty="0">
              <a:latin typeface="+mn-ea"/>
            </a:endParaRPr>
          </a:p>
          <a:p>
            <a:r>
              <a:rPr lang="ko-KR" altLang="ko-KR" sz="2200" b="1" dirty="0">
                <a:latin typeface="+mn-ea"/>
              </a:rPr>
              <a:t>π*0.6-lite </a:t>
            </a:r>
            <a:r>
              <a:rPr lang="ko-KR" altLang="ko-KR" sz="2200" b="1" dirty="0" err="1">
                <a:latin typeface="+mn-ea"/>
              </a:rPr>
              <a:t>Recovery</a:t>
            </a:r>
            <a:r>
              <a:rPr lang="ko-KR" altLang="ko-KR" sz="2200" b="1" dirty="0">
                <a:latin typeface="+mn-ea"/>
              </a:rPr>
              <a:t> </a:t>
            </a:r>
            <a:r>
              <a:rPr lang="ko-KR" altLang="ko-KR" sz="2200" b="1" dirty="0" err="1">
                <a:latin typeface="+mn-ea"/>
              </a:rPr>
              <a:t>Learning</a:t>
            </a:r>
            <a:r>
              <a:rPr lang="en-US" altLang="ko-KR" sz="2200" b="1" dirty="0">
                <a:latin typeface="+mn-ea"/>
              </a:rPr>
              <a:t>: </a:t>
            </a:r>
            <a:r>
              <a:rPr lang="ko-KR" altLang="ko-KR" sz="2200" dirty="0">
                <a:latin typeface="+mn-ea"/>
              </a:rPr>
              <a:t>실패 </a:t>
            </a:r>
            <a:r>
              <a:rPr lang="ko-KR" altLang="ko-KR" sz="2200" dirty="0" err="1">
                <a:latin typeface="+mn-ea"/>
              </a:rPr>
              <a:t>rollout과</a:t>
            </a:r>
            <a:r>
              <a:rPr lang="ko-KR" altLang="ko-KR" sz="2200" dirty="0">
                <a:latin typeface="+mn-ea"/>
              </a:rPr>
              <a:t> </a:t>
            </a:r>
            <a:r>
              <a:rPr lang="ko-KR" altLang="ko-KR" sz="2200" dirty="0" err="1">
                <a:latin typeface="+mn-ea"/>
              </a:rPr>
              <a:t>stage</a:t>
            </a:r>
            <a:r>
              <a:rPr lang="ko-KR" altLang="ko-KR" sz="2200" dirty="0">
                <a:latin typeface="+mn-ea"/>
              </a:rPr>
              <a:t>/</a:t>
            </a:r>
            <a:r>
              <a:rPr lang="ko-KR" altLang="ko-KR" sz="2200" dirty="0" err="1">
                <a:latin typeface="+mn-ea"/>
              </a:rPr>
              <a:t>value</a:t>
            </a:r>
            <a:r>
              <a:rPr lang="ko-KR" altLang="ko-KR" sz="2200" dirty="0">
                <a:latin typeface="+mn-ea"/>
              </a:rPr>
              <a:t> 정보를 활용하여 OOD 상태에서 </a:t>
            </a:r>
            <a:r>
              <a:rPr lang="ko-KR" altLang="ko-KR" sz="2200" dirty="0"/>
              <a:t>복구 행동 및 </a:t>
            </a:r>
            <a:r>
              <a:rPr lang="ko-KR" altLang="ko-KR" sz="2200" dirty="0" err="1"/>
              <a:t>rollout</a:t>
            </a:r>
            <a:r>
              <a:rPr lang="ko-KR" altLang="ko-KR" sz="2200" dirty="0"/>
              <a:t> 안정성 향상</a:t>
            </a:r>
            <a:endParaRPr lang="ko-KR" altLang="ko-KR" sz="2200" dirty="0">
              <a:latin typeface="+mn-ea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12367E2-2923-2FE1-2E7E-78D4E1A602A4}"/>
              </a:ext>
            </a:extLst>
          </p:cNvPr>
          <p:cNvSpPr txBox="1"/>
          <p:nvPr/>
        </p:nvSpPr>
        <p:spPr>
          <a:xfrm>
            <a:off x="10702097" y="22643179"/>
            <a:ext cx="4019006" cy="646331"/>
          </a:xfrm>
          <a:prstGeom prst="rect">
            <a:avLst/>
          </a:prstGeom>
          <a:gradFill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1"/>
                </a:solidFill>
                <a:latin typeface="+mn-ea"/>
              </a:rPr>
              <a:t>향후 계획</a:t>
            </a: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967B010-75E5-F8F0-58B6-DD939BD4F9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3326" y="11508031"/>
            <a:ext cx="2862087" cy="2765395"/>
          </a:xfrm>
          <a:prstGeom prst="rect">
            <a:avLst/>
          </a:prstGeom>
        </p:spPr>
      </p:pic>
      <p:pic>
        <p:nvPicPr>
          <p:cNvPr id="98" name="그림 97">
            <a:extLst>
              <a:ext uri="{FF2B5EF4-FFF2-40B4-BE49-F238E27FC236}">
                <a16:creationId xmlns:a16="http://schemas.microsoft.com/office/drawing/2014/main" id="{4196D2DC-283E-6471-F5DA-2B9B9FE0AFF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664" y="14246612"/>
            <a:ext cx="2993894" cy="2759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6FF358-D573-5D4E-831E-BD28FE64B33F}"/>
              </a:ext>
            </a:extLst>
          </p:cNvPr>
          <p:cNvSpPr txBox="1"/>
          <p:nvPr/>
        </p:nvSpPr>
        <p:spPr>
          <a:xfrm>
            <a:off x="542579" y="6188708"/>
            <a:ext cx="4019006" cy="646331"/>
          </a:xfrm>
          <a:prstGeom prst="rect">
            <a:avLst/>
          </a:prstGeom>
          <a:gradFill flip="none" rotWithShape="1">
            <a:gsLst>
              <a:gs pos="0">
                <a:schemeClr val="accent4">
                  <a:shade val="30000"/>
                  <a:satMod val="115000"/>
                  <a:lumMod val="48000"/>
                  <a:alpha val="95000"/>
                </a:schemeClr>
              </a:gs>
              <a:gs pos="50000">
                <a:schemeClr val="accent4">
                  <a:lumMod val="50000"/>
                  <a:shade val="67500"/>
                  <a:satMod val="115000"/>
                </a:schemeClr>
              </a:gs>
              <a:gs pos="100000">
                <a:schemeClr val="accent4">
                  <a:lumMod val="50000"/>
                  <a:shade val="100000"/>
                  <a:satMod val="115000"/>
                </a:schemeClr>
              </a:gs>
            </a:gsLst>
            <a:path path="rect">
              <a:fillToRect l="50000" t="50000" r="50000" b="50000"/>
            </a:path>
            <a:tileRect/>
          </a:gradFill>
          <a:ln w="57150">
            <a:solidFill>
              <a:schemeClr val="accent4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latin typeface="+mn-ea"/>
              </a:rPr>
              <a:t>BEHAVIOR-1K</a:t>
            </a:r>
            <a:endParaRPr lang="ko-KR" altLang="en-US" sz="3600" b="1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12EBF0F-0233-940F-A3D3-B1FFA605E3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68456" y="8125139"/>
            <a:ext cx="2270957" cy="2865368"/>
          </a:xfrm>
          <a:prstGeom prst="rect">
            <a:avLst/>
          </a:prstGeom>
        </p:spPr>
      </p:pic>
      <p:pic>
        <p:nvPicPr>
          <p:cNvPr id="1026" name="Picture 2" descr="OmniGibson architecture overview">
            <a:extLst>
              <a:ext uri="{FF2B5EF4-FFF2-40B4-BE49-F238E27FC236}">
                <a16:creationId xmlns:a16="http://schemas.microsoft.com/office/drawing/2014/main" id="{3690E041-F017-F0CC-822B-BCF385407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747" y="7715795"/>
            <a:ext cx="7824983" cy="3826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D95F6C5-0ADB-4C41-3094-33DAAD2B270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40930" y="19346429"/>
            <a:ext cx="9758531" cy="1551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877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978</TotalTime>
  <Words>753</Words>
  <Application>Microsoft Office PowerPoint</Application>
  <PresentationFormat>사용자 지정</PresentationFormat>
  <Paragraphs>151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맑은 고딕</vt:lpstr>
      <vt:lpstr>Aptos</vt:lpstr>
      <vt:lpstr>Aptos Display</vt:lpstr>
      <vt:lpstr>Arial</vt:lpstr>
      <vt:lpstr>Cambria Math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강지호</dc:creator>
  <cp:lastModifiedBy>강지호</cp:lastModifiedBy>
  <cp:revision>25</cp:revision>
  <dcterms:created xsi:type="dcterms:W3CDTF">2026-05-22T04:49:17Z</dcterms:created>
  <dcterms:modified xsi:type="dcterms:W3CDTF">2026-05-28T02:39:10Z</dcterms:modified>
</cp:coreProperties>
</file>