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1="http://schemas.openxmlformats.org/officeDocument/2006/relationships" xmlns:ns3="http://schemas.microsoft.com/office/powerpoint/2012/main" xmlns:p="http://schemas.openxmlformats.org/presentationml/2006/main" saveSubsetFonts="1">
  <p:sldMasterIdLst>
    <p:sldMasterId id="2147483660" ns1:id="rId1"/>
  </p:sldMasterIdLst>
  <p:notesMasterIdLst>
    <p:notesMasterId ns1:id="rId3"/>
  </p:notesMasterIdLst>
  <p:sldIdLst>
    <p:sldId id="256" ns1:id="rId2"/>
  </p:sldIdLst>
  <p:sldSz cx="7559867" cy="1070335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670" autoAdjust="0"/>
  </p:normalViewPr>
  <p:slideViewPr>
    <p:cSldViewPr snapToGrid="0">
      <p:cViewPr>
        <p:scale>
          <a:sx n="23" d="100"/>
          <a:sy n="23" d="100"/>
        </p:scale>
        <p:origin x="2070" y="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CE3CB-5277-48E6-BCBF-B434DC32A1C2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AD9B5-C3A7-43BC-9ED1-A76F648430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03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0AD9B5-C3A7-43BC-9ED1-A76F648430F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ns2:creationId val="2124398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544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601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262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79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826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88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379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5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474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4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38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1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1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openxmlformats.org/markup-compatibility/2006" xmlns:ns6="http://schemas.openxmlformats.org/officeDocument/2006/math" xmlns:ns7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그림 69">
            <a:extLst>
              <a:ext uri="{FF2B5EF4-FFF2-40B4-BE49-F238E27FC236}">
                <ns2:creationId id="{960D056F-BB26-F74E-8730-70D872199D00}"/>
              </a:ext>
            </a:extLst>
          </p:cNvPr>
          <p:cNvPicPr>
            <a:picLocks noChangeAspect="1"/>
          </p:cNvPicPr>
          <p:nvPr/>
        </p:nvPicPr>
        <p:blipFill>
          <a:blip ns3:embed="rId3"/>
          <a:stretch>
            <a:fillRect/>
          </a:stretch>
        </p:blipFill>
        <p:spPr>
          <a:xfrm>
            <a:off x="3833812" y="3130353"/>
            <a:ext cx="3497490" cy="17941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ns2:creationId id="{F837C99B-9CE4-13DD-7E3A-61A600B1E6F9}"/>
              </a:ext>
            </a:extLst>
          </p:cNvPr>
          <p:cNvSpPr txBox="1"/>
          <p:nvPr/>
        </p:nvSpPr>
        <p:spPr>
          <a:xfrm>
            <a:off x="184727" y="165268"/>
            <a:ext cx="7190412" cy="359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121" b="1" dirty="0"/>
              <a:t>BEHAVIOR-1K </a:t>
            </a:r>
            <a:r>
              <a:rPr lang="ko-KR" altLang="en-US" sz="2121" b="1" dirty="0"/>
              <a:t>기반 양팔 로봇 정책 학습</a:t>
            </a:r>
            <a:endParaRPr lang="ko-KR" altLang="en-US" sz="1909" b="1" dirty="0"/>
          </a:p>
        </p:txBody>
      </p:sp>
      <p:sp>
        <p:nvSpPr>
          <p:cNvPr id="5" name="TextBox 4">
            <a:extLst>
              <a:ext uri="{FF2B5EF4-FFF2-40B4-BE49-F238E27FC236}">
                <ns2:creationId id="{3EA791E0-6CF5-D63E-BD9E-794012C4381A}"/>
              </a:ext>
            </a:extLst>
          </p:cNvPr>
          <p:cNvSpPr txBox="1"/>
          <p:nvPr/>
        </p:nvSpPr>
        <p:spPr>
          <a:xfrm>
            <a:off x="181191" y="624796"/>
            <a:ext cx="3598743" cy="293787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97" b="1" dirty="0">
                <a:latin typeface="+mn-ea"/>
              </a:rPr>
              <a:t>지도 교수님</a:t>
            </a:r>
            <a:r>
              <a:rPr lang="en-US" altLang="ko-KR" sz="1697" b="1" dirty="0">
                <a:latin typeface="+mn-ea"/>
              </a:rPr>
              <a:t>: </a:t>
            </a:r>
            <a:r>
              <a:rPr lang="ko-KR" altLang="en-US" sz="1697" b="1" dirty="0" err="1">
                <a:latin typeface="+mn-ea"/>
              </a:rPr>
              <a:t>하종은</a:t>
            </a:r>
            <a:r>
              <a:rPr lang="ko-KR" altLang="en-US" sz="1697" b="1" dirty="0">
                <a:latin typeface="+mn-ea"/>
              </a:rPr>
              <a:t> 교수님</a:t>
            </a:r>
          </a:p>
        </p:txBody>
      </p:sp>
      <p:sp>
        <p:nvSpPr>
          <p:cNvPr id="6" name="TextBox 5">
            <a:extLst>
              <a:ext uri="{FF2B5EF4-FFF2-40B4-BE49-F238E27FC236}">
                <ns2:creationId id="{28CC29D6-F5C9-1FEE-2470-ECFA1AD996C6}"/>
              </a:ext>
            </a:extLst>
          </p:cNvPr>
          <p:cNvSpPr txBox="1"/>
          <p:nvPr/>
        </p:nvSpPr>
        <p:spPr>
          <a:xfrm>
            <a:off x="3779934" y="624796"/>
            <a:ext cx="3597547" cy="293787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97" b="1" dirty="0">
                <a:latin typeface="+mn-ea"/>
              </a:rPr>
              <a:t>조원</a:t>
            </a:r>
            <a:r>
              <a:rPr lang="en-US" altLang="ko-KR" sz="1697" b="1" dirty="0">
                <a:latin typeface="+mn-ea"/>
              </a:rPr>
              <a:t>: </a:t>
            </a:r>
            <a:r>
              <a:rPr lang="ko-KR" altLang="en-US" sz="1697" b="1" dirty="0">
                <a:latin typeface="+mn-ea"/>
              </a:rPr>
              <a:t>강지호</a:t>
            </a:r>
            <a:r>
              <a:rPr lang="en-US" altLang="ko-KR" sz="1697" b="1" dirty="0">
                <a:latin typeface="+mn-ea"/>
              </a:rPr>
              <a:t>, </a:t>
            </a:r>
            <a:r>
              <a:rPr lang="ko-KR" altLang="en-US" sz="1697" b="1" dirty="0" err="1">
                <a:latin typeface="+mn-ea"/>
              </a:rPr>
              <a:t>문병선</a:t>
            </a:r>
            <a:endParaRPr lang="ko-KR" altLang="en-US" sz="1697" b="1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ns2:creationId id="{ACF21E68-84F7-27E5-88B3-AD831848791A}"/>
              </a:ext>
            </a:extLst>
          </p:cNvPr>
          <p:cNvSpPr txBox="1"/>
          <p:nvPr/>
        </p:nvSpPr>
        <p:spPr>
          <a:xfrm>
            <a:off x="181788" y="918582"/>
            <a:ext cx="3598145" cy="1262195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909" b="1" dirty="0">
              <a:latin typeface="+mn-ea"/>
            </a:endParaRPr>
          </a:p>
          <a:p>
            <a:pPr marL="121227" indent="1" algn="ctr">
              <a:buFont typeface="Arial" panose="020B0604020202020204" pitchFamily="34" charset="0"/>
              <a:buChar char="•"/>
            </a:pPr>
            <a:r>
              <a:rPr lang="en-US" altLang="ko-KR" sz="848" dirty="0">
                <a:latin typeface="+mn-ea"/>
              </a:rPr>
              <a:t>BEHAVIOR-1K </a:t>
            </a:r>
            <a:r>
              <a:rPr lang="ko-KR" altLang="en-US" sz="848" dirty="0">
                <a:latin typeface="+mn-ea"/>
              </a:rPr>
              <a:t>환경에서 </a:t>
            </a:r>
            <a:r>
              <a:rPr lang="en-US" altLang="ko-KR" sz="848" dirty="0">
                <a:latin typeface="+mn-ea"/>
              </a:rPr>
              <a:t>Vision-Language-Action </a:t>
            </a:r>
            <a:r>
              <a:rPr lang="ko-KR" altLang="en-US" sz="848" dirty="0">
                <a:latin typeface="+mn-ea"/>
              </a:rPr>
              <a:t>기반 양팔 로봇 조작 정책을 구현하고 평가</a:t>
            </a:r>
            <a:endParaRPr lang="en-US" altLang="ko-KR" sz="848" dirty="0">
              <a:latin typeface="+mn-ea"/>
            </a:endParaRPr>
          </a:p>
          <a:p>
            <a:pPr marL="101023" indent="1" algn="ctr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21227" indent="1" algn="ctr">
              <a:buFont typeface="Arial" panose="020B0604020202020204" pitchFamily="34" charset="0"/>
              <a:buChar char="•"/>
            </a:pPr>
            <a:r>
              <a:rPr lang="ko-KR" altLang="ko-KR" sz="848" dirty="0"/>
              <a:t>Pi0.5 기반 모델을 활용하여 장기 시퀀스 작업 수행 성능을 분석하고, </a:t>
            </a:r>
            <a:r>
              <a:rPr lang="ko-KR" altLang="ko-KR" sz="848" dirty="0" err="1"/>
              <a:t>Flow</a:t>
            </a:r>
            <a:r>
              <a:rPr lang="ko-KR" altLang="ko-KR" sz="848" dirty="0"/>
              <a:t> </a:t>
            </a:r>
            <a:r>
              <a:rPr lang="ko-KR" altLang="ko-KR" sz="848" dirty="0" err="1"/>
              <a:t>Matching</a:t>
            </a:r>
            <a:r>
              <a:rPr lang="ko-KR" altLang="ko-KR" sz="848" dirty="0"/>
              <a:t> 기반 정책 학습 구조를 적용</a:t>
            </a:r>
            <a:endParaRPr lang="en-US" altLang="ko-KR" sz="848" dirty="0"/>
          </a:p>
          <a:p>
            <a:pPr marL="121227" indent="1" algn="ctr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21227" indent="1" algn="ctr">
              <a:buFont typeface="Arial" panose="020B0604020202020204" pitchFamily="34" charset="0"/>
              <a:buChar char="•"/>
            </a:pPr>
            <a:r>
              <a:rPr lang="ko-KR" altLang="ko-KR" sz="848" dirty="0" err="1"/>
              <a:t>OmniGibson</a:t>
            </a:r>
            <a:r>
              <a:rPr lang="ko-KR" altLang="ko-KR" sz="848" dirty="0"/>
              <a:t> 환경에서 다양한 작업 수행 결과를 통해 모델의 실효성 검증</a:t>
            </a:r>
            <a:endParaRPr lang="en-US" altLang="ko-KR" sz="848" dirty="0"/>
          </a:p>
          <a:p>
            <a:pPr algn="ctr"/>
            <a:endParaRPr lang="en-US" altLang="ko-KR" sz="566" dirty="0"/>
          </a:p>
        </p:txBody>
      </p:sp>
      <p:sp>
        <p:nvSpPr>
          <p:cNvPr id="8" name="TextBox 7">
            <a:extLst>
              <a:ext uri="{FF2B5EF4-FFF2-40B4-BE49-F238E27FC236}">
                <ns2:creationId id="{2E8A191C-5F83-480C-7015-4DA81E72DAFF}"/>
              </a:ext>
            </a:extLst>
          </p:cNvPr>
          <p:cNvSpPr txBox="1"/>
          <p:nvPr/>
        </p:nvSpPr>
        <p:spPr>
          <a:xfrm>
            <a:off x="187421" y="918582"/>
            <a:ext cx="1420861" cy="22850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연구 목적</a:t>
            </a:r>
          </a:p>
        </p:txBody>
      </p:sp>
      <p:sp>
        <p:nvSpPr>
          <p:cNvPr id="11" name="TextBox 10">
            <a:extLst>
              <a:ext uri="{FF2B5EF4-FFF2-40B4-BE49-F238E27FC236}">
                <ns2:creationId id="{3836297D-C66E-2FF3-A2C5-91FB5F095DDA}"/>
              </a:ext>
            </a:extLst>
          </p:cNvPr>
          <p:cNvSpPr txBox="1"/>
          <p:nvPr/>
        </p:nvSpPr>
        <p:spPr>
          <a:xfrm>
            <a:off x="3782872" y="914976"/>
            <a:ext cx="3594609" cy="2100031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273" b="1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566" dirty="0"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ns2:creationId id="{EE4BA792-A182-B99F-83BD-30DF7E0EBF88}"/>
              </a:ext>
            </a:extLst>
          </p:cNvPr>
          <p:cNvSpPr txBox="1"/>
          <p:nvPr/>
        </p:nvSpPr>
        <p:spPr>
          <a:xfrm>
            <a:off x="3779933" y="918582"/>
            <a:ext cx="2867880" cy="22850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주차별 진행 상황 및 역할 분담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C4E37084-1706-89B6-3818-C425F45E15B4}"/>
              </a:ext>
            </a:extLst>
          </p:cNvPr>
          <p:cNvSpPr txBox="1"/>
          <p:nvPr/>
        </p:nvSpPr>
        <p:spPr>
          <a:xfrm>
            <a:off x="3779933" y="1182022"/>
            <a:ext cx="1797603" cy="1468934"/>
          </a:xfrm>
          <a:prstGeom prst="rect">
            <a:avLst/>
          </a:prstGeom>
          <a:noFill/>
          <a:ln w="20205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848" dirty="0"/>
              <a:t> 1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en-US" sz="848" dirty="0"/>
              <a:t>프로젝트 주제 선정 및 개발 </a:t>
            </a:r>
            <a:r>
              <a:rPr lang="en-US" altLang="ko-KR" sz="848" dirty="0"/>
              <a:t>		</a:t>
            </a:r>
            <a:r>
              <a:rPr lang="ko-KR" altLang="en-US" sz="848" dirty="0"/>
              <a:t>환경 조사</a:t>
            </a:r>
            <a:endParaRPr lang="en-US" altLang="ko-KR" sz="848" dirty="0"/>
          </a:p>
          <a:p>
            <a:r>
              <a:rPr lang="en-US" altLang="ko-KR" sz="848" dirty="0"/>
              <a:t> 2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OpenPI·Pi0.5 기반 코드 구조 </a:t>
            </a:r>
            <a:r>
              <a:rPr lang="en-US" altLang="ko-KR" sz="848" dirty="0"/>
              <a:t>		</a:t>
            </a:r>
            <a:r>
              <a:rPr lang="ko-KR" altLang="ko-KR" sz="848" dirty="0"/>
              <a:t>분석 및 학습 파이프라인 구축</a:t>
            </a:r>
            <a:endParaRPr lang="en-US" altLang="ko-KR" sz="848" dirty="0"/>
          </a:p>
          <a:p>
            <a:r>
              <a:rPr lang="en-US" altLang="ko-KR" sz="848" dirty="0"/>
              <a:t> 3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모델 구조 설계 및 실험 환경 </a:t>
            </a:r>
            <a:r>
              <a:rPr lang="en-US" altLang="ko-KR" sz="848" dirty="0"/>
              <a:t>		</a:t>
            </a:r>
            <a:r>
              <a:rPr lang="ko-KR" altLang="ko-KR" sz="848" dirty="0"/>
              <a:t>구성</a:t>
            </a:r>
            <a:endParaRPr lang="en-US" altLang="ko-KR" sz="848" dirty="0"/>
          </a:p>
          <a:p>
            <a:r>
              <a:rPr lang="en-US" altLang="ko-KR" sz="848" dirty="0"/>
              <a:t> 4</a:t>
            </a:r>
            <a:r>
              <a:rPr lang="ko-KR" altLang="en-US" sz="848" dirty="0"/>
              <a:t>주차</a:t>
            </a:r>
            <a:r>
              <a:rPr lang="en-US" altLang="ko-KR" sz="848" dirty="0"/>
              <a:t>:  </a:t>
            </a:r>
            <a:r>
              <a:rPr lang="ko-KR" altLang="ko-KR" sz="848" dirty="0" err="1"/>
              <a:t>OmniGibson</a:t>
            </a:r>
            <a:r>
              <a:rPr lang="ko-KR" altLang="ko-KR" sz="848" dirty="0"/>
              <a:t> 평가 환경 구축</a:t>
            </a:r>
            <a:endParaRPr lang="en-US" altLang="ko-KR" sz="848" dirty="0"/>
          </a:p>
          <a:p>
            <a:r>
              <a:rPr lang="en-US" altLang="ko-KR" sz="848" dirty="0"/>
              <a:t> 5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실데이터 학습 파이프라인 </a:t>
            </a:r>
            <a:r>
              <a:rPr lang="en-US" altLang="ko-KR" sz="848" dirty="0"/>
              <a:t>			</a:t>
            </a:r>
            <a:r>
              <a:rPr lang="ko-KR" altLang="ko-KR" sz="848" dirty="0"/>
              <a:t>구현</a:t>
            </a:r>
            <a:endParaRPr lang="en-US" altLang="ko-KR" sz="848" dirty="0"/>
          </a:p>
          <a:p>
            <a:r>
              <a:rPr lang="en-US" altLang="ko-KR" sz="848" dirty="0"/>
              <a:t> 6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메모리 최적화 및 학습 성능 </a:t>
            </a:r>
            <a:r>
              <a:rPr lang="en-US" altLang="ko-KR" sz="848" dirty="0"/>
              <a:t>		</a:t>
            </a:r>
            <a:r>
              <a:rPr lang="ko-KR" altLang="ko-KR" sz="848" dirty="0"/>
              <a:t>분석</a:t>
            </a:r>
            <a:r>
              <a:rPr lang="en-US" altLang="ko-KR" sz="848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ns2:creationId id="{2CFBE48B-B887-151D-2BF6-D02E76534210}"/>
              </a:ext>
            </a:extLst>
          </p:cNvPr>
          <p:cNvSpPr txBox="1"/>
          <p:nvPr/>
        </p:nvSpPr>
        <p:spPr>
          <a:xfrm>
            <a:off x="5577536" y="1168845"/>
            <a:ext cx="1797603" cy="1044575"/>
          </a:xfrm>
          <a:prstGeom prst="rect">
            <a:avLst/>
          </a:prstGeom>
          <a:noFill/>
          <a:ln w="20205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848" dirty="0"/>
              <a:t> 7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학습 및 W&amp;B 로깅 시스템 </a:t>
            </a:r>
            <a:r>
              <a:rPr lang="en-US" altLang="ko-KR" sz="848" dirty="0"/>
              <a:t>			</a:t>
            </a:r>
            <a:r>
              <a:rPr lang="ko-KR" altLang="ko-KR" sz="848" dirty="0"/>
              <a:t>구축</a:t>
            </a:r>
            <a:endParaRPr lang="en-US" altLang="ko-KR" sz="848" dirty="0"/>
          </a:p>
          <a:p>
            <a:r>
              <a:rPr lang="en-US" altLang="ko-KR" sz="848" dirty="0"/>
              <a:t> 8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en-US" sz="848" dirty="0"/>
              <a:t>경량화 모델 학습</a:t>
            </a:r>
            <a:endParaRPr lang="en-US" altLang="ko-KR" sz="848" dirty="0"/>
          </a:p>
          <a:p>
            <a:r>
              <a:rPr lang="en-US" altLang="ko-KR" sz="848" dirty="0"/>
              <a:t> 9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en-US" sz="848" dirty="0"/>
              <a:t>경량화 모델 학습</a:t>
            </a:r>
            <a:endParaRPr lang="en-US" altLang="ko-KR" sz="848" dirty="0"/>
          </a:p>
          <a:p>
            <a:r>
              <a:rPr lang="en-US" altLang="ko-KR" sz="848" dirty="0"/>
              <a:t> 10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en-US" sz="848" dirty="0"/>
              <a:t>경량화 모델 학습</a:t>
            </a:r>
            <a:endParaRPr lang="en-US" altLang="ko-KR" sz="848" dirty="0"/>
          </a:p>
          <a:p>
            <a:r>
              <a:rPr lang="en-US" altLang="ko-KR" sz="848" dirty="0"/>
              <a:t> 11</a:t>
            </a:r>
            <a:r>
              <a:rPr lang="ko-KR" altLang="en-US" sz="848" dirty="0"/>
              <a:t>주차</a:t>
            </a:r>
            <a:r>
              <a:rPr lang="en-US" altLang="ko-KR" sz="848" dirty="0"/>
              <a:t>: rollout </a:t>
            </a:r>
            <a:r>
              <a:rPr lang="ko-KR" altLang="en-US" sz="848" dirty="0"/>
              <a:t>안정화 및 평가 개선</a:t>
            </a:r>
            <a:endParaRPr lang="en-US" altLang="ko-KR" sz="848" dirty="0"/>
          </a:p>
          <a:p>
            <a:r>
              <a:rPr lang="en-US" altLang="ko-KR" sz="848" dirty="0"/>
              <a:t> 12</a:t>
            </a:r>
            <a:r>
              <a:rPr lang="ko-KR" altLang="en-US" sz="848" dirty="0"/>
              <a:t>주차</a:t>
            </a:r>
            <a:r>
              <a:rPr lang="en-US" altLang="ko-KR" sz="848" dirty="0"/>
              <a:t>: </a:t>
            </a:r>
            <a:r>
              <a:rPr lang="ko-KR" altLang="ko-KR" sz="848" dirty="0"/>
              <a:t>최종 실험 결과 정리</a:t>
            </a:r>
            <a:endParaRPr lang="en-US" altLang="ko-KR" sz="848" dirty="0"/>
          </a:p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ns2:creationId id="{2028F00E-856C-97B8-EDC1-27E6B218DCA2}"/>
              </a:ext>
            </a:extLst>
          </p:cNvPr>
          <p:cNvSpPr txBox="1"/>
          <p:nvPr/>
        </p:nvSpPr>
        <p:spPr>
          <a:xfrm>
            <a:off x="3779933" y="2695134"/>
            <a:ext cx="3595206" cy="293787"/>
          </a:xfrm>
          <a:prstGeom prst="rect">
            <a:avLst/>
          </a:prstGeom>
          <a:noFill/>
          <a:ln w="20205"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848" dirty="0">
                <a:latin typeface="+mn-ea"/>
              </a:rPr>
              <a:t> 강지호</a:t>
            </a:r>
            <a:r>
              <a:rPr lang="en-US" altLang="ko-KR" sz="848" dirty="0">
                <a:latin typeface="+mn-ea"/>
              </a:rPr>
              <a:t>: </a:t>
            </a:r>
            <a:r>
              <a:rPr lang="ko-KR" altLang="ko-KR" sz="848" dirty="0"/>
              <a:t>VLA 모델 </a:t>
            </a:r>
            <a:r>
              <a:rPr lang="ko-KR" altLang="ko-KR" sz="848" dirty="0" err="1"/>
              <a:t>구현·학습</a:t>
            </a:r>
            <a:r>
              <a:rPr lang="ko-KR" altLang="ko-KR" sz="848" dirty="0"/>
              <a:t> 및 핵심 알고리즘 실험 진행</a:t>
            </a:r>
            <a:endParaRPr lang="en-US" altLang="ko-KR" sz="848" dirty="0">
              <a:latin typeface="+mn-ea"/>
            </a:endParaRPr>
          </a:p>
          <a:p>
            <a:r>
              <a:rPr lang="ko-KR" altLang="en-US" sz="848" dirty="0">
                <a:latin typeface="+mn-ea"/>
              </a:rPr>
              <a:t> </a:t>
            </a:r>
            <a:r>
              <a:rPr lang="ko-KR" altLang="en-US" sz="848" dirty="0" err="1">
                <a:latin typeface="+mn-ea"/>
              </a:rPr>
              <a:t>문병선</a:t>
            </a:r>
            <a:r>
              <a:rPr lang="en-US" altLang="ko-KR" sz="848" dirty="0">
                <a:latin typeface="+mn-ea"/>
              </a:rPr>
              <a:t>: </a:t>
            </a:r>
            <a:r>
              <a:rPr lang="ko-KR" altLang="ko-KR" sz="848" dirty="0" err="1"/>
              <a:t>OmniGibson</a:t>
            </a:r>
            <a:r>
              <a:rPr lang="ko-KR" altLang="ko-KR" sz="848" dirty="0"/>
              <a:t> 평가 환경 </a:t>
            </a:r>
            <a:r>
              <a:rPr lang="ko-KR" altLang="ko-KR" sz="848" dirty="0" err="1"/>
              <a:t>구축·영상</a:t>
            </a:r>
            <a:r>
              <a:rPr lang="ko-KR" altLang="ko-KR" sz="848" dirty="0"/>
              <a:t> 생성 및 결과 정리</a:t>
            </a:r>
            <a:endParaRPr lang="en-US" altLang="ko-KR" sz="848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ns2:creationId id="{AD26A61D-12C0-0739-A1E6-47055D9A7D9B}"/>
              </a:ext>
            </a:extLst>
          </p:cNvPr>
          <p:cNvSpPr txBox="1"/>
          <p:nvPr/>
        </p:nvSpPr>
        <p:spPr>
          <a:xfrm>
            <a:off x="181789" y="2181299"/>
            <a:ext cx="3601094" cy="5353447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909" b="1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marL="121227" indent="1">
              <a:buFont typeface="Arial" panose="020B0604020202020204" pitchFamily="34" charset="0"/>
              <a:buChar char="•"/>
            </a:pPr>
            <a:r>
              <a:rPr lang="en-US" altLang="ko-KR" sz="848" b="1" dirty="0">
                <a:latin typeface="+mn-ea"/>
              </a:rPr>
              <a:t>Model Architecture</a:t>
            </a:r>
          </a:p>
          <a:p>
            <a:r>
              <a:rPr lang="en-US" altLang="ko-KR" sz="848" dirty="0">
                <a:latin typeface="+mn-ea"/>
              </a:rPr>
              <a:t> </a:t>
            </a:r>
            <a:r>
              <a:rPr lang="en-US" altLang="ko-KR" sz="848" b="1" dirty="0">
                <a:latin typeface="+mn-ea"/>
              </a:rPr>
              <a:t>Backbone:</a:t>
            </a:r>
            <a:r>
              <a:rPr lang="en-US" altLang="ko-KR" sz="848" dirty="0">
                <a:latin typeface="+mn-ea"/>
              </a:rPr>
              <a:t> </a:t>
            </a:r>
            <a:r>
              <a:rPr lang="ko-KR" altLang="ko-KR" sz="848" dirty="0" err="1">
                <a:latin typeface="+mn-ea"/>
              </a:rPr>
              <a:t>OpenPI의</a:t>
            </a:r>
            <a:r>
              <a:rPr lang="ko-KR" altLang="ko-KR" sz="848" dirty="0">
                <a:latin typeface="+mn-ea"/>
              </a:rPr>
              <a:t> Pi0.5 기반 구조(</a:t>
            </a:r>
            <a:r>
              <a:rPr lang="ko-KR" altLang="ko-KR" sz="848" dirty="0" err="1">
                <a:latin typeface="+mn-ea"/>
              </a:rPr>
              <a:t>SigLIP</a:t>
            </a:r>
            <a:r>
              <a:rPr lang="en-US" altLang="ko-KR" sz="848" dirty="0">
                <a:latin typeface="+mn-ea"/>
              </a:rPr>
              <a:t> </a:t>
            </a:r>
            <a:r>
              <a:rPr lang="ko-KR" altLang="ko-KR" sz="848" dirty="0">
                <a:latin typeface="+mn-ea"/>
              </a:rPr>
              <a:t>+</a:t>
            </a:r>
            <a:r>
              <a:rPr lang="en-US" altLang="ko-KR" sz="848" dirty="0">
                <a:latin typeface="+mn-ea"/>
              </a:rPr>
              <a:t> </a:t>
            </a:r>
            <a:r>
              <a:rPr lang="ko-KR" altLang="ko-KR" sz="848" dirty="0" err="1">
                <a:latin typeface="+mn-ea"/>
              </a:rPr>
              <a:t>PaliGemma</a:t>
            </a:r>
            <a:r>
              <a:rPr lang="en-US" altLang="ko-KR" sz="848" dirty="0">
                <a:latin typeface="+mn-ea"/>
              </a:rPr>
              <a:t> + </a:t>
            </a:r>
            <a:r>
              <a:rPr lang="ko-KR" altLang="ko-KR" sz="848" dirty="0" err="1">
                <a:latin typeface="+mn-ea"/>
              </a:rPr>
              <a:t>Flow</a:t>
            </a:r>
            <a:r>
              <a:rPr lang="en-US" altLang="ko-KR" sz="848" dirty="0">
                <a:latin typeface="+mn-ea"/>
              </a:rPr>
              <a:t> </a:t>
            </a:r>
            <a:r>
              <a:rPr lang="ko-KR" altLang="ko-KR" sz="848" dirty="0" err="1">
                <a:latin typeface="+mn-ea"/>
              </a:rPr>
              <a:t>Matching</a:t>
            </a:r>
            <a:r>
              <a:rPr lang="en-US" altLang="ko-KR" sz="848" dirty="0">
                <a:latin typeface="+mn-ea"/>
              </a:rPr>
              <a:t> </a:t>
            </a:r>
            <a:r>
              <a:rPr lang="ko-KR" altLang="ko-KR" sz="848" dirty="0" err="1">
                <a:latin typeface="+mn-ea"/>
              </a:rPr>
              <a:t>Action</a:t>
            </a:r>
            <a:r>
              <a:rPr lang="ko-KR" altLang="ko-KR" sz="848" dirty="0">
                <a:latin typeface="+mn-ea"/>
              </a:rPr>
              <a:t> </a:t>
            </a:r>
            <a:r>
              <a:rPr lang="ko-KR" altLang="ko-KR" sz="848" dirty="0" err="1">
                <a:latin typeface="+mn-ea"/>
              </a:rPr>
              <a:t>Expert</a:t>
            </a:r>
            <a:r>
              <a:rPr lang="ko-KR" altLang="ko-KR" sz="848" dirty="0">
                <a:latin typeface="+mn-ea"/>
              </a:rPr>
              <a:t>)</a:t>
            </a:r>
            <a:endParaRPr lang="en-US" altLang="ko-KR" sz="848" dirty="0">
              <a:latin typeface="+mn-ea"/>
            </a:endParaRPr>
          </a:p>
          <a:p>
            <a:endParaRPr lang="en-US" altLang="ko-KR" sz="848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System 2 Stage Tracking</a:t>
            </a:r>
            <a:endParaRPr lang="en-US" altLang="ko-KR" sz="848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Task Embedding</a:t>
            </a:r>
            <a:endParaRPr lang="en-US" altLang="ko-KR" sz="848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FAST Auxiliary</a:t>
            </a:r>
            <a:endParaRPr lang="en-US" altLang="ko-KR" sz="848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Correlated Noise</a:t>
            </a:r>
            <a:endParaRPr lang="en-US" altLang="ko-KR" sz="848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KV Transform</a:t>
            </a:r>
          </a:p>
          <a:p>
            <a:r>
              <a:rPr lang="en-US" altLang="ko-KR" sz="848" b="1" dirty="0">
                <a:latin typeface="+mn-ea"/>
              </a:rPr>
              <a:t> Custom Attention Masks</a:t>
            </a: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848" b="1" dirty="0">
              <a:latin typeface="+mn-ea"/>
            </a:endParaRPr>
          </a:p>
          <a:p>
            <a:endParaRPr lang="en-US" altLang="ko-KR" sz="1273" b="1" dirty="0">
              <a:latin typeface="+mn-ea"/>
            </a:endParaRPr>
          </a:p>
        </p:txBody>
      </p:sp>
      <p:sp>
        <p:nvSpPr>
          <p:cNvPr id="28" name="TextBox 27">
            <a:extLst>
              <a:ext uri="{FF2B5EF4-FFF2-40B4-BE49-F238E27FC236}">
                <ns2:creationId id="{FA8B75AA-D85E-C3A4-7671-DD508ADE16BA}"/>
              </a:ext>
            </a:extLst>
          </p:cNvPr>
          <p:cNvSpPr txBox="1"/>
          <p:nvPr/>
        </p:nvSpPr>
        <p:spPr>
          <a:xfrm>
            <a:off x="187676" y="2181299"/>
            <a:ext cx="1420861" cy="228501"/>
          </a:xfrm>
          <a:prstGeom prst="rect">
            <a:avLst/>
          </a:prstGeom>
          <a:gradFill flip="none" rotWithShape="1"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  <a:tileRect/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모델 구조</a:t>
            </a:r>
          </a:p>
        </p:txBody>
      </p:sp>
      <p:grpSp>
        <p:nvGrpSpPr>
          <p:cNvPr id="29" name="그룹 28">
            <a:extLst>
              <a:ext uri="{FF2B5EF4-FFF2-40B4-BE49-F238E27FC236}">
                <ns2:creationId id="{0EC81771-B908-395D-7D63-8730307F9584}"/>
              </a:ext>
            </a:extLst>
          </p:cNvPr>
          <p:cNvGrpSpPr/>
          <p:nvPr/>
        </p:nvGrpSpPr>
        <p:grpSpPr>
          <a:xfrm>
            <a:off x="3782088" y="3017326"/>
            <a:ext cx="3595392" cy="3851870"/>
            <a:chOff x="187628" y="933953"/>
            <a:chExt cx="3595206" cy="3851870"/>
          </a:xfrm>
        </p:grpSpPr>
        <p:sp>
          <p:nvSpPr>
            <p:cNvPr id="30" name="TextBox 29">
              <a:extLst>
                <a:ext uri="{FF2B5EF4-FFF2-40B4-BE49-F238E27FC236}">
                  <ns2:creationId id="{067BA1A4-385E-3AA0-0B3B-48717AC870FC}"/>
                </a:ext>
              </a:extLst>
            </p:cNvPr>
            <p:cNvSpPr txBox="1"/>
            <p:nvPr/>
          </p:nvSpPr>
          <p:spPr>
            <a:xfrm>
              <a:off x="187628" y="933953"/>
              <a:ext cx="3595206" cy="3851870"/>
            </a:xfrm>
            <a:prstGeom prst="rect">
              <a:avLst/>
            </a:prstGeom>
            <a:noFill/>
            <a:ln w="20205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1909" b="1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  <a:p>
              <a:pPr algn="ctr"/>
              <a:endParaRPr lang="en-US" altLang="ko-KR" sz="1273" dirty="0">
                <a:latin typeface="+mn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ns2:creationId id="{E30C0648-3A2F-0131-FB4B-1DCD67DE1899}"/>
                </a:ext>
              </a:extLst>
            </p:cNvPr>
            <p:cNvSpPr txBox="1"/>
            <p:nvPr/>
          </p:nvSpPr>
          <p:spPr>
            <a:xfrm>
              <a:off x="192911" y="947133"/>
              <a:ext cx="1420861" cy="228501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20205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73" b="1" dirty="0">
                  <a:solidFill>
                    <a:schemeClr val="bg1"/>
                  </a:solidFill>
                  <a:latin typeface="+mn-ea"/>
                </a:rPr>
                <a:t>결과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ns2:creationId id="{C4B32F19-1AD2-59DB-F0B3-02E986BA816C}"/>
              </a:ext>
            </a:extLst>
          </p:cNvPr>
          <p:cNvGrpSpPr/>
          <p:nvPr/>
        </p:nvGrpSpPr>
        <p:grpSpPr>
          <a:xfrm>
            <a:off x="3782730" y="6871101"/>
            <a:ext cx="3595206" cy="848717"/>
            <a:chOff x="183431" y="946134"/>
            <a:chExt cx="3595206" cy="802004"/>
          </a:xfrm>
        </p:grpSpPr>
        <p:sp>
          <p:nvSpPr>
            <p:cNvPr id="36" name="TextBox 35">
              <a:extLst>
                <a:ext uri="{FF2B5EF4-FFF2-40B4-BE49-F238E27FC236}">
                  <ns2:creationId id="{A7BA84FD-51C9-6B5E-DE5D-64607CD4740D}"/>
                </a:ext>
              </a:extLst>
            </p:cNvPr>
            <p:cNvSpPr txBox="1"/>
            <p:nvPr/>
          </p:nvSpPr>
          <p:spPr>
            <a:xfrm>
              <a:off x="183431" y="946134"/>
              <a:ext cx="3595206" cy="802004"/>
            </a:xfrm>
            <a:prstGeom prst="rect">
              <a:avLst/>
            </a:prstGeom>
            <a:noFill/>
            <a:ln w="20205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1909" b="1" dirty="0">
                <a:latin typeface="+mn-ea"/>
              </a:endParaRPr>
            </a:p>
            <a:p>
              <a:pPr marL="121227" indent="1">
                <a:buFont typeface="Arial" panose="020B0604020202020204" pitchFamily="34" charset="0"/>
                <a:buChar char="•"/>
              </a:pPr>
              <a:r>
                <a:rPr lang="ko-KR" altLang="ko-KR" sz="848" dirty="0" err="1"/>
                <a:t>Loss는</a:t>
              </a:r>
              <a:r>
                <a:rPr lang="ko-KR" altLang="ko-KR" sz="848" dirty="0"/>
                <a:t> 안정적으로 감소했으나 실제 </a:t>
              </a:r>
              <a:r>
                <a:rPr lang="ko-KR" altLang="ko-KR" sz="848" dirty="0" err="1"/>
                <a:t>rollout</a:t>
              </a:r>
              <a:r>
                <a:rPr lang="ko-KR" altLang="ko-KR" sz="848" dirty="0"/>
                <a:t> 성능과 완전히 비례하지 않음</a:t>
              </a:r>
              <a:endParaRPr lang="en-US" altLang="ko-KR" sz="848" dirty="0"/>
            </a:p>
            <a:p>
              <a:pPr marL="121227" indent="1">
                <a:buFont typeface="Arial" panose="020B0604020202020204" pitchFamily="34" charset="0"/>
                <a:buChar char="•"/>
              </a:pPr>
              <a:r>
                <a:rPr lang="ko-KR" altLang="ko-KR" sz="848" dirty="0" err="1"/>
                <a:t>Out</a:t>
              </a:r>
              <a:r>
                <a:rPr lang="ko-KR" altLang="ko-KR" sz="848" dirty="0"/>
                <a:t>-of-</a:t>
              </a:r>
              <a:r>
                <a:rPr lang="ko-KR" altLang="ko-KR" sz="848" dirty="0" err="1"/>
                <a:t>Distribution</a:t>
              </a:r>
              <a:r>
                <a:rPr lang="ko-KR" altLang="ko-KR" sz="848" dirty="0"/>
                <a:t>(OOD) 상태 취약성</a:t>
              </a:r>
              <a:endParaRPr lang="en-US" altLang="ko-KR" sz="1273" dirty="0">
                <a:latin typeface="+mn-ea"/>
              </a:endParaRPr>
            </a:p>
            <a:p>
              <a:pPr marL="121227" indent="1">
                <a:buFont typeface="Arial" panose="020B0604020202020204" pitchFamily="34" charset="0"/>
                <a:buChar char="•"/>
              </a:pPr>
              <a:r>
                <a:rPr lang="ko-KR" altLang="ko-KR" sz="848" dirty="0" err="1"/>
                <a:t>Stage</a:t>
              </a:r>
              <a:r>
                <a:rPr lang="ko-KR" altLang="ko-KR" sz="848" dirty="0"/>
                <a:t> </a:t>
              </a:r>
              <a:r>
                <a:rPr lang="ko-KR" altLang="ko-KR" sz="848" dirty="0" err="1"/>
                <a:t>Tracking</a:t>
              </a:r>
              <a:r>
                <a:rPr lang="ko-KR" altLang="ko-KR" sz="848" dirty="0"/>
                <a:t> 한계</a:t>
              </a:r>
              <a:endParaRPr lang="en-US" altLang="ko-KR" sz="848" dirty="0"/>
            </a:p>
            <a:p>
              <a:pPr marL="121227" indent="1">
                <a:buFont typeface="Arial" panose="020B0604020202020204" pitchFamily="34" charset="0"/>
                <a:buChar char="•"/>
              </a:pPr>
              <a:r>
                <a:rPr lang="ko-KR" altLang="ko-KR" sz="848" dirty="0"/>
                <a:t>제한된 GPU 자원 환경에서 </a:t>
              </a:r>
              <a:r>
                <a:rPr lang="ko-KR" altLang="ko-KR" sz="848" dirty="0" err="1"/>
                <a:t>stable</a:t>
              </a:r>
              <a:r>
                <a:rPr lang="ko-KR" altLang="ko-KR" sz="848" dirty="0"/>
                <a:t> </a:t>
              </a:r>
              <a:r>
                <a:rPr lang="ko-KR" altLang="ko-KR" sz="848" dirty="0" err="1"/>
                <a:t>training</a:t>
              </a:r>
              <a:r>
                <a:rPr lang="ko-KR" altLang="ko-KR" sz="848" dirty="0"/>
                <a:t> 및 </a:t>
              </a:r>
              <a:r>
                <a:rPr lang="ko-KR" altLang="ko-KR" sz="848" dirty="0" err="1"/>
                <a:t>rollout</a:t>
              </a:r>
              <a:r>
                <a:rPr lang="ko-KR" altLang="ko-KR" sz="848" dirty="0"/>
                <a:t> </a:t>
              </a:r>
              <a:r>
                <a:rPr lang="ko-KR" altLang="ko-KR" sz="848" dirty="0" err="1"/>
                <a:t>pipeline</a:t>
              </a:r>
              <a:r>
                <a:rPr lang="ko-KR" altLang="ko-KR" sz="848" dirty="0"/>
                <a:t> 검증</a:t>
              </a:r>
              <a:endParaRPr lang="en-US" altLang="ko-KR" sz="848" dirty="0"/>
            </a:p>
          </p:txBody>
        </p:sp>
        <p:sp>
          <p:nvSpPr>
            <p:cNvPr id="37" name="TextBox 36">
              <a:extLst>
                <a:ext uri="{FF2B5EF4-FFF2-40B4-BE49-F238E27FC236}">
                  <ns2:creationId id="{C2CDF326-5257-9AED-0676-9B3040D78972}"/>
                </a:ext>
              </a:extLst>
            </p:cNvPr>
            <p:cNvSpPr txBox="1"/>
            <p:nvPr/>
          </p:nvSpPr>
          <p:spPr>
            <a:xfrm>
              <a:off x="184727" y="951225"/>
              <a:ext cx="1420861" cy="215924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20205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73" b="1" dirty="0">
                  <a:solidFill>
                    <a:schemeClr val="bg1"/>
                  </a:solidFill>
                  <a:latin typeface="+mn-ea"/>
                </a:rPr>
                <a:t>결과 분석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ns2:creationId id="{2B7E9E23-A4B9-47D5-4A0D-B241E1F2049F}"/>
              </a:ext>
            </a:extLst>
          </p:cNvPr>
          <p:cNvSpPr txBox="1"/>
          <p:nvPr/>
        </p:nvSpPr>
        <p:spPr>
          <a:xfrm>
            <a:off x="181788" y="7400700"/>
            <a:ext cx="3600486" cy="2241484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909" b="1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1. Hardware Environment</a:t>
            </a:r>
          </a:p>
          <a:p>
            <a:r>
              <a:rPr lang="en-US" altLang="ko-KR" sz="848" dirty="0">
                <a:latin typeface="+mn-ea"/>
              </a:rPr>
              <a:t> A100 80GB GPU Server, RTX 5070 PC, Ubuntu + JAX/Flax</a:t>
            </a:r>
          </a:p>
          <a:p>
            <a:endParaRPr lang="en-US" altLang="ko-KR" sz="990" b="1" dirty="0">
              <a:latin typeface="+mn-ea"/>
            </a:endParaRPr>
          </a:p>
          <a:p>
            <a:r>
              <a:rPr lang="en-US" altLang="ko-KR" sz="848" b="1" dirty="0">
                <a:latin typeface="+mn-ea"/>
              </a:rPr>
              <a:t> 2. </a:t>
            </a:r>
            <a:r>
              <a:rPr lang="ko-KR" altLang="en-US" sz="848" b="1" dirty="0">
                <a:latin typeface="+mn-ea"/>
              </a:rPr>
              <a:t>실험 및 모델 경량화</a:t>
            </a:r>
            <a:endParaRPr lang="en-US" altLang="ko-KR" sz="848" b="1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  <a:p>
            <a:pPr algn="ctr"/>
            <a:endParaRPr lang="en-US" altLang="ko-KR" sz="1273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ns2:creationId id="{6109C2A2-C8D4-4271-EA33-35C6312F93C8}"/>
              </a:ext>
            </a:extLst>
          </p:cNvPr>
          <p:cNvSpPr txBox="1"/>
          <p:nvPr/>
        </p:nvSpPr>
        <p:spPr>
          <a:xfrm>
            <a:off x="188819" y="7400700"/>
            <a:ext cx="1419243" cy="22850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실험 전략</a:t>
            </a:r>
          </a:p>
        </p:txBody>
      </p:sp>
      <p:sp>
        <p:nvSpPr>
          <p:cNvPr id="42" name="TextBox 41">
            <a:extLst>
              <a:ext uri="{FF2B5EF4-FFF2-40B4-BE49-F238E27FC236}">
                <ns2:creationId id="{47EC2704-2B83-6385-71E3-0D0E8ABD844A}"/>
              </a:ext>
            </a:extLst>
          </p:cNvPr>
          <p:cNvSpPr txBox="1"/>
          <p:nvPr/>
        </p:nvSpPr>
        <p:spPr>
          <a:xfrm>
            <a:off x="181789" y="9641256"/>
            <a:ext cx="7195692" cy="801818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1556" b="1" dirty="0">
              <a:latin typeface="+mn-ea"/>
            </a:endParaRPr>
          </a:p>
          <a:p>
            <a:r>
              <a:rPr lang="en-US" altLang="ko-KR" sz="848" dirty="0"/>
              <a:t>1.</a:t>
            </a:r>
            <a:r>
              <a:rPr lang="ko-KR" altLang="ko-KR" sz="848" dirty="0"/>
              <a:t> </a:t>
            </a:r>
            <a:r>
              <a:rPr lang="ko-KR" altLang="ko-KR" sz="848" dirty="0" err="1"/>
              <a:t>Ilia</a:t>
            </a:r>
            <a:r>
              <a:rPr lang="ko-KR" altLang="ko-KR" sz="848" dirty="0"/>
              <a:t> </a:t>
            </a:r>
            <a:r>
              <a:rPr lang="ko-KR" altLang="ko-KR" sz="848" dirty="0" err="1"/>
              <a:t>Larchenko</a:t>
            </a:r>
            <a:r>
              <a:rPr lang="ko-KR" altLang="ko-KR" sz="848" dirty="0"/>
              <a:t> </a:t>
            </a:r>
            <a:r>
              <a:rPr lang="ko-KR" altLang="ko-KR" sz="848" dirty="0" err="1"/>
              <a:t>et</a:t>
            </a:r>
            <a:r>
              <a:rPr lang="ko-KR" altLang="ko-KR" sz="848" dirty="0"/>
              <a:t> </a:t>
            </a:r>
            <a:r>
              <a:rPr lang="ko-KR" altLang="ko-KR" sz="848" dirty="0" err="1"/>
              <a:t>al</a:t>
            </a:r>
            <a:r>
              <a:rPr lang="ko-KR" altLang="ko-KR" sz="848" dirty="0"/>
              <a:t>., “</a:t>
            </a:r>
            <a:r>
              <a:rPr lang="ko-KR" altLang="ko-KR" sz="848" dirty="0" err="1"/>
              <a:t>Task</a:t>
            </a:r>
            <a:r>
              <a:rPr lang="ko-KR" altLang="ko-KR" sz="848" dirty="0"/>
              <a:t> </a:t>
            </a:r>
            <a:r>
              <a:rPr lang="ko-KR" altLang="ko-KR" sz="848" dirty="0" err="1"/>
              <a:t>Adaptation</a:t>
            </a:r>
            <a:r>
              <a:rPr lang="ko-KR" altLang="ko-KR" sz="848" dirty="0"/>
              <a:t> of </a:t>
            </a:r>
            <a:r>
              <a:rPr lang="ko-KR" altLang="ko-KR" sz="848" dirty="0" err="1"/>
              <a:t>Vision-Language-Action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Model</a:t>
            </a:r>
            <a:r>
              <a:rPr lang="ko-KR" altLang="ko-KR" sz="848" dirty="0"/>
              <a:t>: 1st </a:t>
            </a:r>
            <a:r>
              <a:rPr lang="ko-KR" altLang="ko-KR" sz="848" dirty="0" err="1"/>
              <a:t>Place</a:t>
            </a:r>
            <a:r>
              <a:rPr lang="ko-KR" altLang="ko-KR" sz="848" dirty="0"/>
              <a:t> </a:t>
            </a:r>
            <a:r>
              <a:rPr lang="ko-KR" altLang="ko-KR" sz="848" dirty="0" err="1"/>
              <a:t>Solution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for</a:t>
            </a:r>
            <a:r>
              <a:rPr lang="ko-KR" altLang="ko-KR" sz="848" dirty="0"/>
              <a:t> </a:t>
            </a:r>
            <a:r>
              <a:rPr lang="ko-KR" altLang="ko-KR" sz="848" dirty="0" err="1"/>
              <a:t>the</a:t>
            </a:r>
            <a:r>
              <a:rPr lang="ko-KR" altLang="ko-KR" sz="848" dirty="0"/>
              <a:t> 2025 BEHAVIOR </a:t>
            </a:r>
            <a:r>
              <a:rPr lang="ko-KR" altLang="ko-KR" sz="848" dirty="0" err="1"/>
              <a:t>Challenge</a:t>
            </a:r>
            <a:r>
              <a:rPr lang="ko-KR" altLang="ko-KR" sz="848" dirty="0"/>
              <a:t>”, 2025</a:t>
            </a:r>
            <a:br>
              <a:rPr lang="ko-KR" altLang="ko-KR" sz="848" dirty="0"/>
            </a:br>
            <a:r>
              <a:rPr lang="ko-KR" altLang="ko-KR" sz="848" dirty="0"/>
              <a:t>2. </a:t>
            </a:r>
            <a:r>
              <a:rPr lang="ko-KR" altLang="ko-KR" sz="848" dirty="0" err="1"/>
              <a:t>M</a:t>
            </a:r>
            <a:r>
              <a:rPr lang="ko-KR" altLang="ko-KR" sz="848" dirty="0"/>
              <a:t>. </a:t>
            </a:r>
            <a:r>
              <a:rPr lang="ko-KR" altLang="ko-KR" sz="848" dirty="0" err="1"/>
              <a:t>Torne</a:t>
            </a:r>
            <a:r>
              <a:rPr lang="ko-KR" altLang="ko-KR" sz="848" dirty="0"/>
              <a:t> </a:t>
            </a:r>
            <a:r>
              <a:rPr lang="ko-KR" altLang="ko-KR" sz="848" dirty="0" err="1"/>
              <a:t>et</a:t>
            </a:r>
            <a:r>
              <a:rPr lang="ko-KR" altLang="ko-KR" sz="848" dirty="0"/>
              <a:t> </a:t>
            </a:r>
            <a:r>
              <a:rPr lang="ko-KR" altLang="ko-KR" sz="848" dirty="0" err="1"/>
              <a:t>al</a:t>
            </a:r>
            <a:r>
              <a:rPr lang="ko-KR" altLang="ko-KR" sz="848" dirty="0"/>
              <a:t>.,</a:t>
            </a:r>
            <a:r>
              <a:rPr lang="en-US" altLang="ko-KR" sz="848" dirty="0"/>
              <a:t> </a:t>
            </a:r>
            <a:r>
              <a:rPr lang="ko-KR" altLang="ko-KR" sz="848" dirty="0"/>
              <a:t>“</a:t>
            </a:r>
            <a:r>
              <a:rPr lang="ko-KR" altLang="ko-KR" sz="848" dirty="0" err="1"/>
              <a:t>MeM</a:t>
            </a:r>
            <a:r>
              <a:rPr lang="ko-KR" altLang="ko-KR" sz="848" dirty="0"/>
              <a:t>: </a:t>
            </a:r>
            <a:r>
              <a:rPr lang="ko-KR" altLang="ko-KR" sz="848" dirty="0" err="1"/>
              <a:t>Multi-Scale</a:t>
            </a:r>
            <a:r>
              <a:rPr lang="ko-KR" altLang="ko-KR" sz="848" dirty="0"/>
              <a:t> </a:t>
            </a:r>
            <a:r>
              <a:rPr lang="ko-KR" altLang="ko-KR" sz="848" dirty="0" err="1"/>
              <a:t>Embodied</a:t>
            </a:r>
            <a:r>
              <a:rPr lang="ko-KR" altLang="ko-KR" sz="848" dirty="0"/>
              <a:t> </a:t>
            </a:r>
            <a:r>
              <a:rPr lang="ko-KR" altLang="ko-KR" sz="848" dirty="0" err="1"/>
              <a:t>Memory</a:t>
            </a:r>
            <a:r>
              <a:rPr lang="ko-KR" altLang="ko-KR" sz="848" dirty="0"/>
              <a:t> </a:t>
            </a:r>
            <a:r>
              <a:rPr lang="ko-KR" altLang="ko-KR" sz="848" dirty="0" err="1"/>
              <a:t>for</a:t>
            </a:r>
            <a:r>
              <a:rPr lang="ko-KR" altLang="ko-KR" sz="848" dirty="0"/>
              <a:t> </a:t>
            </a:r>
            <a:r>
              <a:rPr lang="ko-KR" altLang="ko-KR" sz="848" dirty="0" err="1"/>
              <a:t>Vision-Language-Action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Models</a:t>
            </a:r>
            <a:r>
              <a:rPr lang="ko-KR" altLang="ko-KR" sz="848" dirty="0"/>
              <a:t>”, 2026</a:t>
            </a:r>
            <a:br>
              <a:rPr lang="ko-KR" altLang="ko-KR" sz="848" dirty="0"/>
            </a:br>
            <a:r>
              <a:rPr lang="ko-KR" altLang="ko-KR" sz="848" dirty="0"/>
              <a:t>3. </a:t>
            </a:r>
            <a:r>
              <a:rPr lang="ko-KR" altLang="ko-KR" sz="848" dirty="0" err="1"/>
              <a:t>Y</a:t>
            </a:r>
            <a:r>
              <a:rPr lang="ko-KR" altLang="ko-KR" sz="848" dirty="0"/>
              <a:t>. </a:t>
            </a:r>
            <a:r>
              <a:rPr lang="ko-KR" altLang="ko-KR" sz="848" dirty="0" err="1"/>
              <a:t>Tur</a:t>
            </a:r>
            <a:r>
              <a:rPr lang="ko-KR" altLang="ko-KR" sz="848" dirty="0"/>
              <a:t> </a:t>
            </a:r>
            <a:r>
              <a:rPr lang="ko-KR" altLang="ko-KR" sz="848" dirty="0" err="1"/>
              <a:t>et</a:t>
            </a:r>
            <a:r>
              <a:rPr lang="ko-KR" altLang="ko-KR" sz="848" dirty="0"/>
              <a:t> </a:t>
            </a:r>
            <a:r>
              <a:rPr lang="ko-KR" altLang="ko-KR" sz="848" dirty="0" err="1"/>
              <a:t>al</a:t>
            </a:r>
            <a:r>
              <a:rPr lang="ko-KR" altLang="ko-KR" sz="848" dirty="0"/>
              <a:t>.,</a:t>
            </a:r>
            <a:r>
              <a:rPr lang="en-US" altLang="ko-KR" sz="848" dirty="0"/>
              <a:t> </a:t>
            </a:r>
            <a:r>
              <a:rPr lang="ko-KR" altLang="ko-KR" sz="848" dirty="0"/>
              <a:t>“</a:t>
            </a:r>
            <a:r>
              <a:rPr lang="ko-KR" altLang="ko-KR" sz="848" dirty="0" err="1"/>
              <a:t>Recurrent-Depth</a:t>
            </a:r>
            <a:r>
              <a:rPr lang="ko-KR" altLang="ko-KR" sz="848" dirty="0"/>
              <a:t> VLA: </a:t>
            </a:r>
            <a:r>
              <a:rPr lang="ko-KR" altLang="ko-KR" sz="848" dirty="0" err="1"/>
              <a:t>Implicit</a:t>
            </a:r>
            <a:r>
              <a:rPr lang="ko-KR" altLang="ko-KR" sz="848" dirty="0"/>
              <a:t> </a:t>
            </a:r>
            <a:r>
              <a:rPr lang="ko-KR" altLang="ko-KR" sz="848" dirty="0" err="1"/>
              <a:t>Test</a:t>
            </a:r>
            <a:r>
              <a:rPr lang="ko-KR" altLang="ko-KR" sz="848" dirty="0"/>
              <a:t>-Time </a:t>
            </a:r>
            <a:r>
              <a:rPr lang="ko-KR" altLang="ko-KR" sz="848" dirty="0" err="1"/>
              <a:t>Compute</a:t>
            </a:r>
            <a:r>
              <a:rPr lang="ko-KR" altLang="ko-KR" sz="848" dirty="0"/>
              <a:t> </a:t>
            </a:r>
            <a:r>
              <a:rPr lang="ko-KR" altLang="ko-KR" sz="848" dirty="0" err="1"/>
              <a:t>Scaling</a:t>
            </a:r>
            <a:r>
              <a:rPr lang="ko-KR" altLang="ko-KR" sz="848" dirty="0"/>
              <a:t> of </a:t>
            </a:r>
            <a:r>
              <a:rPr lang="ko-KR" altLang="ko-KR" sz="848" dirty="0" err="1"/>
              <a:t>Vision-Language-Action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Models</a:t>
            </a:r>
            <a:r>
              <a:rPr lang="ko-KR" altLang="ko-KR" sz="848" dirty="0"/>
              <a:t> </a:t>
            </a:r>
            <a:r>
              <a:rPr lang="ko-KR" altLang="ko-KR" sz="848" dirty="0" err="1"/>
              <a:t>via</a:t>
            </a:r>
            <a:r>
              <a:rPr lang="ko-KR" altLang="ko-KR" sz="848" dirty="0"/>
              <a:t> </a:t>
            </a:r>
            <a:r>
              <a:rPr lang="ko-KR" altLang="ko-KR" sz="848" dirty="0" err="1"/>
              <a:t>Latent</a:t>
            </a:r>
            <a:r>
              <a:rPr lang="ko-KR" altLang="ko-KR" sz="848" dirty="0"/>
              <a:t> </a:t>
            </a:r>
            <a:r>
              <a:rPr lang="ko-KR" altLang="ko-KR" sz="848" dirty="0" err="1"/>
              <a:t>Iterative</a:t>
            </a:r>
            <a:r>
              <a:rPr lang="ko-KR" altLang="ko-KR" sz="848" dirty="0"/>
              <a:t> </a:t>
            </a:r>
            <a:r>
              <a:rPr lang="ko-KR" altLang="ko-KR" sz="848" dirty="0" err="1"/>
              <a:t>Reasoning</a:t>
            </a:r>
            <a:r>
              <a:rPr lang="ko-KR" altLang="ko-KR" sz="848" dirty="0"/>
              <a:t>”, 2026</a:t>
            </a:r>
            <a:br>
              <a:rPr lang="ko-KR" altLang="ko-KR" sz="848" dirty="0"/>
            </a:br>
            <a:r>
              <a:rPr lang="ko-KR" altLang="ko-KR" sz="848" dirty="0"/>
              <a:t>4. </a:t>
            </a:r>
            <a:r>
              <a:rPr lang="ko-KR" altLang="ko-KR" sz="848" dirty="0" err="1"/>
              <a:t>Physical</a:t>
            </a:r>
            <a:r>
              <a:rPr lang="ko-KR" altLang="ko-KR" sz="848" dirty="0"/>
              <a:t> </a:t>
            </a:r>
            <a:r>
              <a:rPr lang="ko-KR" altLang="ko-KR" sz="848" dirty="0" err="1"/>
              <a:t>Intelligence</a:t>
            </a:r>
            <a:r>
              <a:rPr lang="ko-KR" altLang="ko-KR" sz="848" dirty="0"/>
              <a:t>,</a:t>
            </a:r>
            <a:r>
              <a:rPr lang="en-US" altLang="ko-KR" sz="848" dirty="0"/>
              <a:t> </a:t>
            </a:r>
            <a:r>
              <a:rPr lang="ko-KR" altLang="ko-KR" sz="848" dirty="0"/>
              <a:t>“π*0.6: </a:t>
            </a:r>
            <a:r>
              <a:rPr lang="ko-KR" altLang="ko-KR" sz="848" dirty="0" err="1"/>
              <a:t>A</a:t>
            </a:r>
            <a:r>
              <a:rPr lang="ko-KR" altLang="ko-KR" sz="848" dirty="0"/>
              <a:t> </a:t>
            </a:r>
            <a:r>
              <a:rPr lang="ko-KR" altLang="ko-KR" sz="848" dirty="0" err="1"/>
              <a:t>Vision-Language-Action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Model</a:t>
            </a:r>
            <a:r>
              <a:rPr lang="ko-KR" altLang="ko-KR" sz="848" dirty="0"/>
              <a:t> </a:t>
            </a:r>
            <a:r>
              <a:rPr lang="ko-KR" altLang="ko-KR" sz="848" dirty="0" err="1"/>
              <a:t>That</a:t>
            </a:r>
            <a:r>
              <a:rPr lang="ko-KR" altLang="ko-KR" sz="848" dirty="0"/>
              <a:t> </a:t>
            </a:r>
            <a:r>
              <a:rPr lang="ko-KR" altLang="ko-KR" sz="848" dirty="0" err="1"/>
              <a:t>Learns</a:t>
            </a:r>
            <a:r>
              <a:rPr lang="ko-KR" altLang="ko-KR" sz="848" dirty="0"/>
              <a:t> </a:t>
            </a:r>
            <a:r>
              <a:rPr lang="ko-KR" altLang="ko-KR" sz="848" dirty="0" err="1"/>
              <a:t>From</a:t>
            </a:r>
            <a:r>
              <a:rPr lang="ko-KR" altLang="ko-KR" sz="848" dirty="0"/>
              <a:t> </a:t>
            </a:r>
            <a:r>
              <a:rPr lang="ko-KR" altLang="ko-KR" sz="848" dirty="0" err="1"/>
              <a:t>Experience</a:t>
            </a:r>
            <a:r>
              <a:rPr lang="ko-KR" altLang="ko-KR" sz="848" dirty="0"/>
              <a:t>”, 2025</a:t>
            </a:r>
            <a:endParaRPr lang="en-US" altLang="ko-KR" sz="1273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ns2:creationId id="{C655A3BA-B8CA-CFC2-B324-40802DD3C8F7}"/>
              </a:ext>
            </a:extLst>
          </p:cNvPr>
          <p:cNvSpPr txBox="1"/>
          <p:nvPr/>
        </p:nvSpPr>
        <p:spPr>
          <a:xfrm>
            <a:off x="187430" y="9641256"/>
            <a:ext cx="1421904" cy="22850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참고 문헌</a:t>
            </a:r>
            <a:endParaRPr lang="en-US" altLang="ko-KR" sz="1273" b="1" dirty="0">
              <a:solidFill>
                <a:schemeClr val="bg1"/>
              </a:solidFill>
              <a:latin typeface="+mn-ea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ns2:creationId id="{A9ECEE2F-DA3C-A19B-0A1C-3EFB6CB0D3AF}"/>
              </a:ext>
            </a:extLst>
          </p:cNvPr>
          <p:cNvCxnSpPr>
            <a:cxnSpLocks/>
          </p:cNvCxnSpPr>
          <p:nvPr/>
        </p:nvCxnSpPr>
        <p:spPr>
          <a:xfrm>
            <a:off x="5577536" y="1211948"/>
            <a:ext cx="0" cy="1395785"/>
          </a:xfrm>
          <a:prstGeom prst="line">
            <a:avLst/>
          </a:prstGeom>
          <a:ln w="1347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ns2:creationId id="{98D0F76D-4880-0354-E114-EE979387E359}"/>
              </a:ext>
            </a:extLst>
          </p:cNvPr>
          <p:cNvCxnSpPr>
            <a:cxnSpLocks/>
          </p:cNvCxnSpPr>
          <p:nvPr/>
        </p:nvCxnSpPr>
        <p:spPr>
          <a:xfrm>
            <a:off x="3873885" y="2661297"/>
            <a:ext cx="3410527" cy="0"/>
          </a:xfrm>
          <a:prstGeom prst="line">
            <a:avLst/>
          </a:prstGeom>
          <a:ln w="1347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>
            <a:extLst>
              <a:ext uri="{FF2B5EF4-FFF2-40B4-BE49-F238E27FC236}">
                <ns2:creationId id="{0E319863-8D29-8677-0528-71E664C10909}"/>
              </a:ext>
            </a:extLst>
          </p:cNvPr>
          <p:cNvPicPr>
            <a:picLocks noChangeAspect="1"/>
          </p:cNvPicPr>
          <p:nvPr/>
        </p:nvPicPr>
        <p:blipFill>
          <a:blip ns3:embed="rId4"/>
          <a:stretch>
            <a:fillRect/>
          </a:stretch>
        </p:blipFill>
        <p:spPr>
          <a:xfrm>
            <a:off x="286222" y="2490151"/>
            <a:ext cx="3392214" cy="1827311"/>
          </a:xfrm>
          <a:prstGeom prst="rect">
            <a:avLst/>
          </a:prstGeom>
        </p:spPr>
      </p:pic>
      <p:sp>
        <p:nvSpPr>
          <p:cNvPr id="63" name="AutoShape 8">
            <a:extLst>
              <a:ext uri="{FF2B5EF4-FFF2-40B4-BE49-F238E27FC236}">
                <ns2:creationId id="{FB9C8253-00AC-F309-D968-60B6A8055B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26055" y="5297520"/>
            <a:ext cx="107758" cy="107758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7" name="그림 66">
            <a:extLst>
              <a:ext uri="{FF2B5EF4-FFF2-40B4-BE49-F238E27FC236}">
                <ns2:creationId id="{8983FFBB-814B-2803-43F3-68CC70CD6173}"/>
              </a:ext>
            </a:extLst>
          </p:cNvPr>
          <p:cNvPicPr>
            <a:picLocks noChangeAspect="1"/>
          </p:cNvPicPr>
          <p:nvPr/>
        </p:nvPicPr>
        <p:blipFill>
          <a:blip ns3:embed="rId5"/>
          <a:stretch>
            <a:fillRect/>
          </a:stretch>
        </p:blipFill>
        <p:spPr>
          <a:xfrm>
            <a:off x="3833812" y="4907145"/>
            <a:ext cx="3497491" cy="1794167"/>
          </a:xfrm>
          <a:prstGeom prst="rect">
            <a:avLst/>
          </a:prstGeom>
        </p:spPr>
      </p:pic>
      <ns5:AlternateContent>
        <ns5:Choice Requires="a14">
          <p:sp>
            <p:nvSpPr>
              <p:cNvPr id="76" name="TextBox 75">
                <a:extLst>
                  <a:ext uri="{FF2B5EF4-FFF2-40B4-BE49-F238E27FC236}">
                    <ns2:creationId id="{95FFC5BA-CB4A-01E7-524A-DE54FC1B8E73}"/>
                  </a:ext>
                </a:extLst>
              </p:cNvPr>
              <p:cNvSpPr txBox="1"/>
              <p:nvPr/>
            </p:nvSpPr>
            <p:spPr>
              <a:xfrm>
                <a:off x="4401156" y="4049221"/>
                <a:ext cx="2366760" cy="48955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ko-KR" sz="919" b="1" dirty="0"/>
                  <a:t>System2 </a:t>
                </a:r>
                <a:r>
                  <a:rPr lang="ko-KR" altLang="ko-KR" sz="919" b="1" dirty="0" err="1"/>
                  <a:t>stage</a:t>
                </a:r>
                <a:r>
                  <a:rPr lang="ko-KR" altLang="ko-KR" sz="919" b="1" dirty="0"/>
                  <a:t>/</a:t>
                </a:r>
                <a:r>
                  <a:rPr lang="ko-KR" altLang="ko-KR" sz="919" b="1" dirty="0" err="1"/>
                  <a:t>subtask</a:t>
                </a:r>
                <a:r>
                  <a:rPr lang="ko-KR" altLang="ko-KR" sz="919" b="1" dirty="0"/>
                  <a:t> </a:t>
                </a:r>
                <a:r>
                  <a:rPr lang="ko-KR" altLang="ko-KR" sz="919" b="1" dirty="0" err="1"/>
                  <a:t>prediction의</a:t>
                </a:r>
                <a:r>
                  <a:rPr lang="ko-KR" altLang="ko-KR" sz="919" b="1" dirty="0"/>
                  <a:t> 정확도</a:t>
                </a:r>
                <a:endParaRPr lang="en-US" altLang="ko-KR" sz="919" b="1" dirty="0"/>
              </a:p>
              <a:p>
                <a:pPr marL="121227" indent="1" algn="ctr">
                  <a:buFont typeface="Arial" panose="020B0604020202020204" pitchFamily="34" charset="0"/>
                  <a:buChar char="•"/>
                </a:pPr>
                <a:endParaRPr lang="en-US" altLang="ko-KR" sz="919" b="1" dirty="0">
                  <a:latin typeface="+mj-ea"/>
                  <a:ea typeface="+mj-ea"/>
                </a:endParaRPr>
              </a:p>
              <a:p>
                <a:pPr algn="ctr"/>
                <a:r>
                  <a:rPr lang="en-US" altLang="ko-KR" sz="919" dirty="0">
                    <a:latin typeface="+mj-ea"/>
                    <a:ea typeface="+mj-ea"/>
                  </a:rPr>
                  <a:t>Accuracy = </a:t>
                </a:r>
                <ns4:m>
                  <ns6:oMath>
                    <ns6:f>
                      <ns6:fPr>
                        <ns6:ctrlPr>
                          <a:rPr lang="ko-KR" altLang="en-US" sz="919" i="1" smtClean="0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fPr>
                      <ns6:num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Number</ns6:t>
                        </ns6:r>
                        <ns6: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 </ns6:t>
                        </ns6:r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of</ns6:t>
                        </ns6:r>
                        <ns6: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 </ns6:t>
                        </ns6:r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Correct</ns6:t>
                        </ns6:r>
                        <ns6: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 </ns6:t>
                        </ns6:r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Prediction</ns6:t>
                        </ns6:r>
                      </ns6:num>
                      <ns6:den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Total</ns6:t>
                        </ns6:r>
                        <ns6: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 </ns6:t>
                        </ns6:r>
                        <ns6:r>
                          <ns6:rPr>
                            <ns6:sty ns6:val="p"/>
                          </ns6:rPr>
                          <a:rPr lang="en-US" altLang="ko-KR" sz="919" b="0" i="0" smtClean="0">
                            <a:latin typeface="Cambria Math" panose="02040503050406030204" pitchFamily="18" charset="0"/>
                            <a:ea typeface="+mj-ea"/>
                          </a:rPr>
                          <ns6:t>Prediction</ns6:t>
                        </ns6:r>
                      </ns6:den>
                    </ns6:f>
                  </ns6:oMath>
                </ns4:m>
                <a:endParaRPr lang="ko-KR" altLang="en-US" sz="919" dirty="0">
                  <a:latin typeface="+mj-ea"/>
                  <a:ea typeface="+mj-ea"/>
                </a:endParaRPr>
              </a:p>
            </p:txBody>
          </p:sp>
        </ns5:Choice>
        <ns5:Fallback>
          <p:sp>
            <p:nvSpPr>
              <p:cNvPr id="76" name="TextBox 75">
                <a:extLst>
                  <a:ext uri="{FF2B5EF4-FFF2-40B4-BE49-F238E27FC236}">
                    <ns2:creationId id="{95FFC5BA-CB4A-01E7-524A-DE54FC1B8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1156" y="4049221"/>
                <a:ext cx="2366760" cy="489554"/>
              </a:xfrm>
              <a:prstGeom prst="rect">
                <a:avLst/>
              </a:prstGeom>
              <a:blipFill>
                <a:blip ns3:embed="rId6"/>
                <a:stretch>
                  <a:fillRect l="-1364" t="-7860" r="-1364" b="-61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ns5:Fallback>
      </ns5:AlternateContent>
      <ns5:AlternateContent>
        <ns5:Choice Requires="a14">
          <p:sp>
            <p:nvSpPr>
              <p:cNvPr id="77" name="TextBox 76">
                <a:extLst>
                  <a:ext uri="{FF2B5EF4-FFF2-40B4-BE49-F238E27FC236}">
                    <ns2:creationId id="{75D4B410-2449-16E0-3BAA-69809814850A}"/>
                  </a:ext>
                </a:extLst>
              </p:cNvPr>
              <p:cNvSpPr txBox="1"/>
              <p:nvPr/>
            </p:nvSpPr>
            <p:spPr>
              <a:xfrm>
                <a:off x="4631293" y="5341081"/>
                <a:ext cx="1906485" cy="4377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o-KR" altLang="en-US" sz="919" b="1" dirty="0">
                    <a:latin typeface="+mj-ea"/>
                    <a:ea typeface="+mj-ea"/>
                  </a:rPr>
                  <a:t>모델의 전체 학습 손실</a:t>
                </a:r>
                <a:r>
                  <a:rPr lang="en-US" altLang="ko-KR" sz="919" b="1" dirty="0">
                    <a:latin typeface="+mj-ea"/>
                    <a:ea typeface="+mj-ea"/>
                  </a:rPr>
                  <a:t>(total loss)</a:t>
                </a:r>
              </a:p>
              <a:p>
                <a:pPr marL="121227" indent="1">
                  <a:buFont typeface="Arial" panose="020B0604020202020204" pitchFamily="34" charset="0"/>
                  <a:buChar char="•"/>
                </a:pPr>
                <a:endParaRPr lang="en-US" altLang="ko-KR" sz="919" i="1" dirty="0">
                  <a:latin typeface="+mj-ea"/>
                  <a:ea typeface="+mj-ea"/>
                </a:endParaRPr>
              </a:p>
              <a:p>
                <a:pPr algn="ctr"/>
                <ns4:m>
                  <ns6:oMath>
                    <ns6:sSub>
                      <ns6:sSubPr>
                        <ns6:ctrlPr>
                          <a:rPr lang="ko-KR" altLang="en-US" sz="919" i="1" smtClean="0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sSubPr>
                      <ns6:e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𝐿</ns6:t>
                        </ns6:r>
                      </ns6:e>
                      <ns6:sub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𝑡𝑜𝑡𝑎𝑙</ns6:t>
                        </ns6:r>
                      </ns6:sub>
                    </ns6:sSub>
                  </ns6:oMath>
                </ns4:m>
                <a:r>
                  <a:rPr lang="ko-KR" altLang="en-US" sz="919" dirty="0">
                    <a:latin typeface="+mj-ea"/>
                    <a:ea typeface="+mj-ea"/>
                  </a:rPr>
                  <a:t> </a:t>
                </a:r>
                <a:r>
                  <a:rPr lang="en-US" altLang="ko-KR" sz="919" dirty="0">
                    <a:latin typeface="+mj-ea"/>
                    <a:ea typeface="+mj-ea"/>
                  </a:rPr>
                  <a:t>= </a:t>
                </a:r>
                <ns4:m>
                  <ns6:oMath>
                    <ns6:sSub>
                      <ns6:sSubPr>
                        <ns6:ctrlPr>
                          <a:rPr lang="ko-KR" altLang="en-US" sz="919" i="1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sSubPr>
                      <ns6:e>
                        <ns6:r>
                          <a:rPr lang="en-US" altLang="ko-KR" sz="919" b="0" i="1">
                            <a:latin typeface="Cambria Math" panose="02040503050406030204" pitchFamily="18" charset="0"/>
                            <a:ea typeface="+mj-ea"/>
                          </a:rPr>
                          <ns6:t>𝐿</ns6:t>
                        </ns6:r>
                      </ns6:e>
                      <ns6:sub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𝑎𝑐𝑡𝑖𝑜𝑛</ns6:t>
                        </ns6:r>
                      </ns6:sub>
                    </ns6:sSub>
                  </ns6:oMath>
                </ns4:m>
                <a:r>
                  <a:rPr lang="ko-KR" altLang="en-US" sz="919" dirty="0">
                    <a:latin typeface="+mj-ea"/>
                    <a:ea typeface="+mj-ea"/>
                  </a:rPr>
                  <a:t> </a:t>
                </a:r>
                <a:r>
                  <a:rPr lang="en-US" altLang="ko-KR" sz="919" dirty="0">
                    <a:latin typeface="+mj-ea"/>
                    <a:ea typeface="+mj-ea"/>
                  </a:rPr>
                  <a:t>+ </a:t>
                </a:r>
                <ns4:m>
                  <ns6:oMath>
                    <ns6:sSub>
                      <ns6:sSubPr>
                        <ns6:ctrlPr>
                          <a:rPr lang="ko-KR" altLang="en-US" sz="919" i="1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sSubPr>
                      <ns6:e>
                        <ns6:sSub>
                          <ns6:sSubPr>
                            <ns6:ctrlPr>
                              <a:rPr lang="ko-KR" altLang="en-US" sz="919" i="1">
                                <a:latin typeface="Cambria Math" panose="02040503050406030204" pitchFamily="18" charset="0"/>
                                <a:ea typeface="+mj-ea"/>
                              </a:rPr>
                            </ns6:ctrlPr>
                          </ns6:sSubPr>
                          <ns6:e>
                            <ns6:r>
                              <a:rPr lang="ko-KR" altLang="en-US" sz="919" b="0" i="1" smtClean="0">
                                <a:latin typeface="Cambria Math" panose="02040503050406030204" pitchFamily="18" charset="0"/>
                                <a:ea typeface="+mj-ea"/>
                              </a:rPr>
                              <ns6:t>𝜆</ns6:t>
                            </ns6:r>
                          </ns6:e>
                          <ns6:sub>
                            <ns6:r>
                              <a:rPr lang="en-US" altLang="ko-KR" sz="919" b="0" i="1" smtClean="0">
                                <a:latin typeface="Cambria Math" panose="02040503050406030204" pitchFamily="18" charset="0"/>
                                <a:ea typeface="+mj-ea"/>
                              </a:rPr>
                              <ns6:t>𝑠</ns6:t>
                            </ns6:r>
                          </ns6:sub>
                        </ns6:sSub>
                        <ns6:r>
                          <a:rPr lang="en-US" altLang="ko-KR" sz="919" b="0" i="1">
                            <a:latin typeface="Cambria Math" panose="02040503050406030204" pitchFamily="18" charset="0"/>
                            <a:ea typeface="+mj-ea"/>
                          </a:rPr>
                          <ns6:t>𝐿</ns6:t>
                        </ns6:r>
                      </ns6:e>
                      <ns6:sub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𝑠𝑡𝑎𝑔𝑒</ns6:t>
                        </ns6:r>
                      </ns6:sub>
                    </ns6:sSub>
                  </ns6:oMath>
                </ns4:m>
                <a:r>
                  <a:rPr lang="ko-KR" altLang="en-US" sz="919" dirty="0">
                    <a:latin typeface="+mj-ea"/>
                    <a:ea typeface="+mj-ea"/>
                  </a:rPr>
                  <a:t> </a:t>
                </a:r>
                <a:r>
                  <a:rPr lang="en-US" altLang="ko-KR" sz="919" dirty="0">
                    <a:latin typeface="+mj-ea"/>
                    <a:ea typeface="+mj-ea"/>
                  </a:rPr>
                  <a:t>+</a:t>
                </a:r>
                <ns4:m>
                  <ns6:oMath>
                    <ns6:sSub>
                      <ns6:sSubPr>
                        <ns6:ctrlPr>
                          <a:rPr lang="ko-KR" altLang="en-US" sz="919" i="1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sSubPr>
                      <ns6:e>
                        <ns6:r>
                          <a:rPr lang="ko-KR" altLang="en-US" sz="919" b="0" i="1">
                            <a:latin typeface="Cambria Math" panose="02040503050406030204" pitchFamily="18" charset="0"/>
                            <a:ea typeface="+mj-ea"/>
                          </a:rPr>
                          <ns6:t>𝜆</ns6:t>
                        </ns6:r>
                      </ns6:e>
                      <ns6:sub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𝑓</ns6:t>
                        </ns6:r>
                      </ns6:sub>
                    </ns6:sSub>
                    <ns6:sSub>
                      <ns6:sSubPr>
                        <ns6:ctrlPr>
                          <a:rPr lang="ko-KR" altLang="en-US" sz="919" i="1">
                            <a:latin typeface="Cambria Math" panose="02040503050406030204" pitchFamily="18" charset="0"/>
                            <a:ea typeface="+mj-ea"/>
                          </a:rPr>
                        </ns6:ctrlPr>
                      </ns6:sSubPr>
                      <ns6:e>
                        <ns6:r>
                          <a:rPr lang="en-US" altLang="ko-KR" sz="919" b="0" i="1">
                            <a:latin typeface="Cambria Math" panose="02040503050406030204" pitchFamily="18" charset="0"/>
                            <a:ea typeface="+mj-ea"/>
                          </a:rPr>
                          <ns6:t>𝐿</ns6:t>
                        </ns6:r>
                      </ns6:e>
                      <ns6:sub>
                        <ns6:r>
                          <a:rPr lang="en-US" altLang="ko-KR" sz="919" b="0" i="1" smtClean="0">
                            <a:latin typeface="Cambria Math" panose="02040503050406030204" pitchFamily="18" charset="0"/>
                            <a:ea typeface="+mj-ea"/>
                          </a:rPr>
                          <ns6:t>𝐹𝐴𝑆𝑇</ns6:t>
                        </ns6:r>
                      </ns6:sub>
                    </ns6:sSub>
                  </ns6:oMath>
                </ns4:m>
                <a:endParaRPr lang="ko-KR" altLang="en-US" sz="919" dirty="0">
                  <a:latin typeface="+mj-ea"/>
                  <a:ea typeface="+mj-ea"/>
                </a:endParaRPr>
              </a:p>
            </p:txBody>
          </p:sp>
        </ns5:Choice>
        <ns5:Fallback>
          <p:sp>
            <p:nvSpPr>
              <p:cNvPr id="77" name="TextBox 76">
                <a:extLst>
                  <a:ext uri="{FF2B5EF4-FFF2-40B4-BE49-F238E27FC236}">
                    <ns2:creationId id="{75D4B410-2449-16E0-3BAA-698098148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1293" y="5341081"/>
                <a:ext cx="1906485" cy="437756"/>
              </a:xfrm>
              <a:prstGeom prst="rect">
                <a:avLst/>
              </a:prstGeom>
              <a:blipFill>
                <a:blip ns3:embed="rId7"/>
                <a:stretch>
                  <a:fillRect t="-7317" b="-112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ns5:Fallback>
      </ns5:AlternateContent>
      <p:graphicFrame>
        <p:nvGraphicFramePr>
          <p:cNvPr id="79" name="표 78">
            <a:extLst>
              <a:ext uri="{FF2B5EF4-FFF2-40B4-BE49-F238E27FC236}">
                <ns2:creationId id="{48999F9D-D38D-4137-315A-515D9D102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7:modId val="3069877192"/>
              </p:ext>
            </p:extLst>
          </p:nvPr>
        </p:nvGraphicFramePr>
        <p:xfrm>
          <a:off x="621122" y="8304635"/>
          <a:ext cx="2718880" cy="128231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1858">
                  <a:extLst>
                    <a:ext uri="{9D8B030D-6E8A-4147-A177-3AD203B41FA5}">
                      <ns2:colId val="75515524"/>
                    </a:ext>
                  </a:extLst>
                </a:gridCol>
                <a:gridCol w="2971101">
                  <a:extLst>
                    <a:ext uri="{9D8B030D-6E8A-4147-A177-3AD203B41FA5}">
                      <ns2:colId val="3559314400"/>
                    </a:ext>
                  </a:extLst>
                </a:gridCol>
                <a:gridCol w="2807589">
                  <a:extLst>
                    <a:ext uri="{9D8B030D-6E8A-4147-A177-3AD203B41FA5}">
                      <ns2:colId val="10072973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99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90" dirty="0"/>
                        <a:t>1</a:t>
                      </a:r>
                      <a:r>
                        <a:rPr lang="en-US" altLang="ko-KR" sz="990" baseline="30000" dirty="0"/>
                        <a:t>st</a:t>
                      </a:r>
                      <a:r>
                        <a:rPr lang="en-US" altLang="ko-KR" sz="990" dirty="0"/>
                        <a:t> </a:t>
                      </a:r>
                      <a:endParaRPr lang="ko-KR" altLang="en-US" sz="99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90" dirty="0"/>
                        <a:t>경량화 모델</a:t>
                      </a:r>
                    </a:p>
                  </a:txBody>
                  <a:tcPr/>
                </a:tc>
                <a:extLst>
                  <a:ext uri="{0D108BD9-81ED-4DB2-BD59-A6C34878D82A}">
                    <ns2:rowId val="2583884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GPU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H200 x 8</a:t>
                      </a:r>
                    </a:p>
                    <a:p>
                      <a:pPr algn="ctr" latinLnBrk="1"/>
                      <a:r>
                        <a:rPr lang="en-US" altLang="ko-KR" sz="848" dirty="0"/>
                        <a:t>RTX 4090 x</a:t>
                      </a:r>
                      <a:r>
                        <a:rPr lang="ko-KR" altLang="en-US" sz="848" dirty="0"/>
                        <a:t> </a:t>
                      </a:r>
                      <a:r>
                        <a:rPr lang="en-US" altLang="ko-KR" sz="848" dirty="0"/>
                        <a:t>20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A100 x 1</a:t>
                      </a:r>
                    </a:p>
                    <a:p>
                      <a:pPr algn="ctr" latinLnBrk="1"/>
                      <a:r>
                        <a:rPr lang="en-US" altLang="ko-KR" sz="848" dirty="0"/>
                        <a:t>RTX 5070 x 2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955945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Task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50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12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714784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Batch size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2048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16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4209851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Step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200,000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70,000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2231449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Flow sample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15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1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216248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48" dirty="0"/>
                        <a:t>evaluation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50 task x 10 instance</a:t>
                      </a:r>
                      <a:endParaRPr lang="ko-KR" altLang="en-US" sz="848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48" dirty="0"/>
                        <a:t>12 task x 1 instance</a:t>
                      </a:r>
                      <a:endParaRPr lang="ko-KR" altLang="en-US" sz="848" dirty="0"/>
                    </a:p>
                  </a:txBody>
                  <a:tcPr/>
                </a:tc>
                <a:extLst>
                  <a:ext uri="{0D108BD9-81ED-4DB2-BD59-A6C34878D82A}">
                    <ns2:rowId val="1255022273"/>
                  </a:ext>
                </a:extLst>
              </a:tr>
            </a:tbl>
          </a:graphicData>
        </a:graphic>
      </p:graphicFrame>
      <p:sp>
        <p:nvSpPr>
          <p:cNvPr id="88" name="TextBox 87">
            <a:extLst>
              <a:ext uri="{FF2B5EF4-FFF2-40B4-BE49-F238E27FC236}">
                <ns2:creationId id="{8BC2F8D5-B6FF-D3FA-99B9-5DE02FA7AD64}"/>
              </a:ext>
            </a:extLst>
          </p:cNvPr>
          <p:cNvSpPr txBox="1"/>
          <p:nvPr/>
        </p:nvSpPr>
        <p:spPr>
          <a:xfrm>
            <a:off x="3782274" y="7720034"/>
            <a:ext cx="3595206" cy="1921818"/>
          </a:xfrm>
          <a:prstGeom prst="rect">
            <a:avLst/>
          </a:prstGeom>
          <a:noFill/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909" b="1" dirty="0">
              <a:latin typeface="+mn-ea"/>
            </a:endParaRPr>
          </a:p>
          <a:p>
            <a:r>
              <a:rPr lang="en-US" altLang="ko-KR" sz="848" b="1" dirty="0"/>
              <a:t>1. </a:t>
            </a:r>
            <a:r>
              <a:rPr lang="ko-KR" altLang="en-US" sz="848" b="1" dirty="0"/>
              <a:t>학습 관련</a:t>
            </a:r>
            <a:endParaRPr lang="en-US" altLang="ko-KR" sz="848" b="1" dirty="0"/>
          </a:p>
          <a:p>
            <a:r>
              <a:rPr lang="ko-KR" altLang="ko-KR" sz="848" dirty="0"/>
              <a:t>학습 </a:t>
            </a:r>
            <a:r>
              <a:rPr lang="ko-KR" altLang="ko-KR" sz="848" dirty="0" err="1"/>
              <a:t>step</a:t>
            </a:r>
            <a:r>
              <a:rPr lang="ko-KR" altLang="ko-KR" sz="848" dirty="0"/>
              <a:t> 증가를 통한 장기 수렴 성능 분석</a:t>
            </a:r>
            <a:endParaRPr lang="en-US" altLang="ko-KR" sz="848" dirty="0"/>
          </a:p>
          <a:p>
            <a:r>
              <a:rPr lang="ko-KR" altLang="ko-KR" sz="848" dirty="0">
                <a:latin typeface="Arial" panose="020B0604020202020204" pitchFamily="34" charset="0"/>
              </a:rPr>
              <a:t>다양한 </a:t>
            </a:r>
            <a:r>
              <a:rPr lang="ko-KR" altLang="ko-KR" sz="848" dirty="0" err="1">
                <a:latin typeface="Arial" panose="020B0604020202020204" pitchFamily="34" charset="0"/>
              </a:rPr>
              <a:t>seed</a:t>
            </a:r>
            <a:r>
              <a:rPr lang="ko-KR" altLang="ko-KR" sz="848" dirty="0">
                <a:latin typeface="Arial" panose="020B0604020202020204" pitchFamily="34" charset="0"/>
              </a:rPr>
              <a:t> 기반 반복 실험을 통한 모델 재현성 검증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848" dirty="0" err="1">
                <a:latin typeface="Arial" panose="020B0604020202020204" pitchFamily="34" charset="0"/>
              </a:rPr>
              <a:t>Task</a:t>
            </a:r>
            <a:r>
              <a:rPr lang="ko-KR" altLang="ko-KR" sz="848" dirty="0">
                <a:latin typeface="Arial" panose="020B0604020202020204" pitchFamily="34" charset="0"/>
              </a:rPr>
              <a:t> 수 확장을 통한 </a:t>
            </a:r>
            <a:r>
              <a:rPr lang="ko-KR" altLang="ko-KR" sz="848" dirty="0" err="1">
                <a:latin typeface="Arial" panose="020B0604020202020204" pitchFamily="34" charset="0"/>
              </a:rPr>
              <a:t>multi-task</a:t>
            </a:r>
            <a:r>
              <a:rPr lang="ko-KR" altLang="ko-KR" sz="848" dirty="0">
                <a:latin typeface="Arial" panose="020B0604020202020204" pitchFamily="34" charset="0"/>
              </a:rPr>
              <a:t> </a:t>
            </a:r>
            <a:r>
              <a:rPr lang="ko-KR" altLang="ko-KR" sz="848" dirty="0" err="1">
                <a:latin typeface="Arial" panose="020B0604020202020204" pitchFamily="34" charset="0"/>
              </a:rPr>
              <a:t>generalization</a:t>
            </a:r>
            <a:r>
              <a:rPr lang="ko-KR" altLang="ko-KR" sz="848" dirty="0">
                <a:latin typeface="Arial" panose="020B0604020202020204" pitchFamily="34" charset="0"/>
              </a:rPr>
              <a:t> 성능 분석 </a:t>
            </a:r>
            <a:endParaRPr lang="en-US" altLang="ko-KR" sz="848" dirty="0"/>
          </a:p>
          <a:p>
            <a:endParaRPr lang="en-US" altLang="ko-KR" sz="990" b="1" dirty="0">
              <a:latin typeface="+mn-ea"/>
            </a:endParaRPr>
          </a:p>
          <a:p>
            <a:r>
              <a:rPr lang="en-US" altLang="ko-KR" sz="848" b="1" dirty="0"/>
              <a:t>2. </a:t>
            </a:r>
            <a:r>
              <a:rPr lang="ko-KR" altLang="en-US" sz="848" b="1" dirty="0"/>
              <a:t>추가 </a:t>
            </a:r>
            <a:r>
              <a:rPr lang="en-US" altLang="ko-KR" sz="848" b="1" dirty="0"/>
              <a:t>VLA </a:t>
            </a:r>
            <a:r>
              <a:rPr lang="ko-KR" altLang="en-US" sz="848" b="1" dirty="0"/>
              <a:t>기술</a:t>
            </a:r>
            <a:endParaRPr lang="en-US" altLang="ko-KR" sz="848" b="1" dirty="0"/>
          </a:p>
          <a:p>
            <a:r>
              <a:rPr lang="ko-KR" altLang="ko-KR" sz="848" b="1" dirty="0" err="1"/>
              <a:t>MeM</a:t>
            </a:r>
            <a:r>
              <a:rPr lang="ko-KR" altLang="ko-KR" sz="848" b="1" dirty="0"/>
              <a:t> (</a:t>
            </a:r>
            <a:r>
              <a:rPr lang="ko-KR" altLang="ko-KR" sz="848" b="1" dirty="0" err="1"/>
              <a:t>Multi-Scale</a:t>
            </a:r>
            <a:r>
              <a:rPr lang="ko-KR" altLang="ko-KR" sz="848" b="1" dirty="0"/>
              <a:t> </a:t>
            </a:r>
            <a:r>
              <a:rPr lang="ko-KR" altLang="ko-KR" sz="848" b="1" dirty="0" err="1"/>
              <a:t>Embodied</a:t>
            </a:r>
            <a:r>
              <a:rPr lang="ko-KR" altLang="ko-KR" sz="848" b="1" dirty="0"/>
              <a:t> </a:t>
            </a:r>
            <a:r>
              <a:rPr lang="ko-KR" altLang="ko-KR" sz="848" b="1" dirty="0" err="1"/>
              <a:t>Memory</a:t>
            </a:r>
            <a:r>
              <a:rPr lang="ko-KR" altLang="ko-KR" sz="848" b="1" dirty="0"/>
              <a:t>)</a:t>
            </a:r>
            <a:r>
              <a:rPr lang="en-US" altLang="ko-KR" sz="848" b="1" dirty="0"/>
              <a:t>:</a:t>
            </a:r>
            <a:r>
              <a:rPr lang="ko-KR" altLang="ko-KR" sz="848" dirty="0"/>
              <a:t> </a:t>
            </a:r>
            <a:r>
              <a:rPr lang="ko-KR" altLang="ko-KR" sz="848" dirty="0" err="1"/>
              <a:t>short-term</a:t>
            </a:r>
            <a:r>
              <a:rPr lang="ko-KR" altLang="ko-KR" sz="848" dirty="0"/>
              <a:t> / </a:t>
            </a:r>
            <a:r>
              <a:rPr lang="ko-KR" altLang="ko-KR" sz="848" dirty="0" err="1"/>
              <a:t>long-term</a:t>
            </a:r>
            <a:r>
              <a:rPr lang="ko-KR" altLang="ko-KR" sz="848" dirty="0"/>
              <a:t> </a:t>
            </a:r>
            <a:r>
              <a:rPr lang="ko-KR" altLang="ko-KR" sz="848" dirty="0" err="1"/>
              <a:t>memory</a:t>
            </a:r>
            <a:r>
              <a:rPr lang="ko-KR" altLang="ko-KR" sz="848" dirty="0"/>
              <a:t> 기반 </a:t>
            </a:r>
            <a:r>
              <a:rPr lang="ko-KR" altLang="ko-KR" sz="848" dirty="0" err="1"/>
              <a:t>long-horizon</a:t>
            </a:r>
            <a:r>
              <a:rPr lang="ko-KR" altLang="ko-KR" sz="848" dirty="0"/>
              <a:t> </a:t>
            </a:r>
            <a:r>
              <a:rPr lang="ko-KR" altLang="ko-KR" sz="848" dirty="0" err="1"/>
              <a:t>task</a:t>
            </a:r>
            <a:r>
              <a:rPr lang="ko-KR" altLang="ko-KR" sz="848" dirty="0"/>
              <a:t> 안정성 향상</a:t>
            </a:r>
            <a:endParaRPr lang="en-US" altLang="ko-KR" sz="848" dirty="0"/>
          </a:p>
          <a:p>
            <a:r>
              <a:rPr lang="ko-KR" altLang="ko-KR" sz="848" b="1" dirty="0"/>
              <a:t>RD-VLA (</a:t>
            </a:r>
            <a:r>
              <a:rPr lang="ko-KR" altLang="ko-KR" sz="848" b="1" dirty="0" err="1"/>
              <a:t>Recurrent-Depth</a:t>
            </a:r>
            <a:r>
              <a:rPr lang="ko-KR" altLang="ko-KR" sz="848" b="1" dirty="0"/>
              <a:t> VLA)</a:t>
            </a:r>
            <a:r>
              <a:rPr lang="en-US" altLang="ko-KR" sz="848" b="1" dirty="0"/>
              <a:t>: </a:t>
            </a:r>
            <a:r>
              <a:rPr lang="ko-KR" altLang="ko-KR" sz="848" dirty="0" err="1"/>
              <a:t>latent</a:t>
            </a:r>
            <a:r>
              <a:rPr lang="ko-KR" altLang="ko-KR" sz="848" dirty="0"/>
              <a:t> </a:t>
            </a:r>
            <a:r>
              <a:rPr lang="ko-KR" altLang="ko-KR" sz="848" dirty="0" err="1"/>
              <a:t>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plan을</a:t>
            </a:r>
            <a:r>
              <a:rPr lang="ko-KR" altLang="ko-KR" sz="848" dirty="0"/>
              <a:t> 반복적으로 </a:t>
            </a:r>
            <a:r>
              <a:rPr lang="ko-KR" altLang="ko-KR" sz="848" dirty="0" err="1"/>
              <a:t>refinement하여</a:t>
            </a:r>
            <a:r>
              <a:rPr lang="ko-KR" altLang="ko-KR" sz="848" dirty="0"/>
              <a:t> </a:t>
            </a:r>
            <a:r>
              <a:rPr lang="ko-KR" altLang="ko-KR" sz="848" dirty="0" err="1"/>
              <a:t>long-horizon</a:t>
            </a:r>
            <a:r>
              <a:rPr lang="ko-KR" altLang="ko-KR" sz="848" dirty="0"/>
              <a:t> </a:t>
            </a:r>
            <a:r>
              <a:rPr lang="ko-KR" altLang="ko-KR" sz="848" dirty="0" err="1"/>
              <a:t>task에서</a:t>
            </a:r>
            <a:r>
              <a:rPr lang="ko-KR" altLang="ko-KR" sz="848" dirty="0"/>
              <a:t> 더 정밀한 </a:t>
            </a:r>
            <a:r>
              <a:rPr lang="ko-KR" altLang="ko-KR" sz="848" dirty="0" err="1"/>
              <a:t>action</a:t>
            </a:r>
            <a:r>
              <a:rPr lang="ko-KR" altLang="ko-KR" sz="848" dirty="0"/>
              <a:t> </a:t>
            </a:r>
            <a:r>
              <a:rPr lang="ko-KR" altLang="ko-KR" sz="848" dirty="0" err="1"/>
              <a:t>trajectory</a:t>
            </a:r>
            <a:r>
              <a:rPr lang="ko-KR" altLang="ko-KR" sz="848" dirty="0"/>
              <a:t> 생성</a:t>
            </a:r>
          </a:p>
          <a:p>
            <a:r>
              <a:rPr lang="ko-KR" altLang="ko-KR" sz="848" b="1" dirty="0"/>
              <a:t>π*0.6-lite </a:t>
            </a:r>
            <a:r>
              <a:rPr lang="ko-KR" altLang="ko-KR" sz="848" b="1" dirty="0" err="1"/>
              <a:t>Recovery</a:t>
            </a:r>
            <a:r>
              <a:rPr lang="ko-KR" altLang="ko-KR" sz="848" b="1" dirty="0"/>
              <a:t> </a:t>
            </a:r>
            <a:r>
              <a:rPr lang="ko-KR" altLang="ko-KR" sz="848" b="1" dirty="0" err="1"/>
              <a:t>Learning</a:t>
            </a:r>
            <a:r>
              <a:rPr lang="en-US" altLang="ko-KR" sz="848" b="1" dirty="0"/>
              <a:t>: </a:t>
            </a:r>
            <a:r>
              <a:rPr lang="ko-KR" altLang="ko-KR" sz="848" dirty="0"/>
              <a:t>실패 </a:t>
            </a:r>
            <a:r>
              <a:rPr lang="ko-KR" altLang="ko-KR" sz="848" dirty="0" err="1"/>
              <a:t>rollout과</a:t>
            </a:r>
            <a:r>
              <a:rPr lang="ko-KR" altLang="ko-KR" sz="848" dirty="0"/>
              <a:t> </a:t>
            </a:r>
            <a:r>
              <a:rPr lang="ko-KR" altLang="ko-KR" sz="848" dirty="0" err="1"/>
              <a:t>stage</a:t>
            </a:r>
            <a:r>
              <a:rPr lang="ko-KR" altLang="ko-KR" sz="848" dirty="0"/>
              <a:t>/</a:t>
            </a:r>
            <a:r>
              <a:rPr lang="ko-KR" altLang="ko-KR" sz="848" dirty="0" err="1"/>
              <a:t>value</a:t>
            </a:r>
            <a:r>
              <a:rPr lang="ko-KR" altLang="ko-KR" sz="848" dirty="0"/>
              <a:t> 정보를 활용하여 OOD 상태에서 </a:t>
            </a:r>
            <a:r>
              <a:rPr lang="ko-KR" altLang="ko-KR" sz="848" dirty="0" err="1"/>
              <a:t>recovery</a:t>
            </a:r>
            <a:r>
              <a:rPr lang="ko-KR" altLang="ko-KR" sz="848" dirty="0"/>
              <a:t> </a:t>
            </a:r>
            <a:r>
              <a:rPr lang="ko-KR" altLang="ko-KR" sz="848" dirty="0" err="1"/>
              <a:t>behavior</a:t>
            </a:r>
            <a:r>
              <a:rPr lang="ko-KR" altLang="ko-KR" sz="848" dirty="0"/>
              <a:t> 및 </a:t>
            </a:r>
            <a:r>
              <a:rPr lang="ko-KR" altLang="ko-KR" sz="848" dirty="0" err="1"/>
              <a:t>rollout</a:t>
            </a:r>
            <a:r>
              <a:rPr lang="ko-KR" altLang="ko-KR" sz="848" dirty="0"/>
              <a:t> </a:t>
            </a:r>
            <a:r>
              <a:rPr lang="ko-KR" altLang="ko-KR" sz="848" dirty="0" err="1"/>
              <a:t>robustness</a:t>
            </a:r>
            <a:r>
              <a:rPr lang="ko-KR" altLang="ko-KR" sz="848" dirty="0"/>
              <a:t> 향상</a:t>
            </a:r>
          </a:p>
        </p:txBody>
      </p:sp>
      <p:sp>
        <p:nvSpPr>
          <p:cNvPr id="89" name="TextBox 88">
            <a:extLst>
              <a:ext uri="{FF2B5EF4-FFF2-40B4-BE49-F238E27FC236}">
                <ns2:creationId id="{412367E2-2923-2FE1-2E7E-78D4E1A602A4}"/>
              </a:ext>
            </a:extLst>
          </p:cNvPr>
          <p:cNvSpPr txBox="1"/>
          <p:nvPr/>
        </p:nvSpPr>
        <p:spPr>
          <a:xfrm>
            <a:off x="3783569" y="7720830"/>
            <a:ext cx="1420861" cy="22850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20205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73" b="1" dirty="0">
                <a:solidFill>
                  <a:schemeClr val="bg1"/>
                </a:solidFill>
                <a:latin typeface="+mn-ea"/>
              </a:rPr>
              <a:t>향후 계획</a:t>
            </a:r>
          </a:p>
        </p:txBody>
      </p:sp>
      <p:pic>
        <p:nvPicPr>
          <p:cNvPr id="96" name="그림 95">
            <a:extLst>
              <a:ext uri="{FF2B5EF4-FFF2-40B4-BE49-F238E27FC236}">
                <ns2:creationId id="{3967B010-75E5-F8F0-58B6-DD939BD4F9C5}"/>
              </a:ext>
            </a:extLst>
          </p:cNvPr>
          <p:cNvPicPr>
            <a:picLocks noChangeAspect="1"/>
          </p:cNvPicPr>
          <p:nvPr/>
        </p:nvPicPr>
        <p:blipFill>
          <a:blip ns3:embed="rId8"/>
          <a:stretch>
            <a:fillRect/>
          </a:stretch>
        </p:blipFill>
        <p:spPr>
          <a:xfrm>
            <a:off x="228564" y="5763472"/>
            <a:ext cx="1619637" cy="1564920"/>
          </a:xfrm>
          <a:prstGeom prst="rect">
            <a:avLst/>
          </a:prstGeom>
        </p:spPr>
      </p:pic>
      <p:pic>
        <p:nvPicPr>
          <p:cNvPr id="98" name="그림 97">
            <a:extLst>
              <a:ext uri="{FF2B5EF4-FFF2-40B4-BE49-F238E27FC236}">
                <ns2:creationId id="{4196D2DC-283E-6471-F5DA-2B9B9FE0AFFC}"/>
              </a:ext>
            </a:extLst>
          </p:cNvPr>
          <p:cNvPicPr>
            <a:picLocks noChangeAspect="1"/>
          </p:cNvPicPr>
          <p:nvPr/>
        </p:nvPicPr>
        <p:blipFill>
          <a:blip ns3:embed="rId9"/>
          <a:stretch>
            <a:fillRect/>
          </a:stretch>
        </p:blipFill>
        <p:spPr>
          <a:xfrm>
            <a:off x="1869883" y="5593761"/>
            <a:ext cx="1878971" cy="1731551"/>
          </a:xfrm>
          <a:prstGeom prst="rect">
            <a:avLst/>
          </a:prstGeom>
        </p:spPr>
      </p:pic>
    </p:spTree>
    <p:extLst>
      <p:ext uri="{BB962C8B-B14F-4D97-AF65-F5344CB8AC3E}">
        <ns7:creationId val="131487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</TotalTime>
  <Words>576</Words>
  <Application>Microsoft Office PowerPoint</Application>
  <PresentationFormat>사용자 지정</PresentationFormat>
  <Paragraphs>144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맑은 고딕</vt:lpstr>
      <vt:lpstr>Aptos</vt:lpstr>
      <vt:lpstr>Aptos Display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강지호</dc:creator>
  <cp:lastModifiedBy>병선 문</cp:lastModifiedBy>
  <cp:revision>16</cp:revision>
  <dcterms:created xsi:type="dcterms:W3CDTF">2026-05-22T04:49:17Z</dcterms:created>
  <dcterms:modified xsi:type="dcterms:W3CDTF">2026-05-26T04:50:24Z</dcterms:modified>
</cp:coreProperties>
</file>