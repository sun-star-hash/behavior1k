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670" autoAdjust="0"/>
  </p:normalViewPr>
  <p:slideViewPr>
    <p:cSldViewPr snapToGrid="0">
      <p:cViewPr>
        <p:scale>
          <a:sx n="23" d="100"/>
          <a:sy n="23" d="100"/>
        </p:scale>
        <p:origin x="2070" y="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CE3CB-5277-48E6-BCBF-B434DC32A1C2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0AD9B5-C3A7-43BC-9ED1-A76F648430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03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1pPr>
    <a:lvl2pPr marL="1239789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2pPr>
    <a:lvl3pPr marL="2479578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3pPr>
    <a:lvl4pPr marL="3719368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4pPr>
    <a:lvl5pPr marL="4959157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5pPr>
    <a:lvl6pPr marL="6198946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6pPr>
    <a:lvl7pPr marL="7438735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7pPr>
    <a:lvl8pPr marL="8678525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8pPr>
    <a:lvl9pPr marL="9918314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0AD9B5-C3A7-43BC-9ED1-A76F648430F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4398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6"/>
            <a:ext cx="6425724" cy="3722335"/>
          </a:xfrm>
        </p:spPr>
        <p:txBody>
          <a:bodyPr anchor="b"/>
          <a:lstStyle>
            <a:lvl1pPr algn="ctr">
              <a:defRPr sz="175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701"/>
            </a:lvl1pPr>
            <a:lvl2pPr marL="133492" indent="0" algn="ctr">
              <a:buNone/>
              <a:defRPr sz="584"/>
            </a:lvl2pPr>
            <a:lvl3pPr marL="266983" indent="0" algn="ctr">
              <a:buNone/>
              <a:defRPr sz="526"/>
            </a:lvl3pPr>
            <a:lvl4pPr marL="400475" indent="0" algn="ctr">
              <a:buNone/>
              <a:defRPr sz="467"/>
            </a:lvl4pPr>
            <a:lvl5pPr marL="533966" indent="0" algn="ctr">
              <a:buNone/>
              <a:defRPr sz="467"/>
            </a:lvl5pPr>
            <a:lvl6pPr marL="667458" indent="0" algn="ctr">
              <a:buNone/>
              <a:defRPr sz="467"/>
            </a:lvl6pPr>
            <a:lvl7pPr marL="800949" indent="0" algn="ctr">
              <a:buNone/>
              <a:defRPr sz="467"/>
            </a:lvl7pPr>
            <a:lvl8pPr marL="934441" indent="0" algn="ctr">
              <a:buNone/>
              <a:defRPr sz="467"/>
            </a:lvl8pPr>
            <a:lvl9pPr marL="1067932" indent="0" algn="ctr">
              <a:buNone/>
              <a:defRPr sz="46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544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7601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175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4"/>
            <a:ext cx="6520220" cy="2338833"/>
          </a:xfrm>
        </p:spPr>
        <p:txBody>
          <a:bodyPr/>
          <a:lstStyle>
            <a:lvl1pPr marL="0" indent="0">
              <a:buNone/>
              <a:defRPr sz="701">
                <a:solidFill>
                  <a:schemeClr val="tx1">
                    <a:tint val="82000"/>
                  </a:schemeClr>
                </a:solidFill>
              </a:defRPr>
            </a:lvl1pPr>
            <a:lvl2pPr marL="133492" indent="0">
              <a:buNone/>
              <a:defRPr sz="584">
                <a:solidFill>
                  <a:schemeClr val="tx1">
                    <a:tint val="82000"/>
                  </a:schemeClr>
                </a:solidFill>
              </a:defRPr>
            </a:lvl2pPr>
            <a:lvl3pPr marL="266983" indent="0">
              <a:buNone/>
              <a:defRPr sz="526">
                <a:solidFill>
                  <a:schemeClr val="tx1">
                    <a:tint val="82000"/>
                  </a:schemeClr>
                </a:solidFill>
              </a:defRPr>
            </a:lvl3pPr>
            <a:lvl4pPr marL="400475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4pPr>
            <a:lvl5pPr marL="533966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5pPr>
            <a:lvl6pPr marL="667458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6pPr>
            <a:lvl7pPr marL="800949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7pPr>
            <a:lvl8pPr marL="934441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8pPr>
            <a:lvl9pPr marL="1067932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1"/>
            <a:ext cx="3212862" cy="678385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6" y="2846201"/>
            <a:ext cx="3212862" cy="678385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262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3"/>
            <a:ext cx="6520220" cy="206658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701" b="1"/>
            </a:lvl1pPr>
            <a:lvl2pPr marL="133492" indent="0">
              <a:buNone/>
              <a:defRPr sz="584" b="1"/>
            </a:lvl2pPr>
            <a:lvl3pPr marL="266983" indent="0">
              <a:buNone/>
              <a:defRPr sz="526" b="1"/>
            </a:lvl3pPr>
            <a:lvl4pPr marL="400475" indent="0">
              <a:buNone/>
              <a:defRPr sz="467" b="1"/>
            </a:lvl4pPr>
            <a:lvl5pPr marL="533966" indent="0">
              <a:buNone/>
              <a:defRPr sz="467" b="1"/>
            </a:lvl5pPr>
            <a:lvl6pPr marL="667458" indent="0">
              <a:buNone/>
              <a:defRPr sz="467" b="1"/>
            </a:lvl6pPr>
            <a:lvl7pPr marL="800949" indent="0">
              <a:buNone/>
              <a:defRPr sz="467" b="1"/>
            </a:lvl7pPr>
            <a:lvl8pPr marL="934441" indent="0">
              <a:buNone/>
              <a:defRPr sz="467" b="1"/>
            </a:lvl8pPr>
            <a:lvl9pPr marL="1067932" indent="0">
              <a:buNone/>
              <a:defRPr sz="46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3"/>
            <a:ext cx="3198096" cy="57443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7" y="2620980"/>
            <a:ext cx="3213847" cy="1284502"/>
          </a:xfrm>
        </p:spPr>
        <p:txBody>
          <a:bodyPr anchor="b"/>
          <a:lstStyle>
            <a:lvl1pPr marL="0" indent="0">
              <a:buNone/>
              <a:defRPr sz="701" b="1"/>
            </a:lvl1pPr>
            <a:lvl2pPr marL="133492" indent="0">
              <a:buNone/>
              <a:defRPr sz="584" b="1"/>
            </a:lvl2pPr>
            <a:lvl3pPr marL="266983" indent="0">
              <a:buNone/>
              <a:defRPr sz="526" b="1"/>
            </a:lvl3pPr>
            <a:lvl4pPr marL="400475" indent="0">
              <a:buNone/>
              <a:defRPr sz="467" b="1"/>
            </a:lvl4pPr>
            <a:lvl5pPr marL="533966" indent="0">
              <a:buNone/>
              <a:defRPr sz="467" b="1"/>
            </a:lvl5pPr>
            <a:lvl6pPr marL="667458" indent="0">
              <a:buNone/>
              <a:defRPr sz="467" b="1"/>
            </a:lvl6pPr>
            <a:lvl7pPr marL="800949" indent="0">
              <a:buNone/>
              <a:defRPr sz="467" b="1"/>
            </a:lvl7pPr>
            <a:lvl8pPr marL="934441" indent="0">
              <a:buNone/>
              <a:defRPr sz="467" b="1"/>
            </a:lvl8pPr>
            <a:lvl9pPr marL="1067932" indent="0">
              <a:buNone/>
              <a:defRPr sz="46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7" y="3905483"/>
            <a:ext cx="3213847" cy="57443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979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4826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88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93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8" y="1539426"/>
            <a:ext cx="3827085" cy="7598117"/>
          </a:xfrm>
        </p:spPr>
        <p:txBody>
          <a:bodyPr/>
          <a:lstStyle>
            <a:lvl1pPr>
              <a:defRPr sz="934"/>
            </a:lvl1pPr>
            <a:lvl2pPr>
              <a:defRPr sz="818"/>
            </a:lvl2pPr>
            <a:lvl3pPr>
              <a:defRPr sz="701"/>
            </a:lvl3pPr>
            <a:lvl4pPr>
              <a:defRPr sz="584"/>
            </a:lvl4pPr>
            <a:lvl5pPr>
              <a:defRPr sz="584"/>
            </a:lvl5pPr>
            <a:lvl6pPr>
              <a:defRPr sz="584"/>
            </a:lvl6pPr>
            <a:lvl7pPr>
              <a:defRPr sz="584"/>
            </a:lvl7pPr>
            <a:lvl8pPr>
              <a:defRPr sz="584"/>
            </a:lvl8pPr>
            <a:lvl9pPr>
              <a:defRPr sz="58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467"/>
            </a:lvl1pPr>
            <a:lvl2pPr marL="133492" indent="0">
              <a:buNone/>
              <a:defRPr sz="409"/>
            </a:lvl2pPr>
            <a:lvl3pPr marL="266983" indent="0">
              <a:buNone/>
              <a:defRPr sz="350"/>
            </a:lvl3pPr>
            <a:lvl4pPr marL="400475" indent="0">
              <a:buNone/>
              <a:defRPr sz="292"/>
            </a:lvl4pPr>
            <a:lvl5pPr marL="533966" indent="0">
              <a:buNone/>
              <a:defRPr sz="292"/>
            </a:lvl5pPr>
            <a:lvl6pPr marL="667458" indent="0">
              <a:buNone/>
              <a:defRPr sz="292"/>
            </a:lvl6pPr>
            <a:lvl7pPr marL="800949" indent="0">
              <a:buNone/>
              <a:defRPr sz="292"/>
            </a:lvl7pPr>
            <a:lvl8pPr marL="934441" indent="0">
              <a:buNone/>
              <a:defRPr sz="292"/>
            </a:lvl8pPr>
            <a:lvl9pPr marL="1067932" indent="0">
              <a:buNone/>
              <a:defRPr sz="29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7379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93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8" y="1539426"/>
            <a:ext cx="3827085" cy="7598117"/>
          </a:xfrm>
        </p:spPr>
        <p:txBody>
          <a:bodyPr anchor="t"/>
          <a:lstStyle>
            <a:lvl1pPr marL="0" indent="0">
              <a:buNone/>
              <a:defRPr sz="934"/>
            </a:lvl1pPr>
            <a:lvl2pPr marL="133492" indent="0">
              <a:buNone/>
              <a:defRPr sz="818"/>
            </a:lvl2pPr>
            <a:lvl3pPr marL="266983" indent="0">
              <a:buNone/>
              <a:defRPr sz="701"/>
            </a:lvl3pPr>
            <a:lvl4pPr marL="400475" indent="0">
              <a:buNone/>
              <a:defRPr sz="584"/>
            </a:lvl4pPr>
            <a:lvl5pPr marL="533966" indent="0">
              <a:buNone/>
              <a:defRPr sz="584"/>
            </a:lvl5pPr>
            <a:lvl6pPr marL="667458" indent="0">
              <a:buNone/>
              <a:defRPr sz="584"/>
            </a:lvl6pPr>
            <a:lvl7pPr marL="800949" indent="0">
              <a:buNone/>
              <a:defRPr sz="584"/>
            </a:lvl7pPr>
            <a:lvl8pPr marL="934441" indent="0">
              <a:buNone/>
              <a:defRPr sz="584"/>
            </a:lvl8pPr>
            <a:lvl9pPr marL="1067932" indent="0">
              <a:buNone/>
              <a:defRPr sz="584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467"/>
            </a:lvl1pPr>
            <a:lvl2pPr marL="133492" indent="0">
              <a:buNone/>
              <a:defRPr sz="409"/>
            </a:lvl2pPr>
            <a:lvl3pPr marL="266983" indent="0">
              <a:buNone/>
              <a:defRPr sz="350"/>
            </a:lvl3pPr>
            <a:lvl4pPr marL="400475" indent="0">
              <a:buNone/>
              <a:defRPr sz="292"/>
            </a:lvl4pPr>
            <a:lvl5pPr marL="533966" indent="0">
              <a:buNone/>
              <a:defRPr sz="292"/>
            </a:lvl5pPr>
            <a:lvl6pPr marL="667458" indent="0">
              <a:buNone/>
              <a:defRPr sz="292"/>
            </a:lvl6pPr>
            <a:lvl7pPr marL="800949" indent="0">
              <a:buNone/>
              <a:defRPr sz="292"/>
            </a:lvl7pPr>
            <a:lvl8pPr marL="934441" indent="0">
              <a:buNone/>
              <a:defRPr sz="292"/>
            </a:lvl8pPr>
            <a:lvl9pPr marL="1067932" indent="0">
              <a:buNone/>
              <a:defRPr sz="29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5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474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4" y="569240"/>
            <a:ext cx="1630055" cy="906081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9" y="569240"/>
            <a:ext cx="4795669" cy="906081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34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3"/>
            <a:ext cx="6520220" cy="20665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1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9" y="9909730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31A69-130F-4AFA-87E1-41757229F71B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30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1" y="9909730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938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66983" rtl="0" eaLnBrk="1" latinLnBrk="1" hangingPunct="1">
        <a:lnSpc>
          <a:spcPct val="90000"/>
        </a:lnSpc>
        <a:spcBef>
          <a:spcPct val="0"/>
        </a:spcBef>
        <a:buNone/>
        <a:defRPr sz="128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6746" indent="-66746" algn="l" defTabSz="266983" rtl="0" eaLnBrk="1" latinLnBrk="1" hangingPunct="1">
        <a:lnSpc>
          <a:spcPct val="90000"/>
        </a:lnSpc>
        <a:spcBef>
          <a:spcPts val="292"/>
        </a:spcBef>
        <a:buFont typeface="Arial" panose="020B0604020202020204" pitchFamily="34" charset="0"/>
        <a:buChar char="•"/>
        <a:defRPr sz="818" kern="1200">
          <a:solidFill>
            <a:schemeClr val="tx1"/>
          </a:solidFill>
          <a:latin typeface="+mn-lt"/>
          <a:ea typeface="+mn-ea"/>
          <a:cs typeface="+mn-cs"/>
        </a:defRPr>
      </a:lvl1pPr>
      <a:lvl2pPr marL="200237" indent="-66746" algn="l" defTabSz="266983" rtl="0" eaLnBrk="1" latinLnBrk="1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701" kern="1200">
          <a:solidFill>
            <a:schemeClr val="tx1"/>
          </a:solidFill>
          <a:latin typeface="+mn-lt"/>
          <a:ea typeface="+mn-ea"/>
          <a:cs typeface="+mn-cs"/>
        </a:defRPr>
      </a:lvl2pPr>
      <a:lvl3pPr marL="333729" indent="-66746" algn="l" defTabSz="266983" rtl="0" eaLnBrk="1" latinLnBrk="1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84" kern="1200">
          <a:solidFill>
            <a:schemeClr val="tx1"/>
          </a:solidFill>
          <a:latin typeface="+mn-lt"/>
          <a:ea typeface="+mn-ea"/>
          <a:cs typeface="+mn-cs"/>
        </a:defRPr>
      </a:lvl3pPr>
      <a:lvl4pPr marL="467220" indent="-66746" algn="l" defTabSz="266983" rtl="0" eaLnBrk="1" latinLnBrk="1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6" kern="1200">
          <a:solidFill>
            <a:schemeClr val="tx1"/>
          </a:solidFill>
          <a:latin typeface="+mn-lt"/>
          <a:ea typeface="+mn-ea"/>
          <a:cs typeface="+mn-cs"/>
        </a:defRPr>
      </a:lvl4pPr>
      <a:lvl5pPr marL="600712" indent="-66746" algn="l" defTabSz="266983" rtl="0" eaLnBrk="1" latinLnBrk="1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6" kern="1200">
          <a:solidFill>
            <a:schemeClr val="tx1"/>
          </a:solidFill>
          <a:latin typeface="+mn-lt"/>
          <a:ea typeface="+mn-ea"/>
          <a:cs typeface="+mn-cs"/>
        </a:defRPr>
      </a:lvl5pPr>
      <a:lvl6pPr marL="734204" indent="-66746" algn="l" defTabSz="266983" rtl="0" eaLnBrk="1" latinLnBrk="1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6" kern="1200">
          <a:solidFill>
            <a:schemeClr val="tx1"/>
          </a:solidFill>
          <a:latin typeface="+mn-lt"/>
          <a:ea typeface="+mn-ea"/>
          <a:cs typeface="+mn-cs"/>
        </a:defRPr>
      </a:lvl6pPr>
      <a:lvl7pPr marL="867695" indent="-66746" algn="l" defTabSz="266983" rtl="0" eaLnBrk="1" latinLnBrk="1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6" kern="1200">
          <a:solidFill>
            <a:schemeClr val="tx1"/>
          </a:solidFill>
          <a:latin typeface="+mn-lt"/>
          <a:ea typeface="+mn-ea"/>
          <a:cs typeface="+mn-cs"/>
        </a:defRPr>
      </a:lvl7pPr>
      <a:lvl8pPr marL="1001186" indent="-66746" algn="l" defTabSz="266983" rtl="0" eaLnBrk="1" latinLnBrk="1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6" kern="1200">
          <a:solidFill>
            <a:schemeClr val="tx1"/>
          </a:solidFill>
          <a:latin typeface="+mn-lt"/>
          <a:ea typeface="+mn-ea"/>
          <a:cs typeface="+mn-cs"/>
        </a:defRPr>
      </a:lvl8pPr>
      <a:lvl9pPr marL="1134678" indent="-66746" algn="l" defTabSz="266983" rtl="0" eaLnBrk="1" latinLnBrk="1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1pPr>
      <a:lvl2pPr marL="133492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2pPr>
      <a:lvl3pPr marL="266983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3pPr>
      <a:lvl4pPr marL="400475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4pPr>
      <a:lvl5pPr marL="533966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5pPr>
      <a:lvl6pPr marL="667458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6pPr>
      <a:lvl7pPr marL="800949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7pPr>
      <a:lvl8pPr marL="934441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8pPr>
      <a:lvl9pPr marL="1067932" algn="l" defTabSz="266983" rtl="0" eaLnBrk="1" latinLnBrk="1" hangingPunct="1">
        <a:defRPr sz="5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그림 69">
            <a:extLst>
              <a:ext uri="{FF2B5EF4-FFF2-40B4-BE49-F238E27FC236}">
                <a16:creationId xmlns:a16="http://schemas.microsoft.com/office/drawing/2014/main" id="{960D056F-BB26-F74E-8730-70D872199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8864" y="4561456"/>
            <a:ext cx="1235122" cy="6336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37C99B-9CE4-13DD-7E3A-61A600B1E6F9}"/>
              </a:ext>
            </a:extLst>
          </p:cNvPr>
          <p:cNvSpPr txBox="1"/>
          <p:nvPr/>
        </p:nvSpPr>
        <p:spPr>
          <a:xfrm>
            <a:off x="2510208" y="3514351"/>
            <a:ext cx="2539259" cy="2076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49" b="1" dirty="0"/>
              <a:t>BEHAVIOR-1K </a:t>
            </a:r>
            <a:r>
              <a:rPr lang="ko-KR" altLang="en-US" sz="749" b="1" dirty="0"/>
              <a:t>기반 양팔 로봇 정책 학습</a:t>
            </a:r>
            <a:endParaRPr lang="ko-KR" altLang="en-US" sz="674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791E0-6CF5-D63E-BD9E-794012C4381A}"/>
              </a:ext>
            </a:extLst>
          </p:cNvPr>
          <p:cNvSpPr txBox="1"/>
          <p:nvPr/>
        </p:nvSpPr>
        <p:spPr>
          <a:xfrm>
            <a:off x="2508959" y="3676631"/>
            <a:ext cx="1270878" cy="184538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599" b="1" dirty="0">
                <a:latin typeface="+mn-ea"/>
              </a:rPr>
              <a:t>지도 교수님</a:t>
            </a:r>
            <a:r>
              <a:rPr lang="en-US" altLang="ko-KR" sz="599" b="1" dirty="0">
                <a:latin typeface="+mn-ea"/>
              </a:rPr>
              <a:t>: </a:t>
            </a:r>
            <a:r>
              <a:rPr lang="ko-KR" altLang="en-US" sz="599" b="1" dirty="0" err="1">
                <a:latin typeface="+mn-ea"/>
              </a:rPr>
              <a:t>하종은</a:t>
            </a:r>
            <a:r>
              <a:rPr lang="ko-KR" altLang="en-US" sz="599" b="1" dirty="0">
                <a:latin typeface="+mn-ea"/>
              </a:rPr>
              <a:t> 교수님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C29D6-F5C9-1FEE-2470-ECFA1AD996C6}"/>
              </a:ext>
            </a:extLst>
          </p:cNvPr>
          <p:cNvSpPr txBox="1"/>
          <p:nvPr/>
        </p:nvSpPr>
        <p:spPr>
          <a:xfrm>
            <a:off x="3779837" y="3676631"/>
            <a:ext cx="1270456" cy="184538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599" b="1" dirty="0">
                <a:latin typeface="+mn-ea"/>
              </a:rPr>
              <a:t>조원</a:t>
            </a:r>
            <a:r>
              <a:rPr lang="en-US" altLang="ko-KR" sz="599" b="1" dirty="0">
                <a:latin typeface="+mn-ea"/>
              </a:rPr>
              <a:t>: </a:t>
            </a:r>
            <a:r>
              <a:rPr lang="ko-KR" altLang="en-US" sz="599" b="1" dirty="0">
                <a:latin typeface="+mn-ea"/>
              </a:rPr>
              <a:t>강지호</a:t>
            </a:r>
            <a:r>
              <a:rPr lang="en-US" altLang="ko-KR" sz="599" b="1" dirty="0">
                <a:latin typeface="+mn-ea"/>
              </a:rPr>
              <a:t>, </a:t>
            </a:r>
            <a:r>
              <a:rPr lang="ko-KR" altLang="en-US" sz="599" b="1" dirty="0" err="1">
                <a:latin typeface="+mn-ea"/>
              </a:rPr>
              <a:t>문병선</a:t>
            </a:r>
            <a:endParaRPr lang="ko-KR" altLang="en-US" sz="599" b="1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F21E68-84F7-27E5-88B3-AD831848791A}"/>
              </a:ext>
            </a:extLst>
          </p:cNvPr>
          <p:cNvSpPr txBox="1"/>
          <p:nvPr/>
        </p:nvSpPr>
        <p:spPr>
          <a:xfrm>
            <a:off x="2509170" y="3780380"/>
            <a:ext cx="1270667" cy="573106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674" b="1" dirty="0">
              <a:latin typeface="+mn-ea"/>
            </a:endParaRPr>
          </a:p>
          <a:p>
            <a:pPr marL="42813" indent="-42813" algn="ctr">
              <a:buFont typeface="Arial" panose="020B0604020202020204" pitchFamily="34" charset="0"/>
              <a:buChar char="•"/>
            </a:pPr>
            <a:r>
              <a:rPr lang="en-US" altLang="ko-KR" sz="300" dirty="0">
                <a:latin typeface="+mn-ea"/>
              </a:rPr>
              <a:t>BEHAVIOR-1K </a:t>
            </a:r>
            <a:r>
              <a:rPr lang="ko-KR" altLang="en-US" sz="300" dirty="0">
                <a:latin typeface="+mn-ea"/>
              </a:rPr>
              <a:t>환경에서 </a:t>
            </a:r>
            <a:r>
              <a:rPr lang="en-US" altLang="ko-KR" sz="300" dirty="0">
                <a:latin typeface="+mn-ea"/>
              </a:rPr>
              <a:t>Vision-Language-Action </a:t>
            </a:r>
            <a:r>
              <a:rPr lang="ko-KR" altLang="en-US" sz="300" dirty="0">
                <a:latin typeface="+mn-ea"/>
              </a:rPr>
              <a:t>기반 양팔 로봇 조작 정책을 구현하고 평가</a:t>
            </a:r>
            <a:endParaRPr lang="en-US" altLang="ko-KR" sz="300" dirty="0">
              <a:latin typeface="+mn-ea"/>
            </a:endParaRPr>
          </a:p>
          <a:p>
            <a:pPr marL="35678" indent="-35678" algn="ctr">
              <a:buFont typeface="Arial" panose="020B0604020202020204" pitchFamily="34" charset="0"/>
              <a:buChar char="•"/>
            </a:pPr>
            <a:endParaRPr lang="en-US" altLang="ko-KR" sz="225" dirty="0"/>
          </a:p>
          <a:p>
            <a:pPr marL="42813" indent="-42813" algn="ctr">
              <a:buFont typeface="Arial" panose="020B0604020202020204" pitchFamily="34" charset="0"/>
              <a:buChar char="•"/>
            </a:pPr>
            <a:r>
              <a:rPr lang="ko-KR" altLang="ko-KR" sz="300" dirty="0"/>
              <a:t>Pi0.5 기반 모델을 활용하여 장기 시퀀스 작업 수행 성능을 분석하고, </a:t>
            </a:r>
            <a:r>
              <a:rPr lang="ko-KR" altLang="ko-KR" sz="300" dirty="0" err="1"/>
              <a:t>Flow</a:t>
            </a:r>
            <a:r>
              <a:rPr lang="ko-KR" altLang="ko-KR" sz="300" dirty="0"/>
              <a:t> </a:t>
            </a:r>
            <a:r>
              <a:rPr lang="ko-KR" altLang="ko-KR" sz="300" dirty="0" err="1"/>
              <a:t>Matching</a:t>
            </a:r>
            <a:r>
              <a:rPr lang="ko-KR" altLang="ko-KR" sz="300" dirty="0"/>
              <a:t> 기반 정책 학습 구조를 적용</a:t>
            </a:r>
            <a:endParaRPr lang="en-US" altLang="ko-KR" sz="300" dirty="0"/>
          </a:p>
          <a:p>
            <a:pPr marL="42813" indent="-42813" algn="ctr">
              <a:buFont typeface="Arial" panose="020B0604020202020204" pitchFamily="34" charset="0"/>
              <a:buChar char="•"/>
            </a:pPr>
            <a:endParaRPr lang="en-US" altLang="ko-KR" sz="225" dirty="0"/>
          </a:p>
          <a:p>
            <a:pPr marL="42813" indent="-42813" algn="ctr">
              <a:buFont typeface="Arial" panose="020B0604020202020204" pitchFamily="34" charset="0"/>
              <a:buChar char="•"/>
            </a:pPr>
            <a:r>
              <a:rPr lang="ko-KR" altLang="ko-KR" sz="300" dirty="0" err="1"/>
              <a:t>OmniGibson</a:t>
            </a:r>
            <a:r>
              <a:rPr lang="ko-KR" altLang="ko-KR" sz="300" dirty="0"/>
              <a:t> 환경에서 다양한 작업 수행 결과를 통해 모델의 실효성 검증</a:t>
            </a:r>
            <a:endParaRPr lang="en-US" altLang="ko-KR" sz="300" dirty="0"/>
          </a:p>
          <a:p>
            <a:pPr algn="ctr"/>
            <a:endParaRPr lang="en-US" altLang="ko-KR" sz="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8A191C-5F83-480C-7015-4DA81E72DAFF}"/>
              </a:ext>
            </a:extLst>
          </p:cNvPr>
          <p:cNvSpPr txBox="1"/>
          <p:nvPr/>
        </p:nvSpPr>
        <p:spPr>
          <a:xfrm>
            <a:off x="2511159" y="3780380"/>
            <a:ext cx="501770" cy="161583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50" b="1" dirty="0">
                <a:solidFill>
                  <a:schemeClr val="bg1"/>
                </a:solidFill>
                <a:latin typeface="+mn-ea"/>
              </a:rPr>
              <a:t>연구 목적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36297D-C66E-2FF3-A2C5-91FB5F095DDA}"/>
              </a:ext>
            </a:extLst>
          </p:cNvPr>
          <p:cNvSpPr txBox="1"/>
          <p:nvPr/>
        </p:nvSpPr>
        <p:spPr>
          <a:xfrm>
            <a:off x="3780875" y="3779107"/>
            <a:ext cx="1269418" cy="815608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450" b="1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200" dirty="0"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4BA792-A182-B99F-83BD-30DF7E0EBF88}"/>
              </a:ext>
            </a:extLst>
          </p:cNvPr>
          <p:cNvSpPr txBox="1"/>
          <p:nvPr/>
        </p:nvSpPr>
        <p:spPr>
          <a:xfrm>
            <a:off x="3779837" y="3780380"/>
            <a:ext cx="1012778" cy="161583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50" b="1" dirty="0">
                <a:solidFill>
                  <a:schemeClr val="bg1"/>
                </a:solidFill>
                <a:latin typeface="+mn-ea"/>
              </a:rPr>
              <a:t>주차별 진행 상황 및 역할 분담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E37084-1706-89B6-3818-C425F45E15B4}"/>
              </a:ext>
            </a:extLst>
          </p:cNvPr>
          <p:cNvSpPr txBox="1"/>
          <p:nvPr/>
        </p:nvSpPr>
        <p:spPr>
          <a:xfrm>
            <a:off x="3779837" y="3873413"/>
            <a:ext cx="634815" cy="1200329"/>
          </a:xfrm>
          <a:prstGeom prst="rect">
            <a:avLst/>
          </a:prstGeom>
          <a:noFill/>
          <a:ln w="57150"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300" dirty="0"/>
              <a:t> 1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en-US" sz="300" dirty="0"/>
              <a:t>프로젝트 주제 선정 및 개발 </a:t>
            </a:r>
            <a:r>
              <a:rPr lang="en-US" altLang="ko-KR" sz="300" dirty="0"/>
              <a:t>		</a:t>
            </a:r>
            <a:r>
              <a:rPr lang="ko-KR" altLang="en-US" sz="300" dirty="0"/>
              <a:t>환경 조사</a:t>
            </a:r>
            <a:endParaRPr lang="en-US" altLang="ko-KR" sz="300" dirty="0"/>
          </a:p>
          <a:p>
            <a:r>
              <a:rPr lang="en-US" altLang="ko-KR" sz="300" dirty="0"/>
              <a:t> 2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ko-KR" sz="300" dirty="0"/>
              <a:t>OpenPI·Pi0.5 기반 코드 구조 </a:t>
            </a:r>
            <a:r>
              <a:rPr lang="en-US" altLang="ko-KR" sz="300" dirty="0"/>
              <a:t>		</a:t>
            </a:r>
            <a:r>
              <a:rPr lang="ko-KR" altLang="ko-KR" sz="300" dirty="0"/>
              <a:t>분석 및 학습 파이프라인 구축</a:t>
            </a:r>
            <a:endParaRPr lang="en-US" altLang="ko-KR" sz="300" dirty="0"/>
          </a:p>
          <a:p>
            <a:r>
              <a:rPr lang="en-US" altLang="ko-KR" sz="300" dirty="0"/>
              <a:t> 3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ko-KR" sz="300" dirty="0"/>
              <a:t>모델 구조 설계 및 실험 환경 </a:t>
            </a:r>
            <a:r>
              <a:rPr lang="en-US" altLang="ko-KR" sz="300" dirty="0"/>
              <a:t>		</a:t>
            </a:r>
            <a:r>
              <a:rPr lang="ko-KR" altLang="ko-KR" sz="300" dirty="0"/>
              <a:t>구성</a:t>
            </a:r>
            <a:endParaRPr lang="en-US" altLang="ko-KR" sz="300" dirty="0"/>
          </a:p>
          <a:p>
            <a:r>
              <a:rPr lang="en-US" altLang="ko-KR" sz="300" dirty="0"/>
              <a:t> 4</a:t>
            </a:r>
            <a:r>
              <a:rPr lang="ko-KR" altLang="en-US" sz="300" dirty="0"/>
              <a:t>주차</a:t>
            </a:r>
            <a:r>
              <a:rPr lang="en-US" altLang="ko-KR" sz="300" dirty="0"/>
              <a:t>:  </a:t>
            </a:r>
            <a:r>
              <a:rPr lang="ko-KR" altLang="ko-KR" sz="300" dirty="0" err="1"/>
              <a:t>OmniGibson</a:t>
            </a:r>
            <a:r>
              <a:rPr lang="ko-KR" altLang="ko-KR" sz="300" dirty="0"/>
              <a:t> 평가 환경 구축</a:t>
            </a:r>
            <a:endParaRPr lang="en-US" altLang="ko-KR" sz="300" dirty="0"/>
          </a:p>
          <a:p>
            <a:r>
              <a:rPr lang="en-US" altLang="ko-KR" sz="300" dirty="0"/>
              <a:t> 5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ko-KR" sz="300" dirty="0"/>
              <a:t>실데이터 학습 파이프라인 </a:t>
            </a:r>
            <a:r>
              <a:rPr lang="en-US" altLang="ko-KR" sz="300" dirty="0"/>
              <a:t>			</a:t>
            </a:r>
            <a:r>
              <a:rPr lang="ko-KR" altLang="ko-KR" sz="300" dirty="0"/>
              <a:t>구현</a:t>
            </a:r>
            <a:endParaRPr lang="en-US" altLang="ko-KR" sz="300" dirty="0"/>
          </a:p>
          <a:p>
            <a:r>
              <a:rPr lang="en-US" altLang="ko-KR" sz="300" dirty="0"/>
              <a:t> 6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ko-KR" sz="300" dirty="0"/>
              <a:t>메모리 최적화 및 학습 성능 </a:t>
            </a:r>
            <a:r>
              <a:rPr lang="en-US" altLang="ko-KR" sz="300" dirty="0"/>
              <a:t>		</a:t>
            </a:r>
            <a:r>
              <a:rPr lang="ko-KR" altLang="ko-KR" sz="300" dirty="0"/>
              <a:t>분석</a:t>
            </a:r>
            <a:r>
              <a:rPr lang="en-US" altLang="ko-KR" sz="300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FBE48B-B887-151D-2BF6-D02E76534210}"/>
              </a:ext>
            </a:extLst>
          </p:cNvPr>
          <p:cNvSpPr txBox="1"/>
          <p:nvPr/>
        </p:nvSpPr>
        <p:spPr>
          <a:xfrm>
            <a:off x="4414651" y="3868759"/>
            <a:ext cx="634815" cy="680956"/>
          </a:xfrm>
          <a:prstGeom prst="rect">
            <a:avLst/>
          </a:prstGeom>
          <a:noFill/>
          <a:ln w="57150"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300" dirty="0"/>
              <a:t> 7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ko-KR" sz="300" dirty="0"/>
              <a:t>학습 및 W&amp;B 로깅 시스템 </a:t>
            </a:r>
            <a:r>
              <a:rPr lang="en-US" altLang="ko-KR" sz="300" dirty="0"/>
              <a:t>			</a:t>
            </a:r>
            <a:r>
              <a:rPr lang="ko-KR" altLang="ko-KR" sz="300" dirty="0"/>
              <a:t>구축</a:t>
            </a:r>
            <a:endParaRPr lang="en-US" altLang="ko-KR" sz="300" dirty="0"/>
          </a:p>
          <a:p>
            <a:r>
              <a:rPr lang="en-US" altLang="ko-KR" sz="300" dirty="0"/>
              <a:t> 8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en-US" sz="300" dirty="0"/>
              <a:t>경량화 모델 학습</a:t>
            </a:r>
            <a:endParaRPr lang="en-US" altLang="ko-KR" sz="300" dirty="0"/>
          </a:p>
          <a:p>
            <a:r>
              <a:rPr lang="en-US" altLang="ko-KR" sz="300" dirty="0"/>
              <a:t> 9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en-US" sz="300" dirty="0"/>
              <a:t>경량화 모델 학습</a:t>
            </a:r>
            <a:endParaRPr lang="en-US" altLang="ko-KR" sz="300" dirty="0"/>
          </a:p>
          <a:p>
            <a:r>
              <a:rPr lang="en-US" altLang="ko-KR" sz="300" dirty="0"/>
              <a:t> 10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en-US" sz="300" dirty="0"/>
              <a:t>경량화 모델 학습</a:t>
            </a:r>
            <a:endParaRPr lang="en-US" altLang="ko-KR" sz="300" dirty="0"/>
          </a:p>
          <a:p>
            <a:r>
              <a:rPr lang="en-US" altLang="ko-KR" sz="300" dirty="0"/>
              <a:t> 11</a:t>
            </a:r>
            <a:r>
              <a:rPr lang="ko-KR" altLang="en-US" sz="300" dirty="0"/>
              <a:t>주차</a:t>
            </a:r>
            <a:r>
              <a:rPr lang="en-US" altLang="ko-KR" sz="300" dirty="0"/>
              <a:t>: rollout </a:t>
            </a:r>
            <a:r>
              <a:rPr lang="ko-KR" altLang="en-US" sz="300" dirty="0"/>
              <a:t>안정화 및 평가 개선</a:t>
            </a:r>
            <a:endParaRPr lang="en-US" altLang="ko-KR" sz="300" dirty="0"/>
          </a:p>
          <a:p>
            <a:r>
              <a:rPr lang="en-US" altLang="ko-KR" sz="300" dirty="0"/>
              <a:t> 12</a:t>
            </a:r>
            <a:r>
              <a:rPr lang="ko-KR" altLang="en-US" sz="300" dirty="0"/>
              <a:t>주차</a:t>
            </a:r>
            <a:r>
              <a:rPr lang="en-US" altLang="ko-KR" sz="300" dirty="0"/>
              <a:t>: </a:t>
            </a:r>
            <a:r>
              <a:rPr lang="ko-KR" altLang="ko-KR" sz="300" dirty="0"/>
              <a:t>최종 실험 결과 정리</a:t>
            </a:r>
            <a:endParaRPr lang="en-US" altLang="ko-KR" sz="300" dirty="0"/>
          </a:p>
          <a:p>
            <a:endParaRPr lang="ko-KR" altLang="en-US" sz="225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28F00E-856C-97B8-EDC1-27E6B218DCA2}"/>
              </a:ext>
            </a:extLst>
          </p:cNvPr>
          <p:cNvSpPr txBox="1"/>
          <p:nvPr/>
        </p:nvSpPr>
        <p:spPr>
          <a:xfrm>
            <a:off x="3779837" y="4407760"/>
            <a:ext cx="1269629" cy="18466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300" dirty="0">
                <a:latin typeface="+mn-ea"/>
              </a:rPr>
              <a:t> 강지호</a:t>
            </a:r>
            <a:r>
              <a:rPr lang="en-US" altLang="ko-KR" sz="300" dirty="0">
                <a:latin typeface="+mn-ea"/>
              </a:rPr>
              <a:t>: </a:t>
            </a:r>
            <a:r>
              <a:rPr lang="ko-KR" altLang="ko-KR" sz="300" dirty="0"/>
              <a:t>VLA 모델 </a:t>
            </a:r>
            <a:r>
              <a:rPr lang="ko-KR" altLang="ko-KR" sz="300" dirty="0" err="1"/>
              <a:t>구현·학습</a:t>
            </a:r>
            <a:r>
              <a:rPr lang="ko-KR" altLang="ko-KR" sz="300" dirty="0"/>
              <a:t> 및 핵심 알고리즘 실험 진행</a:t>
            </a:r>
            <a:endParaRPr lang="en-US" altLang="ko-KR" sz="300" dirty="0">
              <a:latin typeface="+mn-ea"/>
            </a:endParaRPr>
          </a:p>
          <a:p>
            <a:r>
              <a:rPr lang="ko-KR" altLang="en-US" sz="300" dirty="0">
                <a:latin typeface="+mn-ea"/>
              </a:rPr>
              <a:t> </a:t>
            </a:r>
            <a:r>
              <a:rPr lang="ko-KR" altLang="en-US" sz="300" dirty="0" err="1">
                <a:latin typeface="+mn-ea"/>
              </a:rPr>
              <a:t>문병선</a:t>
            </a:r>
            <a:r>
              <a:rPr lang="en-US" altLang="ko-KR" sz="300" dirty="0">
                <a:latin typeface="+mn-ea"/>
              </a:rPr>
              <a:t>: </a:t>
            </a:r>
            <a:r>
              <a:rPr lang="ko-KR" altLang="ko-KR" sz="300" dirty="0" err="1"/>
              <a:t>OmniGibson</a:t>
            </a:r>
            <a:r>
              <a:rPr lang="ko-KR" altLang="ko-KR" sz="300" dirty="0"/>
              <a:t> 평가 환경 </a:t>
            </a:r>
            <a:r>
              <a:rPr lang="ko-KR" altLang="ko-KR" sz="300" dirty="0" err="1"/>
              <a:t>구축·영상</a:t>
            </a:r>
            <a:r>
              <a:rPr lang="ko-KR" altLang="ko-KR" sz="300" dirty="0"/>
              <a:t> 생성 및 결과 정리</a:t>
            </a:r>
            <a:endParaRPr lang="en-US" altLang="ko-KR" sz="300" dirty="0"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26A61D-12C0-0739-A1E6-47055D9A7D9B}"/>
              </a:ext>
            </a:extLst>
          </p:cNvPr>
          <p:cNvSpPr txBox="1"/>
          <p:nvPr/>
        </p:nvSpPr>
        <p:spPr>
          <a:xfrm>
            <a:off x="2509170" y="4226302"/>
            <a:ext cx="1271708" cy="1973489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674" b="1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marL="42813" indent="-42813">
              <a:buFont typeface="Arial" panose="020B0604020202020204" pitchFamily="34" charset="0"/>
              <a:buChar char="•"/>
            </a:pPr>
            <a:r>
              <a:rPr lang="en-US" altLang="ko-KR" sz="300" b="1" dirty="0">
                <a:latin typeface="+mn-ea"/>
              </a:rPr>
              <a:t>Model Architecture</a:t>
            </a:r>
          </a:p>
          <a:p>
            <a:r>
              <a:rPr lang="en-US" altLang="ko-KR" sz="300" dirty="0">
                <a:latin typeface="+mn-ea"/>
              </a:rPr>
              <a:t> </a:t>
            </a:r>
            <a:r>
              <a:rPr lang="en-US" altLang="ko-KR" sz="300" b="1" dirty="0">
                <a:latin typeface="+mn-ea"/>
              </a:rPr>
              <a:t>Backbone:</a:t>
            </a:r>
            <a:r>
              <a:rPr lang="en-US" altLang="ko-KR" sz="300" dirty="0">
                <a:latin typeface="+mn-ea"/>
              </a:rPr>
              <a:t> </a:t>
            </a:r>
            <a:r>
              <a:rPr lang="ko-KR" altLang="ko-KR" sz="300" dirty="0" err="1">
                <a:latin typeface="+mn-ea"/>
              </a:rPr>
              <a:t>OpenPI의</a:t>
            </a:r>
            <a:r>
              <a:rPr lang="ko-KR" altLang="ko-KR" sz="300" dirty="0">
                <a:latin typeface="+mn-ea"/>
              </a:rPr>
              <a:t> Pi0.5 기반 구조(</a:t>
            </a:r>
            <a:r>
              <a:rPr lang="ko-KR" altLang="ko-KR" sz="300" dirty="0" err="1">
                <a:latin typeface="+mn-ea"/>
              </a:rPr>
              <a:t>SigLIP</a:t>
            </a:r>
            <a:r>
              <a:rPr lang="en-US" altLang="ko-KR" sz="300" dirty="0">
                <a:latin typeface="+mn-ea"/>
              </a:rPr>
              <a:t> </a:t>
            </a:r>
            <a:r>
              <a:rPr lang="ko-KR" altLang="ko-KR" sz="300" dirty="0">
                <a:latin typeface="+mn-ea"/>
              </a:rPr>
              <a:t>+</a:t>
            </a:r>
            <a:r>
              <a:rPr lang="en-US" altLang="ko-KR" sz="300" dirty="0">
                <a:latin typeface="+mn-ea"/>
              </a:rPr>
              <a:t> </a:t>
            </a:r>
            <a:r>
              <a:rPr lang="ko-KR" altLang="ko-KR" sz="300" dirty="0" err="1">
                <a:latin typeface="+mn-ea"/>
              </a:rPr>
              <a:t>PaliGemma</a:t>
            </a:r>
            <a:r>
              <a:rPr lang="en-US" altLang="ko-KR" sz="300" dirty="0">
                <a:latin typeface="+mn-ea"/>
              </a:rPr>
              <a:t> + </a:t>
            </a:r>
            <a:r>
              <a:rPr lang="ko-KR" altLang="ko-KR" sz="300" dirty="0" err="1">
                <a:latin typeface="+mn-ea"/>
              </a:rPr>
              <a:t>Flow</a:t>
            </a:r>
            <a:r>
              <a:rPr lang="en-US" altLang="ko-KR" sz="300" dirty="0">
                <a:latin typeface="+mn-ea"/>
              </a:rPr>
              <a:t> </a:t>
            </a:r>
            <a:r>
              <a:rPr lang="ko-KR" altLang="ko-KR" sz="300" dirty="0" err="1">
                <a:latin typeface="+mn-ea"/>
              </a:rPr>
              <a:t>Matching</a:t>
            </a:r>
            <a:r>
              <a:rPr lang="en-US" altLang="ko-KR" sz="300" dirty="0">
                <a:latin typeface="+mn-ea"/>
              </a:rPr>
              <a:t> </a:t>
            </a:r>
            <a:r>
              <a:rPr lang="ko-KR" altLang="ko-KR" sz="300" dirty="0" err="1">
                <a:latin typeface="+mn-ea"/>
              </a:rPr>
              <a:t>Action</a:t>
            </a:r>
            <a:r>
              <a:rPr lang="ko-KR" altLang="ko-KR" sz="300" dirty="0">
                <a:latin typeface="+mn-ea"/>
              </a:rPr>
              <a:t> </a:t>
            </a:r>
            <a:r>
              <a:rPr lang="ko-KR" altLang="ko-KR" sz="300" dirty="0" err="1">
                <a:latin typeface="+mn-ea"/>
              </a:rPr>
              <a:t>Expert</a:t>
            </a:r>
            <a:r>
              <a:rPr lang="ko-KR" altLang="ko-KR" sz="300" dirty="0">
                <a:latin typeface="+mn-ea"/>
              </a:rPr>
              <a:t>)</a:t>
            </a:r>
            <a:endParaRPr lang="en-US" altLang="ko-KR" sz="300" dirty="0">
              <a:latin typeface="+mn-ea"/>
            </a:endParaRPr>
          </a:p>
          <a:p>
            <a:endParaRPr lang="en-US" altLang="ko-KR" sz="300" dirty="0">
              <a:latin typeface="+mn-ea"/>
            </a:endParaRPr>
          </a:p>
          <a:p>
            <a:r>
              <a:rPr lang="en-US" altLang="ko-KR" sz="300" b="1" dirty="0">
                <a:latin typeface="+mn-ea"/>
              </a:rPr>
              <a:t> System 2 Stage Tracking</a:t>
            </a:r>
            <a:endParaRPr lang="en-US" altLang="ko-KR" sz="300" dirty="0">
              <a:latin typeface="+mn-ea"/>
            </a:endParaRPr>
          </a:p>
          <a:p>
            <a:r>
              <a:rPr lang="en-US" altLang="ko-KR" sz="300" b="1" dirty="0">
                <a:latin typeface="+mn-ea"/>
              </a:rPr>
              <a:t> Task Embedding</a:t>
            </a:r>
            <a:endParaRPr lang="en-US" altLang="ko-KR" sz="300" dirty="0">
              <a:latin typeface="+mn-ea"/>
            </a:endParaRPr>
          </a:p>
          <a:p>
            <a:r>
              <a:rPr lang="en-US" altLang="ko-KR" sz="300" b="1" dirty="0">
                <a:latin typeface="+mn-ea"/>
              </a:rPr>
              <a:t> FAST Auxiliary</a:t>
            </a:r>
            <a:endParaRPr lang="en-US" altLang="ko-KR" sz="300" dirty="0">
              <a:latin typeface="+mn-ea"/>
            </a:endParaRPr>
          </a:p>
          <a:p>
            <a:r>
              <a:rPr lang="en-US" altLang="ko-KR" sz="300" b="1" dirty="0">
                <a:latin typeface="+mn-ea"/>
              </a:rPr>
              <a:t> Correlated Noise</a:t>
            </a:r>
            <a:endParaRPr lang="en-US" altLang="ko-KR" sz="300" dirty="0">
              <a:latin typeface="+mn-ea"/>
            </a:endParaRPr>
          </a:p>
          <a:p>
            <a:r>
              <a:rPr lang="en-US" altLang="ko-KR" sz="300" b="1" dirty="0">
                <a:latin typeface="+mn-ea"/>
              </a:rPr>
              <a:t> KV Transform</a:t>
            </a:r>
          </a:p>
          <a:p>
            <a:r>
              <a:rPr lang="en-US" altLang="ko-KR" sz="300" b="1" dirty="0">
                <a:latin typeface="+mn-ea"/>
              </a:rPr>
              <a:t> Custom Attention Masks</a:t>
            </a: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300" b="1" dirty="0">
              <a:latin typeface="+mn-ea"/>
            </a:endParaRPr>
          </a:p>
          <a:p>
            <a:endParaRPr lang="en-US" altLang="ko-KR" sz="450" b="1" dirty="0">
              <a:latin typeface="+mn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8B75AA-D85E-C3A4-7671-DD508ADE16BA}"/>
              </a:ext>
            </a:extLst>
          </p:cNvPr>
          <p:cNvSpPr txBox="1"/>
          <p:nvPr/>
        </p:nvSpPr>
        <p:spPr>
          <a:xfrm>
            <a:off x="2511249" y="4226302"/>
            <a:ext cx="501770" cy="161583"/>
          </a:xfrm>
          <a:prstGeom prst="rect">
            <a:avLst/>
          </a:prstGeom>
          <a:gradFill flip="none" rotWithShape="1"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  <a:tileRect/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50" b="1" dirty="0">
                <a:solidFill>
                  <a:schemeClr val="bg1"/>
                </a:solidFill>
                <a:latin typeface="+mn-ea"/>
              </a:rPr>
              <a:t>모델 구조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EC81771-B908-395D-7D63-8730307F9584}"/>
              </a:ext>
            </a:extLst>
          </p:cNvPr>
          <p:cNvGrpSpPr/>
          <p:nvPr/>
        </p:nvGrpSpPr>
        <p:grpSpPr>
          <a:xfrm>
            <a:off x="3780598" y="4521541"/>
            <a:ext cx="1269695" cy="1442574"/>
            <a:chOff x="530719" y="2641752"/>
            <a:chExt cx="10169298" cy="1155452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67BA1A4-385E-3AA0-0B3B-48717AC870FC}"/>
                </a:ext>
              </a:extLst>
            </p:cNvPr>
            <p:cNvSpPr txBox="1"/>
            <p:nvPr/>
          </p:nvSpPr>
          <p:spPr>
            <a:xfrm>
              <a:off x="530719" y="2641752"/>
              <a:ext cx="10169298" cy="11554526"/>
            </a:xfrm>
            <a:prstGeom prst="rect">
              <a:avLst/>
            </a:prstGeom>
            <a:noFill/>
            <a:ln w="57150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altLang="ko-KR" sz="674" b="1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  <a:p>
              <a:pPr algn="ctr"/>
              <a:endParaRPr lang="en-US" altLang="ko-KR" sz="450" dirty="0">
                <a:latin typeface="+mn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30C0648-3A2F-0131-FB4B-1DCD67DE1899}"/>
                </a:ext>
              </a:extLst>
            </p:cNvPr>
            <p:cNvSpPr txBox="1"/>
            <p:nvPr/>
          </p:nvSpPr>
          <p:spPr>
            <a:xfrm>
              <a:off x="545664" y="2679037"/>
              <a:ext cx="4019007" cy="1294225"/>
            </a:xfrm>
            <a:prstGeom prst="rect">
              <a:avLst/>
            </a:prstGeom>
            <a:gradFill>
              <a:gsLst>
                <a:gs pos="0">
                  <a:schemeClr val="accent4">
                    <a:shade val="30000"/>
                    <a:satMod val="115000"/>
                    <a:lumMod val="48000"/>
                    <a:alpha val="95000"/>
                  </a:schemeClr>
                </a:gs>
                <a:gs pos="50000">
                  <a:schemeClr val="accent4">
                    <a:lumMod val="50000"/>
                    <a:shade val="67500"/>
                    <a:satMod val="115000"/>
                  </a:schemeClr>
                </a:gs>
                <a:gs pos="100000">
                  <a:schemeClr val="accent4">
                    <a:lumMod val="50000"/>
                    <a:shade val="100000"/>
                    <a:satMod val="115000"/>
                  </a:schemeClr>
                </a:gs>
              </a:gsLst>
              <a:path path="rect">
                <a:fillToRect l="50000" t="50000" r="50000" b="50000"/>
              </a:path>
            </a:gradFill>
            <a:ln w="57150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50" b="1" dirty="0">
                  <a:solidFill>
                    <a:schemeClr val="bg1"/>
                  </a:solidFill>
                  <a:latin typeface="+mn-ea"/>
                </a:rPr>
                <a:t>결과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C4B32F19-1AD2-59DB-F0B3-02E986BA816C}"/>
              </a:ext>
            </a:extLst>
          </p:cNvPr>
          <p:cNvGrpSpPr/>
          <p:nvPr/>
        </p:nvGrpSpPr>
        <p:grpSpPr>
          <a:xfrm>
            <a:off x="3780825" y="5882483"/>
            <a:ext cx="1269629" cy="473078"/>
            <a:chOff x="518849" y="2676208"/>
            <a:chExt cx="10169298" cy="3580629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7BA84FD-51C9-6B5E-DE5D-64607CD4740D}"/>
                </a:ext>
              </a:extLst>
            </p:cNvPr>
            <p:cNvSpPr txBox="1"/>
            <p:nvPr/>
          </p:nvSpPr>
          <p:spPr>
            <a:xfrm>
              <a:off x="518849" y="2676208"/>
              <a:ext cx="10169298" cy="3580629"/>
            </a:xfrm>
            <a:prstGeom prst="rect">
              <a:avLst/>
            </a:prstGeom>
            <a:noFill/>
            <a:ln w="57150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altLang="ko-KR" sz="674" b="1" dirty="0">
                <a:latin typeface="+mn-ea"/>
              </a:endParaRPr>
            </a:p>
            <a:p>
              <a:pPr marL="42813" indent="-42813">
                <a:buFont typeface="Arial" panose="020B0604020202020204" pitchFamily="34" charset="0"/>
                <a:buChar char="•"/>
              </a:pPr>
              <a:r>
                <a:rPr lang="ko-KR" altLang="ko-KR" sz="300" dirty="0" err="1"/>
                <a:t>Loss는</a:t>
              </a:r>
              <a:r>
                <a:rPr lang="ko-KR" altLang="ko-KR" sz="300" dirty="0"/>
                <a:t> 안정적으로 감소했으나 실제 </a:t>
              </a:r>
              <a:r>
                <a:rPr lang="ko-KR" altLang="ko-KR" sz="300" dirty="0" err="1"/>
                <a:t>rollout</a:t>
              </a:r>
              <a:r>
                <a:rPr lang="ko-KR" altLang="ko-KR" sz="300" dirty="0"/>
                <a:t> 성능과 완전히 비례하지 않음</a:t>
              </a:r>
              <a:endParaRPr lang="en-US" altLang="ko-KR" sz="300" dirty="0"/>
            </a:p>
            <a:p>
              <a:pPr marL="42813" indent="-42813">
                <a:buFont typeface="Arial" panose="020B0604020202020204" pitchFamily="34" charset="0"/>
                <a:buChar char="•"/>
              </a:pPr>
              <a:r>
                <a:rPr lang="ko-KR" altLang="ko-KR" sz="300" dirty="0" err="1"/>
                <a:t>Out</a:t>
              </a:r>
              <a:r>
                <a:rPr lang="ko-KR" altLang="ko-KR" sz="300" dirty="0"/>
                <a:t>-of-</a:t>
              </a:r>
              <a:r>
                <a:rPr lang="ko-KR" altLang="ko-KR" sz="300" dirty="0" err="1"/>
                <a:t>Distribution</a:t>
              </a:r>
              <a:r>
                <a:rPr lang="ko-KR" altLang="ko-KR" sz="300" dirty="0"/>
                <a:t>(OOD) 상태 취약성</a:t>
              </a:r>
              <a:endParaRPr lang="en-US" altLang="ko-KR" sz="450" dirty="0">
                <a:latin typeface="+mn-ea"/>
              </a:endParaRPr>
            </a:p>
            <a:p>
              <a:pPr marL="42813" indent="-42813">
                <a:buFont typeface="Arial" panose="020B0604020202020204" pitchFamily="34" charset="0"/>
                <a:buChar char="•"/>
              </a:pPr>
              <a:r>
                <a:rPr lang="ko-KR" altLang="ko-KR" sz="300" dirty="0" err="1"/>
                <a:t>Stage</a:t>
              </a:r>
              <a:r>
                <a:rPr lang="ko-KR" altLang="ko-KR" sz="300" dirty="0"/>
                <a:t> </a:t>
              </a:r>
              <a:r>
                <a:rPr lang="ko-KR" altLang="ko-KR" sz="300" dirty="0" err="1"/>
                <a:t>Tracking</a:t>
              </a:r>
              <a:r>
                <a:rPr lang="ko-KR" altLang="ko-KR" sz="300" dirty="0"/>
                <a:t> 한계</a:t>
              </a:r>
              <a:endParaRPr lang="en-US" altLang="ko-KR" sz="300" dirty="0"/>
            </a:p>
            <a:p>
              <a:pPr marL="42813" indent="-42813">
                <a:buFont typeface="Arial" panose="020B0604020202020204" pitchFamily="34" charset="0"/>
                <a:buChar char="•"/>
              </a:pPr>
              <a:r>
                <a:rPr lang="ko-KR" altLang="ko-KR" sz="300" dirty="0"/>
                <a:t>제한된 GPU 자원 환경에서 </a:t>
              </a:r>
              <a:r>
                <a:rPr lang="ko-KR" altLang="ko-KR" sz="300" dirty="0" err="1"/>
                <a:t>stable</a:t>
              </a:r>
              <a:r>
                <a:rPr lang="ko-KR" altLang="ko-KR" sz="300" dirty="0"/>
                <a:t> </a:t>
              </a:r>
              <a:r>
                <a:rPr lang="ko-KR" altLang="ko-KR" sz="300" dirty="0" err="1"/>
                <a:t>training</a:t>
              </a:r>
              <a:r>
                <a:rPr lang="ko-KR" altLang="ko-KR" sz="300" dirty="0"/>
                <a:t> 및 </a:t>
              </a:r>
              <a:r>
                <a:rPr lang="ko-KR" altLang="ko-KR" sz="300" dirty="0" err="1"/>
                <a:t>rollout</a:t>
              </a:r>
              <a:r>
                <a:rPr lang="ko-KR" altLang="ko-KR" sz="300" dirty="0"/>
                <a:t> </a:t>
              </a:r>
              <a:r>
                <a:rPr lang="ko-KR" altLang="ko-KR" sz="300" dirty="0" err="1"/>
                <a:t>pipeline</a:t>
              </a:r>
              <a:r>
                <a:rPr lang="ko-KR" altLang="ko-KR" sz="300" dirty="0"/>
                <a:t> 검증</a:t>
              </a:r>
              <a:endParaRPr lang="en-US" altLang="ko-KR" sz="3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2CDF326-5257-9AED-0676-9B3040D78972}"/>
                </a:ext>
              </a:extLst>
            </p:cNvPr>
            <p:cNvSpPr txBox="1"/>
            <p:nvPr/>
          </p:nvSpPr>
          <p:spPr>
            <a:xfrm>
              <a:off x="522509" y="2690611"/>
              <a:ext cx="4019008" cy="1222988"/>
            </a:xfrm>
            <a:prstGeom prst="rect">
              <a:avLst/>
            </a:prstGeom>
            <a:gradFill>
              <a:gsLst>
                <a:gs pos="0">
                  <a:schemeClr val="accent4">
                    <a:shade val="30000"/>
                    <a:satMod val="115000"/>
                    <a:lumMod val="48000"/>
                    <a:alpha val="95000"/>
                  </a:schemeClr>
                </a:gs>
                <a:gs pos="50000">
                  <a:schemeClr val="accent4">
                    <a:lumMod val="50000"/>
                    <a:shade val="67500"/>
                    <a:satMod val="115000"/>
                  </a:schemeClr>
                </a:gs>
                <a:gs pos="100000">
                  <a:schemeClr val="accent4">
                    <a:lumMod val="50000"/>
                    <a:shade val="100000"/>
                    <a:satMod val="115000"/>
                  </a:schemeClr>
                </a:gs>
              </a:gsLst>
              <a:path path="rect">
                <a:fillToRect l="50000" t="50000" r="50000" b="50000"/>
              </a:path>
            </a:gradFill>
            <a:ln w="57150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50" b="1" dirty="0">
                  <a:solidFill>
                    <a:schemeClr val="bg1"/>
                  </a:solidFill>
                  <a:latin typeface="+mn-ea"/>
                </a:rPr>
                <a:t>결과 분석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2B7E9E23-A4B9-47D5-4A0D-B241E1F2049F}"/>
              </a:ext>
            </a:extLst>
          </p:cNvPr>
          <p:cNvSpPr txBox="1"/>
          <p:nvPr/>
        </p:nvSpPr>
        <p:spPr>
          <a:xfrm>
            <a:off x="2509170" y="6069508"/>
            <a:ext cx="1271494" cy="873188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674" b="1" dirty="0">
              <a:latin typeface="+mn-ea"/>
            </a:endParaRPr>
          </a:p>
          <a:p>
            <a:r>
              <a:rPr lang="en-US" altLang="ko-KR" sz="300" b="1" dirty="0">
                <a:latin typeface="+mn-ea"/>
              </a:rPr>
              <a:t> 1. Hardware Environment</a:t>
            </a:r>
          </a:p>
          <a:p>
            <a:r>
              <a:rPr lang="en-US" altLang="ko-KR" sz="300" dirty="0">
                <a:latin typeface="+mn-ea"/>
              </a:rPr>
              <a:t> A100 80GB GPU Server, RTX 5070 PC, Ubuntu + JAX/Flax</a:t>
            </a:r>
          </a:p>
          <a:p>
            <a:endParaRPr lang="en-US" altLang="ko-KR" sz="350" b="1" dirty="0">
              <a:latin typeface="+mn-ea"/>
            </a:endParaRPr>
          </a:p>
          <a:p>
            <a:r>
              <a:rPr lang="en-US" altLang="ko-KR" sz="300" b="1" dirty="0">
                <a:latin typeface="+mn-ea"/>
              </a:rPr>
              <a:t> 2. </a:t>
            </a:r>
            <a:r>
              <a:rPr lang="ko-KR" altLang="en-US" sz="300" b="1" dirty="0">
                <a:latin typeface="+mn-ea"/>
              </a:rPr>
              <a:t>실험 및 모델 경량화</a:t>
            </a:r>
            <a:endParaRPr lang="en-US" altLang="ko-KR" sz="300" b="1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  <a:p>
            <a:pPr algn="ctr"/>
            <a:endParaRPr lang="en-US" altLang="ko-KR" sz="45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09C2A2-C8D4-4271-EA33-35C6312F93C8}"/>
              </a:ext>
            </a:extLst>
          </p:cNvPr>
          <p:cNvSpPr txBox="1"/>
          <p:nvPr/>
        </p:nvSpPr>
        <p:spPr>
          <a:xfrm>
            <a:off x="2511653" y="6069508"/>
            <a:ext cx="501199" cy="161583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50" b="1" dirty="0">
                <a:solidFill>
                  <a:schemeClr val="bg1"/>
                </a:solidFill>
                <a:latin typeface="+mn-ea"/>
              </a:rPr>
              <a:t>실험 전략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EC2704-2B83-6385-71E3-0D0E8ABD844A}"/>
              </a:ext>
            </a:extLst>
          </p:cNvPr>
          <p:cNvSpPr txBox="1"/>
          <p:nvPr/>
        </p:nvSpPr>
        <p:spPr>
          <a:xfrm>
            <a:off x="2509170" y="6860750"/>
            <a:ext cx="2541123" cy="407676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sz="549" b="1" dirty="0">
              <a:latin typeface="+mn-ea"/>
            </a:endParaRPr>
          </a:p>
          <a:p>
            <a:r>
              <a:rPr lang="en-US" altLang="ko-KR" sz="300" dirty="0"/>
              <a:t>1.</a:t>
            </a:r>
            <a:r>
              <a:rPr lang="ko-KR" altLang="ko-KR" sz="300" dirty="0"/>
              <a:t> </a:t>
            </a:r>
            <a:r>
              <a:rPr lang="ko-KR" altLang="ko-KR" sz="300" dirty="0" err="1"/>
              <a:t>Ilia</a:t>
            </a:r>
            <a:r>
              <a:rPr lang="ko-KR" altLang="ko-KR" sz="300" dirty="0"/>
              <a:t> </a:t>
            </a:r>
            <a:r>
              <a:rPr lang="ko-KR" altLang="ko-KR" sz="300" dirty="0" err="1"/>
              <a:t>Larchenko</a:t>
            </a:r>
            <a:r>
              <a:rPr lang="ko-KR" altLang="ko-KR" sz="300" dirty="0"/>
              <a:t> </a:t>
            </a:r>
            <a:r>
              <a:rPr lang="ko-KR" altLang="ko-KR" sz="300" dirty="0" err="1"/>
              <a:t>et</a:t>
            </a:r>
            <a:r>
              <a:rPr lang="ko-KR" altLang="ko-KR" sz="300" dirty="0"/>
              <a:t> </a:t>
            </a:r>
            <a:r>
              <a:rPr lang="ko-KR" altLang="ko-KR" sz="300" dirty="0" err="1"/>
              <a:t>al</a:t>
            </a:r>
            <a:r>
              <a:rPr lang="ko-KR" altLang="ko-KR" sz="300" dirty="0"/>
              <a:t>., “</a:t>
            </a:r>
            <a:r>
              <a:rPr lang="ko-KR" altLang="ko-KR" sz="300" dirty="0" err="1"/>
              <a:t>Task</a:t>
            </a:r>
            <a:r>
              <a:rPr lang="ko-KR" altLang="ko-KR" sz="300" dirty="0"/>
              <a:t> </a:t>
            </a:r>
            <a:r>
              <a:rPr lang="ko-KR" altLang="ko-KR" sz="300" dirty="0" err="1"/>
              <a:t>Adaptation</a:t>
            </a:r>
            <a:r>
              <a:rPr lang="ko-KR" altLang="ko-KR" sz="300" dirty="0"/>
              <a:t> of </a:t>
            </a:r>
            <a:r>
              <a:rPr lang="ko-KR" altLang="ko-KR" sz="300" dirty="0" err="1"/>
              <a:t>Vision-Language-Action</a:t>
            </a:r>
            <a:r>
              <a:rPr lang="ko-KR" altLang="ko-KR" sz="300" dirty="0"/>
              <a:t> </a:t>
            </a:r>
            <a:r>
              <a:rPr lang="ko-KR" altLang="ko-KR" sz="300" dirty="0" err="1"/>
              <a:t>Model</a:t>
            </a:r>
            <a:r>
              <a:rPr lang="ko-KR" altLang="ko-KR" sz="300" dirty="0"/>
              <a:t>: 1st </a:t>
            </a:r>
            <a:r>
              <a:rPr lang="ko-KR" altLang="ko-KR" sz="300" dirty="0" err="1"/>
              <a:t>Place</a:t>
            </a:r>
            <a:r>
              <a:rPr lang="ko-KR" altLang="ko-KR" sz="300" dirty="0"/>
              <a:t> </a:t>
            </a:r>
            <a:r>
              <a:rPr lang="ko-KR" altLang="ko-KR" sz="300" dirty="0" err="1"/>
              <a:t>Solution</a:t>
            </a:r>
            <a:r>
              <a:rPr lang="ko-KR" altLang="ko-KR" sz="300" dirty="0"/>
              <a:t> </a:t>
            </a:r>
            <a:r>
              <a:rPr lang="ko-KR" altLang="ko-KR" sz="300" dirty="0" err="1"/>
              <a:t>for</a:t>
            </a:r>
            <a:r>
              <a:rPr lang="ko-KR" altLang="ko-KR" sz="300" dirty="0"/>
              <a:t> </a:t>
            </a:r>
            <a:r>
              <a:rPr lang="ko-KR" altLang="ko-KR" sz="300" dirty="0" err="1"/>
              <a:t>the</a:t>
            </a:r>
            <a:r>
              <a:rPr lang="ko-KR" altLang="ko-KR" sz="300" dirty="0"/>
              <a:t> 2025 BEHAVIOR </a:t>
            </a:r>
            <a:r>
              <a:rPr lang="ko-KR" altLang="ko-KR" sz="300" dirty="0" err="1"/>
              <a:t>Challenge</a:t>
            </a:r>
            <a:r>
              <a:rPr lang="ko-KR" altLang="ko-KR" sz="300" dirty="0"/>
              <a:t>”, 2025</a:t>
            </a:r>
            <a:br>
              <a:rPr lang="ko-KR" altLang="ko-KR" sz="300" dirty="0"/>
            </a:br>
            <a:r>
              <a:rPr lang="ko-KR" altLang="ko-KR" sz="300" dirty="0"/>
              <a:t>2. </a:t>
            </a:r>
            <a:r>
              <a:rPr lang="ko-KR" altLang="ko-KR" sz="300" dirty="0" err="1"/>
              <a:t>M</a:t>
            </a:r>
            <a:r>
              <a:rPr lang="ko-KR" altLang="ko-KR" sz="300" dirty="0"/>
              <a:t>. </a:t>
            </a:r>
            <a:r>
              <a:rPr lang="ko-KR" altLang="ko-KR" sz="300" dirty="0" err="1"/>
              <a:t>Torne</a:t>
            </a:r>
            <a:r>
              <a:rPr lang="ko-KR" altLang="ko-KR" sz="300" dirty="0"/>
              <a:t> </a:t>
            </a:r>
            <a:r>
              <a:rPr lang="ko-KR" altLang="ko-KR" sz="300" dirty="0" err="1"/>
              <a:t>et</a:t>
            </a:r>
            <a:r>
              <a:rPr lang="ko-KR" altLang="ko-KR" sz="300" dirty="0"/>
              <a:t> </a:t>
            </a:r>
            <a:r>
              <a:rPr lang="ko-KR" altLang="ko-KR" sz="300" dirty="0" err="1"/>
              <a:t>al</a:t>
            </a:r>
            <a:r>
              <a:rPr lang="ko-KR" altLang="ko-KR" sz="300" dirty="0"/>
              <a:t>.,</a:t>
            </a:r>
            <a:r>
              <a:rPr lang="en-US" altLang="ko-KR" sz="300" dirty="0"/>
              <a:t> </a:t>
            </a:r>
            <a:r>
              <a:rPr lang="ko-KR" altLang="ko-KR" sz="300" dirty="0"/>
              <a:t>“</a:t>
            </a:r>
            <a:r>
              <a:rPr lang="ko-KR" altLang="ko-KR" sz="300" dirty="0" err="1"/>
              <a:t>MeM</a:t>
            </a:r>
            <a:r>
              <a:rPr lang="ko-KR" altLang="ko-KR" sz="300" dirty="0"/>
              <a:t>: </a:t>
            </a:r>
            <a:r>
              <a:rPr lang="ko-KR" altLang="ko-KR" sz="300" dirty="0" err="1"/>
              <a:t>Multi-Scale</a:t>
            </a:r>
            <a:r>
              <a:rPr lang="ko-KR" altLang="ko-KR" sz="300" dirty="0"/>
              <a:t> </a:t>
            </a:r>
            <a:r>
              <a:rPr lang="ko-KR" altLang="ko-KR" sz="300" dirty="0" err="1"/>
              <a:t>Embodied</a:t>
            </a:r>
            <a:r>
              <a:rPr lang="ko-KR" altLang="ko-KR" sz="300" dirty="0"/>
              <a:t> </a:t>
            </a:r>
            <a:r>
              <a:rPr lang="ko-KR" altLang="ko-KR" sz="300" dirty="0" err="1"/>
              <a:t>Memory</a:t>
            </a:r>
            <a:r>
              <a:rPr lang="ko-KR" altLang="ko-KR" sz="300" dirty="0"/>
              <a:t> </a:t>
            </a:r>
            <a:r>
              <a:rPr lang="ko-KR" altLang="ko-KR" sz="300" dirty="0" err="1"/>
              <a:t>for</a:t>
            </a:r>
            <a:r>
              <a:rPr lang="ko-KR" altLang="ko-KR" sz="300" dirty="0"/>
              <a:t> </a:t>
            </a:r>
            <a:r>
              <a:rPr lang="ko-KR" altLang="ko-KR" sz="300" dirty="0" err="1"/>
              <a:t>Vision-Language-Action</a:t>
            </a:r>
            <a:r>
              <a:rPr lang="ko-KR" altLang="ko-KR" sz="300" dirty="0"/>
              <a:t> </a:t>
            </a:r>
            <a:r>
              <a:rPr lang="ko-KR" altLang="ko-KR" sz="300" dirty="0" err="1"/>
              <a:t>Models</a:t>
            </a:r>
            <a:r>
              <a:rPr lang="ko-KR" altLang="ko-KR" sz="300" dirty="0"/>
              <a:t>”, 2026</a:t>
            </a:r>
            <a:br>
              <a:rPr lang="ko-KR" altLang="ko-KR" sz="300" dirty="0"/>
            </a:br>
            <a:r>
              <a:rPr lang="ko-KR" altLang="ko-KR" sz="300" dirty="0"/>
              <a:t>3. </a:t>
            </a:r>
            <a:r>
              <a:rPr lang="ko-KR" altLang="ko-KR" sz="300" dirty="0" err="1"/>
              <a:t>Y</a:t>
            </a:r>
            <a:r>
              <a:rPr lang="ko-KR" altLang="ko-KR" sz="300" dirty="0"/>
              <a:t>. </a:t>
            </a:r>
            <a:r>
              <a:rPr lang="ko-KR" altLang="ko-KR" sz="300" dirty="0" err="1"/>
              <a:t>Tur</a:t>
            </a:r>
            <a:r>
              <a:rPr lang="ko-KR" altLang="ko-KR" sz="300" dirty="0"/>
              <a:t> </a:t>
            </a:r>
            <a:r>
              <a:rPr lang="ko-KR" altLang="ko-KR" sz="300" dirty="0" err="1"/>
              <a:t>et</a:t>
            </a:r>
            <a:r>
              <a:rPr lang="ko-KR" altLang="ko-KR" sz="300" dirty="0"/>
              <a:t> </a:t>
            </a:r>
            <a:r>
              <a:rPr lang="ko-KR" altLang="ko-KR" sz="300" dirty="0" err="1"/>
              <a:t>al</a:t>
            </a:r>
            <a:r>
              <a:rPr lang="ko-KR" altLang="ko-KR" sz="300" dirty="0"/>
              <a:t>.,</a:t>
            </a:r>
            <a:r>
              <a:rPr lang="en-US" altLang="ko-KR" sz="300" dirty="0"/>
              <a:t> </a:t>
            </a:r>
            <a:r>
              <a:rPr lang="ko-KR" altLang="ko-KR" sz="300" dirty="0"/>
              <a:t>“</a:t>
            </a:r>
            <a:r>
              <a:rPr lang="ko-KR" altLang="ko-KR" sz="300" dirty="0" err="1"/>
              <a:t>Recurrent-Depth</a:t>
            </a:r>
            <a:r>
              <a:rPr lang="ko-KR" altLang="ko-KR" sz="300" dirty="0"/>
              <a:t> VLA: </a:t>
            </a:r>
            <a:r>
              <a:rPr lang="ko-KR" altLang="ko-KR" sz="300" dirty="0" err="1"/>
              <a:t>Implicit</a:t>
            </a:r>
            <a:r>
              <a:rPr lang="ko-KR" altLang="ko-KR" sz="300" dirty="0"/>
              <a:t> </a:t>
            </a:r>
            <a:r>
              <a:rPr lang="ko-KR" altLang="ko-KR" sz="300" dirty="0" err="1"/>
              <a:t>Test</a:t>
            </a:r>
            <a:r>
              <a:rPr lang="ko-KR" altLang="ko-KR" sz="300" dirty="0"/>
              <a:t>-Time </a:t>
            </a:r>
            <a:r>
              <a:rPr lang="ko-KR" altLang="ko-KR" sz="300" dirty="0" err="1"/>
              <a:t>Compute</a:t>
            </a:r>
            <a:r>
              <a:rPr lang="ko-KR" altLang="ko-KR" sz="300" dirty="0"/>
              <a:t> </a:t>
            </a:r>
            <a:r>
              <a:rPr lang="ko-KR" altLang="ko-KR" sz="300" dirty="0" err="1"/>
              <a:t>Scaling</a:t>
            </a:r>
            <a:r>
              <a:rPr lang="ko-KR" altLang="ko-KR" sz="300" dirty="0"/>
              <a:t> of </a:t>
            </a:r>
            <a:r>
              <a:rPr lang="ko-KR" altLang="ko-KR" sz="300" dirty="0" err="1"/>
              <a:t>Vision-Language-Action</a:t>
            </a:r>
            <a:r>
              <a:rPr lang="ko-KR" altLang="ko-KR" sz="300" dirty="0"/>
              <a:t> </a:t>
            </a:r>
            <a:r>
              <a:rPr lang="ko-KR" altLang="ko-KR" sz="300" dirty="0" err="1"/>
              <a:t>Models</a:t>
            </a:r>
            <a:r>
              <a:rPr lang="ko-KR" altLang="ko-KR" sz="300" dirty="0"/>
              <a:t> </a:t>
            </a:r>
            <a:r>
              <a:rPr lang="ko-KR" altLang="ko-KR" sz="300" dirty="0" err="1"/>
              <a:t>via</a:t>
            </a:r>
            <a:r>
              <a:rPr lang="ko-KR" altLang="ko-KR" sz="300" dirty="0"/>
              <a:t> </a:t>
            </a:r>
            <a:r>
              <a:rPr lang="ko-KR" altLang="ko-KR" sz="300" dirty="0" err="1"/>
              <a:t>Latent</a:t>
            </a:r>
            <a:r>
              <a:rPr lang="ko-KR" altLang="ko-KR" sz="300" dirty="0"/>
              <a:t> </a:t>
            </a:r>
            <a:r>
              <a:rPr lang="ko-KR" altLang="ko-KR" sz="300" dirty="0" err="1"/>
              <a:t>Iterative</a:t>
            </a:r>
            <a:r>
              <a:rPr lang="ko-KR" altLang="ko-KR" sz="300" dirty="0"/>
              <a:t> </a:t>
            </a:r>
            <a:r>
              <a:rPr lang="ko-KR" altLang="ko-KR" sz="300" dirty="0" err="1"/>
              <a:t>Reasoning</a:t>
            </a:r>
            <a:r>
              <a:rPr lang="ko-KR" altLang="ko-KR" sz="300" dirty="0"/>
              <a:t>”, 2026</a:t>
            </a:r>
            <a:br>
              <a:rPr lang="ko-KR" altLang="ko-KR" sz="300" dirty="0"/>
            </a:br>
            <a:r>
              <a:rPr lang="ko-KR" altLang="ko-KR" sz="300" dirty="0"/>
              <a:t>4. </a:t>
            </a:r>
            <a:r>
              <a:rPr lang="ko-KR" altLang="ko-KR" sz="300" dirty="0" err="1"/>
              <a:t>Physical</a:t>
            </a:r>
            <a:r>
              <a:rPr lang="ko-KR" altLang="ko-KR" sz="300" dirty="0"/>
              <a:t> </a:t>
            </a:r>
            <a:r>
              <a:rPr lang="ko-KR" altLang="ko-KR" sz="300" dirty="0" err="1"/>
              <a:t>Intelligence</a:t>
            </a:r>
            <a:r>
              <a:rPr lang="ko-KR" altLang="ko-KR" sz="300" dirty="0"/>
              <a:t>,</a:t>
            </a:r>
            <a:r>
              <a:rPr lang="en-US" altLang="ko-KR" sz="300" dirty="0"/>
              <a:t> </a:t>
            </a:r>
            <a:r>
              <a:rPr lang="ko-KR" altLang="ko-KR" sz="300" dirty="0"/>
              <a:t>“π*0.6: </a:t>
            </a:r>
            <a:r>
              <a:rPr lang="ko-KR" altLang="ko-KR" sz="300" dirty="0" err="1"/>
              <a:t>A</a:t>
            </a:r>
            <a:r>
              <a:rPr lang="ko-KR" altLang="ko-KR" sz="300" dirty="0"/>
              <a:t> </a:t>
            </a:r>
            <a:r>
              <a:rPr lang="ko-KR" altLang="ko-KR" sz="300" dirty="0" err="1"/>
              <a:t>Vision-Language-Action</a:t>
            </a:r>
            <a:r>
              <a:rPr lang="ko-KR" altLang="ko-KR" sz="300" dirty="0"/>
              <a:t> </a:t>
            </a:r>
            <a:r>
              <a:rPr lang="ko-KR" altLang="ko-KR" sz="300" dirty="0" err="1"/>
              <a:t>Model</a:t>
            </a:r>
            <a:r>
              <a:rPr lang="ko-KR" altLang="ko-KR" sz="300" dirty="0"/>
              <a:t> </a:t>
            </a:r>
            <a:r>
              <a:rPr lang="ko-KR" altLang="ko-KR" sz="300" dirty="0" err="1"/>
              <a:t>That</a:t>
            </a:r>
            <a:r>
              <a:rPr lang="ko-KR" altLang="ko-KR" sz="300" dirty="0"/>
              <a:t> </a:t>
            </a:r>
            <a:r>
              <a:rPr lang="ko-KR" altLang="ko-KR" sz="300" dirty="0" err="1"/>
              <a:t>Learns</a:t>
            </a:r>
            <a:r>
              <a:rPr lang="ko-KR" altLang="ko-KR" sz="300" dirty="0"/>
              <a:t> </a:t>
            </a:r>
            <a:r>
              <a:rPr lang="ko-KR" altLang="ko-KR" sz="300" dirty="0" err="1"/>
              <a:t>From</a:t>
            </a:r>
            <a:r>
              <a:rPr lang="ko-KR" altLang="ko-KR" sz="300" dirty="0"/>
              <a:t> </a:t>
            </a:r>
            <a:r>
              <a:rPr lang="ko-KR" altLang="ko-KR" sz="300" dirty="0" err="1"/>
              <a:t>Experience</a:t>
            </a:r>
            <a:r>
              <a:rPr lang="ko-KR" altLang="ko-KR" sz="300" dirty="0"/>
              <a:t>”, 2025</a:t>
            </a:r>
            <a:endParaRPr lang="en-US" altLang="ko-KR" sz="450" dirty="0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55A3BA-B8CA-CFC2-B324-40802DD3C8F7}"/>
              </a:ext>
            </a:extLst>
          </p:cNvPr>
          <p:cNvSpPr txBox="1"/>
          <p:nvPr/>
        </p:nvSpPr>
        <p:spPr>
          <a:xfrm>
            <a:off x="2511163" y="6860749"/>
            <a:ext cx="502138" cy="161583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50" b="1" dirty="0">
                <a:solidFill>
                  <a:schemeClr val="bg1"/>
                </a:solidFill>
                <a:latin typeface="+mn-ea"/>
              </a:rPr>
              <a:t>참고 문헌</a:t>
            </a:r>
            <a:endParaRPr lang="en-US" altLang="ko-KR" sz="450" b="1" dirty="0">
              <a:solidFill>
                <a:schemeClr val="bg1"/>
              </a:solidFill>
              <a:latin typeface="+mn-ea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9ECEE2F-DA3C-A19B-0A1C-3EFB6CB0D3AF}"/>
              </a:ext>
            </a:extLst>
          </p:cNvPr>
          <p:cNvCxnSpPr>
            <a:cxnSpLocks/>
          </p:cNvCxnSpPr>
          <p:nvPr/>
        </p:nvCxnSpPr>
        <p:spPr>
          <a:xfrm>
            <a:off x="4414651" y="3883980"/>
            <a:ext cx="0" cy="492915"/>
          </a:xfrm>
          <a:prstGeom prst="line">
            <a:avLst/>
          </a:prstGeom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8D0F76D-4880-0354-E114-EE979387E359}"/>
              </a:ext>
            </a:extLst>
          </p:cNvPr>
          <p:cNvCxnSpPr>
            <a:cxnSpLocks/>
          </p:cNvCxnSpPr>
          <p:nvPr/>
        </p:nvCxnSpPr>
        <p:spPr>
          <a:xfrm>
            <a:off x="3813015" y="4395811"/>
            <a:ext cx="1204411" cy="0"/>
          </a:xfrm>
          <a:prstGeom prst="line">
            <a:avLst/>
          </a:prstGeom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그림 48">
            <a:extLst>
              <a:ext uri="{FF2B5EF4-FFF2-40B4-BE49-F238E27FC236}">
                <a16:creationId xmlns:a16="http://schemas.microsoft.com/office/drawing/2014/main" id="{0E319863-8D29-8677-0528-71E664C10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050" y="4335372"/>
            <a:ext cx="1197944" cy="645306"/>
          </a:xfrm>
          <a:prstGeom prst="rect">
            <a:avLst/>
          </a:prstGeom>
        </p:spPr>
      </p:pic>
      <p:sp>
        <p:nvSpPr>
          <p:cNvPr id="63" name="AutoShape 8">
            <a:extLst>
              <a:ext uri="{FF2B5EF4-FFF2-40B4-BE49-F238E27FC236}">
                <a16:creationId xmlns:a16="http://schemas.microsoft.com/office/drawing/2014/main" id="{FB9C8253-00AC-F309-D968-60B6A8055B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60810" y="5326780"/>
            <a:ext cx="38054" cy="3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1416" tIns="5708" rIns="11416" bIns="5708" numCol="1" anchor="t" anchorCtr="0" compatLnSpc="1">
            <a:prstTxWarp prst="textNoShape">
              <a:avLst/>
            </a:prstTxWarp>
          </a:bodyPr>
          <a:lstStyle/>
          <a:p>
            <a:endParaRPr lang="ko-KR" altLang="en-US" sz="225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8983FFBB-814B-2803-43F3-68CC70CD61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8864" y="5188921"/>
            <a:ext cx="1235122" cy="6336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95FFC5BA-CB4A-01E7-524A-DE54FC1B8E73}"/>
                  </a:ext>
                </a:extLst>
              </p:cNvPr>
              <p:cNvSpPr txBox="1"/>
              <p:nvPr/>
            </p:nvSpPr>
            <p:spPr>
              <a:xfrm>
                <a:off x="3999219" y="4885950"/>
                <a:ext cx="835810" cy="17363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ko-KR" sz="325" b="1" dirty="0"/>
                  <a:t>System2 </a:t>
                </a:r>
                <a:r>
                  <a:rPr lang="ko-KR" altLang="ko-KR" sz="325" b="1" dirty="0" err="1"/>
                  <a:t>stage</a:t>
                </a:r>
                <a:r>
                  <a:rPr lang="ko-KR" altLang="ko-KR" sz="325" b="1" dirty="0"/>
                  <a:t>/</a:t>
                </a:r>
                <a:r>
                  <a:rPr lang="ko-KR" altLang="ko-KR" sz="325" b="1" dirty="0" err="1"/>
                  <a:t>subtask</a:t>
                </a:r>
                <a:r>
                  <a:rPr lang="ko-KR" altLang="ko-KR" sz="325" b="1" dirty="0"/>
                  <a:t> </a:t>
                </a:r>
                <a:r>
                  <a:rPr lang="ko-KR" altLang="ko-KR" sz="325" b="1" dirty="0" err="1"/>
                  <a:t>prediction의</a:t>
                </a:r>
                <a:r>
                  <a:rPr lang="ko-KR" altLang="ko-KR" sz="325" b="1" dirty="0"/>
                  <a:t> 정확도</a:t>
                </a:r>
                <a:endParaRPr lang="en-US" altLang="ko-KR" sz="325" b="1" dirty="0"/>
              </a:p>
              <a:p>
                <a:pPr marL="42813" indent="-42813" algn="ctr">
                  <a:buFont typeface="Arial" panose="020B0604020202020204" pitchFamily="34" charset="0"/>
                  <a:buChar char="•"/>
                </a:pPr>
                <a:endParaRPr lang="en-US" altLang="ko-KR" sz="325" b="1" dirty="0">
                  <a:latin typeface="+mj-ea"/>
                  <a:ea typeface="+mj-ea"/>
                </a:endParaRPr>
              </a:p>
              <a:p>
                <a:pPr algn="ctr"/>
                <a:r>
                  <a:rPr lang="en-US" altLang="ko-KR" sz="325" dirty="0">
                    <a:latin typeface="+mj-ea"/>
                    <a:ea typeface="+mj-ea"/>
                  </a:rPr>
                  <a:t>Accuracy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325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Number</m:t>
                        </m:r>
                        <m: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of</m:t>
                        </m:r>
                        <m: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Correct</m:t>
                        </m:r>
                        <m: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Prediction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Total</m:t>
                        </m:r>
                        <m: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325">
                            <a:latin typeface="Cambria Math" panose="02040503050406030204" pitchFamily="18" charset="0"/>
                            <a:ea typeface="+mj-ea"/>
                          </a:rPr>
                          <m:t>Prediction</m:t>
                        </m:r>
                      </m:den>
                    </m:f>
                  </m:oMath>
                </a14:m>
                <a:endParaRPr lang="ko-KR" altLang="en-US" sz="325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95FFC5BA-CB4A-01E7-524A-DE54FC1B8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9219" y="4885950"/>
                <a:ext cx="835810" cy="173637"/>
              </a:xfrm>
              <a:prstGeom prst="rect">
                <a:avLst/>
              </a:prstGeom>
              <a:blipFill>
                <a:blip r:embed="rId6"/>
                <a:stretch>
                  <a:fillRect l="-1439" t="-6667" r="-2158" b="-666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5D4B410-2449-16E0-3BAA-69809814850A}"/>
                  </a:ext>
                </a:extLst>
              </p:cNvPr>
              <p:cNvSpPr txBox="1"/>
              <p:nvPr/>
            </p:nvSpPr>
            <p:spPr>
              <a:xfrm>
                <a:off x="4084565" y="5342164"/>
                <a:ext cx="665118" cy="154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o-KR" altLang="en-US" sz="325" b="1" dirty="0">
                    <a:latin typeface="+mj-ea"/>
                    <a:ea typeface="+mj-ea"/>
                  </a:rPr>
                  <a:t>모델의 전체 학습 손실</a:t>
                </a:r>
                <a:r>
                  <a:rPr lang="en-US" altLang="ko-KR" sz="325" b="1" dirty="0">
                    <a:latin typeface="+mj-ea"/>
                    <a:ea typeface="+mj-ea"/>
                  </a:rPr>
                  <a:t>(total loss)</a:t>
                </a:r>
              </a:p>
              <a:p>
                <a:pPr marL="42813" indent="-42813">
                  <a:buFont typeface="Arial" panose="020B0604020202020204" pitchFamily="34" charset="0"/>
                  <a:buChar char="•"/>
                </a:pPr>
                <a:endParaRPr lang="en-US" altLang="ko-KR" sz="325" i="1" dirty="0">
                  <a:latin typeface="+mj-ea"/>
                  <a:ea typeface="+mj-ea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325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𝐿</m:t>
                        </m:r>
                      </m:e>
                      <m:sub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ko-KR" altLang="en-US" sz="325" dirty="0">
                    <a:latin typeface="+mj-ea"/>
                    <a:ea typeface="+mj-ea"/>
                  </a:rPr>
                  <a:t> </a:t>
                </a:r>
                <a:r>
                  <a:rPr lang="en-US" altLang="ko-KR" sz="325" dirty="0">
                    <a:latin typeface="+mj-ea"/>
                    <a:ea typeface="+mj-ea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325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𝐿</m:t>
                        </m:r>
                      </m:e>
                      <m:sub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𝑎𝑐𝑡𝑖𝑜𝑛</m:t>
                        </m:r>
                      </m:sub>
                    </m:sSub>
                  </m:oMath>
                </a14:m>
                <a:r>
                  <a:rPr lang="ko-KR" altLang="en-US" sz="325" dirty="0">
                    <a:latin typeface="+mj-ea"/>
                    <a:ea typeface="+mj-ea"/>
                  </a:rPr>
                  <a:t> </a:t>
                </a:r>
                <a:r>
                  <a:rPr lang="en-US" altLang="ko-KR" sz="325" dirty="0">
                    <a:latin typeface="+mj-ea"/>
                    <a:ea typeface="+mj-ea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325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ko-KR" altLang="en-US" sz="325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sSubPr>
                          <m:e>
                            <m:r>
                              <a:rPr lang="ko-KR" altLang="en-US" sz="325" i="1">
                                <a:latin typeface="Cambria Math" panose="02040503050406030204" pitchFamily="18" charset="0"/>
                                <a:ea typeface="+mj-ea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ko-KR" sz="325" i="1">
                                <a:latin typeface="Cambria Math" panose="02040503050406030204" pitchFamily="18" charset="0"/>
                                <a:ea typeface="+mj-ea"/>
                              </a:rPr>
                              <m:t>𝑠</m:t>
                            </m:r>
                          </m:sub>
                        </m:sSub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𝐿</m:t>
                        </m:r>
                      </m:e>
                      <m:sub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𝑠𝑡𝑎𝑔𝑒</m:t>
                        </m:r>
                      </m:sub>
                    </m:sSub>
                  </m:oMath>
                </a14:m>
                <a:r>
                  <a:rPr lang="ko-KR" altLang="en-US" sz="325" dirty="0">
                    <a:latin typeface="+mj-ea"/>
                    <a:ea typeface="+mj-ea"/>
                  </a:rPr>
                  <a:t> </a:t>
                </a:r>
                <a:r>
                  <a:rPr lang="en-US" altLang="ko-KR" sz="325" dirty="0">
                    <a:latin typeface="+mj-ea"/>
                    <a:ea typeface="+mj-ea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325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325" i="1">
                            <a:latin typeface="Cambria Math" panose="02040503050406030204" pitchFamily="18" charset="0"/>
                            <a:ea typeface="+mj-ea"/>
                          </a:rPr>
                          <m:t>𝜆</m:t>
                        </m:r>
                      </m:e>
                      <m:sub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ko-KR" altLang="en-US" sz="325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𝐿</m:t>
                        </m:r>
                      </m:e>
                      <m:sub>
                        <m:r>
                          <a:rPr lang="en-US" altLang="ko-KR" sz="325" i="1">
                            <a:latin typeface="Cambria Math" panose="02040503050406030204" pitchFamily="18" charset="0"/>
                            <a:ea typeface="+mj-ea"/>
                          </a:rPr>
                          <m:t>𝐹𝐴𝑆𝑇</m:t>
                        </m:r>
                      </m:sub>
                    </m:sSub>
                  </m:oMath>
                </a14:m>
                <a:endParaRPr lang="ko-KR" altLang="en-US" sz="325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5D4B410-2449-16E0-3BAA-698098148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65" y="5342164"/>
                <a:ext cx="665118" cy="154145"/>
              </a:xfrm>
              <a:prstGeom prst="rect">
                <a:avLst/>
              </a:prstGeom>
              <a:blipFill>
                <a:blip r:embed="rId7"/>
                <a:stretch>
                  <a:fillRect l="-1802" r="-1802" b="-10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9" name="표 78">
            <a:extLst>
              <a:ext uri="{FF2B5EF4-FFF2-40B4-BE49-F238E27FC236}">
                <a16:creationId xmlns:a16="http://schemas.microsoft.com/office/drawing/2014/main" id="{48999F9D-D38D-4137-315A-515D9D102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877192"/>
              </p:ext>
            </p:extLst>
          </p:nvPr>
        </p:nvGraphicFramePr>
        <p:xfrm>
          <a:off x="2664319" y="6388728"/>
          <a:ext cx="960159" cy="45284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8694">
                  <a:extLst>
                    <a:ext uri="{9D8B030D-6E8A-4147-A177-3AD203B41FA5}">
                      <a16:colId xmlns:a16="http://schemas.microsoft.com/office/drawing/2014/main" val="75515524"/>
                    </a:ext>
                  </a:extLst>
                </a:gridCol>
                <a:gridCol w="370940">
                  <a:extLst>
                    <a:ext uri="{9D8B030D-6E8A-4147-A177-3AD203B41FA5}">
                      <a16:colId xmlns:a16="http://schemas.microsoft.com/office/drawing/2014/main" val="3559314400"/>
                    </a:ext>
                  </a:extLst>
                </a:gridCol>
                <a:gridCol w="350525">
                  <a:extLst>
                    <a:ext uri="{9D8B030D-6E8A-4147-A177-3AD203B41FA5}">
                      <a16:colId xmlns:a16="http://schemas.microsoft.com/office/drawing/2014/main" val="1007297346"/>
                    </a:ext>
                  </a:extLst>
                </a:gridCol>
              </a:tblGrid>
              <a:tr h="65237">
                <a:tc>
                  <a:txBody>
                    <a:bodyPr/>
                    <a:lstStyle/>
                    <a:p>
                      <a:pPr latinLnBrk="1"/>
                      <a:endParaRPr lang="ko-KR" altLang="en-US" sz="4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400" dirty="0"/>
                        <a:t>1</a:t>
                      </a:r>
                      <a:r>
                        <a:rPr lang="en-US" altLang="ko-KR" sz="400" baseline="30000" dirty="0"/>
                        <a:t>st</a:t>
                      </a:r>
                      <a:r>
                        <a:rPr lang="en-US" altLang="ko-KR" sz="400" dirty="0"/>
                        <a:t> </a:t>
                      </a:r>
                      <a:endParaRPr lang="ko-KR" altLang="en-US" sz="4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400" dirty="0"/>
                        <a:t>경량화 모델</a:t>
                      </a:r>
                    </a:p>
                  </a:txBody>
                  <a:tcPr marL="11416" marR="11416" marT="5708" marB="5708"/>
                </a:tc>
                <a:extLst>
                  <a:ext uri="{0D108BD9-81ED-4DB2-BD59-A6C34878D82A}">
                    <a16:rowId xmlns:a16="http://schemas.microsoft.com/office/drawing/2014/main" val="2583884862"/>
                  </a:ext>
                </a:extLst>
              </a:tr>
              <a:tr h="10274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00" dirty="0"/>
                        <a:t>GPU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H200 x 8</a:t>
                      </a:r>
                    </a:p>
                    <a:p>
                      <a:pPr algn="ctr" latinLnBrk="1"/>
                      <a:r>
                        <a:rPr lang="en-US" altLang="ko-KR" sz="300" dirty="0"/>
                        <a:t>RTX 4090 x</a:t>
                      </a:r>
                      <a:r>
                        <a:rPr lang="ko-KR" altLang="en-US" sz="300" dirty="0"/>
                        <a:t> </a:t>
                      </a:r>
                      <a:r>
                        <a:rPr lang="en-US" altLang="ko-KR" sz="300" dirty="0"/>
                        <a:t>20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A100 x 1</a:t>
                      </a:r>
                    </a:p>
                    <a:p>
                      <a:pPr algn="ctr" latinLnBrk="1"/>
                      <a:r>
                        <a:rPr lang="en-US" altLang="ko-KR" sz="300" dirty="0"/>
                        <a:t>RTX 5070 x 2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extLst>
                  <a:ext uri="{0D108BD9-81ED-4DB2-BD59-A6C34878D82A}">
                    <a16:rowId xmlns:a16="http://schemas.microsoft.com/office/drawing/2014/main" val="955945739"/>
                  </a:ext>
                </a:extLst>
              </a:tr>
              <a:tr h="5708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00" dirty="0"/>
                        <a:t>Task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50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12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extLst>
                  <a:ext uri="{0D108BD9-81ED-4DB2-BD59-A6C34878D82A}">
                    <a16:rowId xmlns:a16="http://schemas.microsoft.com/office/drawing/2014/main" val="714784605"/>
                  </a:ext>
                </a:extLst>
              </a:tr>
              <a:tr h="5708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00" dirty="0"/>
                        <a:t>Batch size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2048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16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extLst>
                  <a:ext uri="{0D108BD9-81ED-4DB2-BD59-A6C34878D82A}">
                    <a16:rowId xmlns:a16="http://schemas.microsoft.com/office/drawing/2014/main" val="4209851271"/>
                  </a:ext>
                </a:extLst>
              </a:tr>
              <a:tr h="5708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00" dirty="0"/>
                        <a:t>Step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200,000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70,000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extLst>
                  <a:ext uri="{0D108BD9-81ED-4DB2-BD59-A6C34878D82A}">
                    <a16:rowId xmlns:a16="http://schemas.microsoft.com/office/drawing/2014/main" val="2231449676"/>
                  </a:ext>
                </a:extLst>
              </a:tr>
              <a:tr h="5708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00" dirty="0"/>
                        <a:t>Flow sample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15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1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extLst>
                  <a:ext uri="{0D108BD9-81ED-4DB2-BD59-A6C34878D82A}">
                    <a16:rowId xmlns:a16="http://schemas.microsoft.com/office/drawing/2014/main" val="2162482212"/>
                  </a:ext>
                </a:extLst>
              </a:tr>
              <a:tr h="5708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00" dirty="0"/>
                        <a:t>evaluation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50 task x 10 instance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00" dirty="0"/>
                        <a:t>12 task x 1 instance</a:t>
                      </a:r>
                      <a:endParaRPr lang="ko-KR" altLang="en-US" sz="300" dirty="0"/>
                    </a:p>
                  </a:txBody>
                  <a:tcPr marL="11416" marR="11416" marT="5708" marB="5708"/>
                </a:tc>
                <a:extLst>
                  <a:ext uri="{0D108BD9-81ED-4DB2-BD59-A6C34878D82A}">
                    <a16:rowId xmlns:a16="http://schemas.microsoft.com/office/drawing/2014/main" val="1255022273"/>
                  </a:ext>
                </a:extLst>
              </a:tr>
            </a:tbl>
          </a:graphicData>
        </a:graphic>
      </p:graphicFrame>
      <p:sp>
        <p:nvSpPr>
          <p:cNvPr id="88" name="TextBox 87">
            <a:extLst>
              <a:ext uri="{FF2B5EF4-FFF2-40B4-BE49-F238E27FC236}">
                <a16:creationId xmlns:a16="http://schemas.microsoft.com/office/drawing/2014/main" id="{8BC2F8D5-B6FF-D3FA-99B9-5DE02FA7AD64}"/>
              </a:ext>
            </a:extLst>
          </p:cNvPr>
          <p:cNvSpPr txBox="1"/>
          <p:nvPr/>
        </p:nvSpPr>
        <p:spPr>
          <a:xfrm>
            <a:off x="3780664" y="6182279"/>
            <a:ext cx="1269629" cy="850105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674" b="1" dirty="0">
              <a:latin typeface="+mn-ea"/>
            </a:endParaRPr>
          </a:p>
          <a:p>
            <a:r>
              <a:rPr lang="en-US" altLang="ko-KR" sz="300" b="1" dirty="0"/>
              <a:t>1. </a:t>
            </a:r>
            <a:r>
              <a:rPr lang="ko-KR" altLang="en-US" sz="300" b="1" dirty="0"/>
              <a:t>학습 관련</a:t>
            </a:r>
            <a:endParaRPr lang="en-US" altLang="ko-KR" sz="300" b="1" dirty="0"/>
          </a:p>
          <a:p>
            <a:r>
              <a:rPr lang="ko-KR" altLang="ko-KR" sz="300" dirty="0"/>
              <a:t>학습 </a:t>
            </a:r>
            <a:r>
              <a:rPr lang="ko-KR" altLang="ko-KR" sz="300" dirty="0" err="1"/>
              <a:t>step</a:t>
            </a:r>
            <a:r>
              <a:rPr lang="ko-KR" altLang="ko-KR" sz="300" dirty="0"/>
              <a:t> 증가를 통한 장기 수렴 성능 분석</a:t>
            </a:r>
            <a:endParaRPr lang="en-US" altLang="ko-KR" sz="300" dirty="0"/>
          </a:p>
          <a:p>
            <a:r>
              <a:rPr lang="ko-KR" altLang="ko-KR" sz="300" dirty="0">
                <a:latin typeface="Arial" panose="020B0604020202020204" pitchFamily="34" charset="0"/>
              </a:rPr>
              <a:t>다양한 </a:t>
            </a:r>
            <a:r>
              <a:rPr lang="ko-KR" altLang="ko-KR" sz="300" dirty="0" err="1">
                <a:latin typeface="Arial" panose="020B0604020202020204" pitchFamily="34" charset="0"/>
              </a:rPr>
              <a:t>seed</a:t>
            </a:r>
            <a:r>
              <a:rPr lang="ko-KR" altLang="ko-KR" sz="300" dirty="0">
                <a:latin typeface="Arial" panose="020B0604020202020204" pitchFamily="34" charset="0"/>
              </a:rPr>
              <a:t> 기반 반복 실험을 통한 모델 재현성 검증 </a:t>
            </a:r>
          </a:p>
          <a:p>
            <a:pPr defTabSz="114168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300" dirty="0" err="1">
                <a:latin typeface="Arial" panose="020B0604020202020204" pitchFamily="34" charset="0"/>
              </a:rPr>
              <a:t>Task</a:t>
            </a:r>
            <a:r>
              <a:rPr lang="ko-KR" altLang="ko-KR" sz="300" dirty="0">
                <a:latin typeface="Arial" panose="020B0604020202020204" pitchFamily="34" charset="0"/>
              </a:rPr>
              <a:t> 수 확장을 통한 </a:t>
            </a:r>
            <a:r>
              <a:rPr lang="ko-KR" altLang="ko-KR" sz="300" dirty="0" err="1">
                <a:latin typeface="Arial" panose="020B0604020202020204" pitchFamily="34" charset="0"/>
              </a:rPr>
              <a:t>multi-task</a:t>
            </a:r>
            <a:r>
              <a:rPr lang="ko-KR" altLang="ko-KR" sz="300" dirty="0">
                <a:latin typeface="Arial" panose="020B0604020202020204" pitchFamily="34" charset="0"/>
              </a:rPr>
              <a:t> </a:t>
            </a:r>
            <a:r>
              <a:rPr lang="ko-KR" altLang="ko-KR" sz="300" dirty="0" err="1">
                <a:latin typeface="Arial" panose="020B0604020202020204" pitchFamily="34" charset="0"/>
              </a:rPr>
              <a:t>generalization</a:t>
            </a:r>
            <a:r>
              <a:rPr lang="ko-KR" altLang="ko-KR" sz="300" dirty="0">
                <a:latin typeface="Arial" panose="020B0604020202020204" pitchFamily="34" charset="0"/>
              </a:rPr>
              <a:t> 성능 분석 </a:t>
            </a:r>
            <a:endParaRPr lang="en-US" altLang="ko-KR" sz="300" dirty="0"/>
          </a:p>
          <a:p>
            <a:endParaRPr lang="en-US" altLang="ko-KR" sz="350" b="1" dirty="0">
              <a:latin typeface="+mn-ea"/>
            </a:endParaRPr>
          </a:p>
          <a:p>
            <a:r>
              <a:rPr lang="en-US" altLang="ko-KR" sz="300" b="1" dirty="0"/>
              <a:t>2. </a:t>
            </a:r>
            <a:r>
              <a:rPr lang="ko-KR" altLang="en-US" sz="300" b="1" dirty="0"/>
              <a:t>추가 </a:t>
            </a:r>
            <a:r>
              <a:rPr lang="en-US" altLang="ko-KR" sz="300" b="1" dirty="0"/>
              <a:t>VLA </a:t>
            </a:r>
            <a:r>
              <a:rPr lang="ko-KR" altLang="en-US" sz="300" b="1" dirty="0"/>
              <a:t>기술</a:t>
            </a:r>
            <a:endParaRPr lang="en-US" altLang="ko-KR" sz="300" b="1" dirty="0"/>
          </a:p>
          <a:p>
            <a:r>
              <a:rPr lang="ko-KR" altLang="ko-KR" sz="300" b="1" dirty="0" err="1"/>
              <a:t>MeM</a:t>
            </a:r>
            <a:r>
              <a:rPr lang="ko-KR" altLang="ko-KR" sz="300" b="1" dirty="0"/>
              <a:t> (</a:t>
            </a:r>
            <a:r>
              <a:rPr lang="ko-KR" altLang="ko-KR" sz="300" b="1" dirty="0" err="1"/>
              <a:t>Multi-Scale</a:t>
            </a:r>
            <a:r>
              <a:rPr lang="ko-KR" altLang="ko-KR" sz="300" b="1" dirty="0"/>
              <a:t> </a:t>
            </a:r>
            <a:r>
              <a:rPr lang="ko-KR" altLang="ko-KR" sz="300" b="1" dirty="0" err="1"/>
              <a:t>Embodied</a:t>
            </a:r>
            <a:r>
              <a:rPr lang="ko-KR" altLang="ko-KR" sz="300" b="1" dirty="0"/>
              <a:t> </a:t>
            </a:r>
            <a:r>
              <a:rPr lang="ko-KR" altLang="ko-KR" sz="300" b="1" dirty="0" err="1"/>
              <a:t>Memory</a:t>
            </a:r>
            <a:r>
              <a:rPr lang="ko-KR" altLang="ko-KR" sz="300" b="1" dirty="0"/>
              <a:t>)</a:t>
            </a:r>
            <a:r>
              <a:rPr lang="en-US" altLang="ko-KR" sz="300" b="1" dirty="0"/>
              <a:t>:</a:t>
            </a:r>
            <a:r>
              <a:rPr lang="ko-KR" altLang="ko-KR" sz="300" dirty="0"/>
              <a:t> </a:t>
            </a:r>
            <a:r>
              <a:rPr lang="ko-KR" altLang="ko-KR" sz="300" dirty="0" err="1"/>
              <a:t>short-term</a:t>
            </a:r>
            <a:r>
              <a:rPr lang="ko-KR" altLang="ko-KR" sz="300" dirty="0"/>
              <a:t> / </a:t>
            </a:r>
            <a:r>
              <a:rPr lang="ko-KR" altLang="ko-KR" sz="300" dirty="0" err="1"/>
              <a:t>long-term</a:t>
            </a:r>
            <a:r>
              <a:rPr lang="ko-KR" altLang="ko-KR" sz="300" dirty="0"/>
              <a:t> </a:t>
            </a:r>
            <a:r>
              <a:rPr lang="ko-KR" altLang="ko-KR" sz="300" dirty="0" err="1"/>
              <a:t>memory</a:t>
            </a:r>
            <a:r>
              <a:rPr lang="ko-KR" altLang="ko-KR" sz="300" dirty="0"/>
              <a:t> 기반 </a:t>
            </a:r>
            <a:r>
              <a:rPr lang="ko-KR" altLang="ko-KR" sz="300" dirty="0" err="1"/>
              <a:t>long-horizon</a:t>
            </a:r>
            <a:r>
              <a:rPr lang="ko-KR" altLang="ko-KR" sz="300" dirty="0"/>
              <a:t> </a:t>
            </a:r>
            <a:r>
              <a:rPr lang="ko-KR" altLang="ko-KR" sz="300" dirty="0" err="1"/>
              <a:t>task</a:t>
            </a:r>
            <a:r>
              <a:rPr lang="ko-KR" altLang="ko-KR" sz="300" dirty="0"/>
              <a:t> 안정성 향상</a:t>
            </a:r>
            <a:endParaRPr lang="en-US" altLang="ko-KR" sz="300" dirty="0"/>
          </a:p>
          <a:p>
            <a:r>
              <a:rPr lang="ko-KR" altLang="ko-KR" sz="300" b="1" dirty="0"/>
              <a:t>RD-VLA (</a:t>
            </a:r>
            <a:r>
              <a:rPr lang="ko-KR" altLang="ko-KR" sz="300" b="1" dirty="0" err="1"/>
              <a:t>Recurrent-Depth</a:t>
            </a:r>
            <a:r>
              <a:rPr lang="ko-KR" altLang="ko-KR" sz="300" b="1" dirty="0"/>
              <a:t> VLA)</a:t>
            </a:r>
            <a:r>
              <a:rPr lang="en-US" altLang="ko-KR" sz="300" b="1" dirty="0"/>
              <a:t>: </a:t>
            </a:r>
            <a:r>
              <a:rPr lang="ko-KR" altLang="ko-KR" sz="300" dirty="0" err="1"/>
              <a:t>latent</a:t>
            </a:r>
            <a:r>
              <a:rPr lang="ko-KR" altLang="ko-KR" sz="300" dirty="0"/>
              <a:t> </a:t>
            </a:r>
            <a:r>
              <a:rPr lang="ko-KR" altLang="ko-KR" sz="300" dirty="0" err="1"/>
              <a:t>action</a:t>
            </a:r>
            <a:r>
              <a:rPr lang="ko-KR" altLang="ko-KR" sz="300" dirty="0"/>
              <a:t> </a:t>
            </a:r>
            <a:r>
              <a:rPr lang="ko-KR" altLang="ko-KR" sz="300" dirty="0" err="1"/>
              <a:t>plan을</a:t>
            </a:r>
            <a:r>
              <a:rPr lang="ko-KR" altLang="ko-KR" sz="300" dirty="0"/>
              <a:t> 반복적으로 </a:t>
            </a:r>
            <a:r>
              <a:rPr lang="ko-KR" altLang="ko-KR" sz="300" dirty="0" err="1"/>
              <a:t>refinement하여</a:t>
            </a:r>
            <a:r>
              <a:rPr lang="ko-KR" altLang="ko-KR" sz="300" dirty="0"/>
              <a:t> </a:t>
            </a:r>
            <a:r>
              <a:rPr lang="ko-KR" altLang="ko-KR" sz="300" dirty="0" err="1"/>
              <a:t>long-horizon</a:t>
            </a:r>
            <a:r>
              <a:rPr lang="ko-KR" altLang="ko-KR" sz="300" dirty="0"/>
              <a:t> </a:t>
            </a:r>
            <a:r>
              <a:rPr lang="ko-KR" altLang="ko-KR" sz="300" dirty="0" err="1"/>
              <a:t>task에서</a:t>
            </a:r>
            <a:r>
              <a:rPr lang="ko-KR" altLang="ko-KR" sz="300" dirty="0"/>
              <a:t> 더 정밀한 </a:t>
            </a:r>
            <a:r>
              <a:rPr lang="ko-KR" altLang="ko-KR" sz="300" dirty="0" err="1"/>
              <a:t>action</a:t>
            </a:r>
            <a:r>
              <a:rPr lang="ko-KR" altLang="ko-KR" sz="300" dirty="0"/>
              <a:t> </a:t>
            </a:r>
            <a:r>
              <a:rPr lang="ko-KR" altLang="ko-KR" sz="300" dirty="0" err="1"/>
              <a:t>trajectory</a:t>
            </a:r>
            <a:r>
              <a:rPr lang="ko-KR" altLang="ko-KR" sz="300" dirty="0"/>
              <a:t> 생성</a:t>
            </a:r>
          </a:p>
          <a:p>
            <a:r>
              <a:rPr lang="ko-KR" altLang="ko-KR" sz="300" b="1" dirty="0"/>
              <a:t>π*0.6-lite </a:t>
            </a:r>
            <a:r>
              <a:rPr lang="ko-KR" altLang="ko-KR" sz="300" b="1" dirty="0" err="1"/>
              <a:t>Recovery</a:t>
            </a:r>
            <a:r>
              <a:rPr lang="ko-KR" altLang="ko-KR" sz="300" b="1" dirty="0"/>
              <a:t> </a:t>
            </a:r>
            <a:r>
              <a:rPr lang="ko-KR" altLang="ko-KR" sz="300" b="1" dirty="0" err="1"/>
              <a:t>Learning</a:t>
            </a:r>
            <a:r>
              <a:rPr lang="en-US" altLang="ko-KR" sz="300" b="1" dirty="0"/>
              <a:t>: </a:t>
            </a:r>
            <a:r>
              <a:rPr lang="ko-KR" altLang="ko-KR" sz="300" dirty="0"/>
              <a:t>실패 </a:t>
            </a:r>
            <a:r>
              <a:rPr lang="ko-KR" altLang="ko-KR" sz="300" dirty="0" err="1"/>
              <a:t>rollout과</a:t>
            </a:r>
            <a:r>
              <a:rPr lang="ko-KR" altLang="ko-KR" sz="300" dirty="0"/>
              <a:t> </a:t>
            </a:r>
            <a:r>
              <a:rPr lang="ko-KR" altLang="ko-KR" sz="300" dirty="0" err="1"/>
              <a:t>stage</a:t>
            </a:r>
            <a:r>
              <a:rPr lang="ko-KR" altLang="ko-KR" sz="300" dirty="0"/>
              <a:t>/</a:t>
            </a:r>
            <a:r>
              <a:rPr lang="ko-KR" altLang="ko-KR" sz="300" dirty="0" err="1"/>
              <a:t>value</a:t>
            </a:r>
            <a:r>
              <a:rPr lang="ko-KR" altLang="ko-KR" sz="300" dirty="0"/>
              <a:t> 정보를 활용하여 OOD 상태에서 </a:t>
            </a:r>
            <a:r>
              <a:rPr lang="ko-KR" altLang="ko-KR" sz="300" dirty="0" err="1"/>
              <a:t>recovery</a:t>
            </a:r>
            <a:r>
              <a:rPr lang="ko-KR" altLang="ko-KR" sz="300" dirty="0"/>
              <a:t> </a:t>
            </a:r>
            <a:r>
              <a:rPr lang="ko-KR" altLang="ko-KR" sz="300" dirty="0" err="1"/>
              <a:t>behavior</a:t>
            </a:r>
            <a:r>
              <a:rPr lang="ko-KR" altLang="ko-KR" sz="300" dirty="0"/>
              <a:t> 및 </a:t>
            </a:r>
            <a:r>
              <a:rPr lang="ko-KR" altLang="ko-KR" sz="300" dirty="0" err="1"/>
              <a:t>rollout</a:t>
            </a:r>
            <a:r>
              <a:rPr lang="ko-KR" altLang="ko-KR" sz="300" dirty="0"/>
              <a:t> </a:t>
            </a:r>
            <a:r>
              <a:rPr lang="ko-KR" altLang="ko-KR" sz="300" dirty="0" err="1"/>
              <a:t>robustness</a:t>
            </a:r>
            <a:r>
              <a:rPr lang="ko-KR" altLang="ko-KR" sz="300" dirty="0"/>
              <a:t> 향상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12367E2-2923-2FE1-2E7E-78D4E1A602A4}"/>
              </a:ext>
            </a:extLst>
          </p:cNvPr>
          <p:cNvSpPr txBox="1"/>
          <p:nvPr/>
        </p:nvSpPr>
        <p:spPr>
          <a:xfrm>
            <a:off x="3781121" y="6182560"/>
            <a:ext cx="501770" cy="161583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50" b="1" dirty="0">
                <a:solidFill>
                  <a:schemeClr val="bg1"/>
                </a:solidFill>
                <a:latin typeface="+mn-ea"/>
              </a:rPr>
              <a:t>향후 계획</a:t>
            </a: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967B010-75E5-F8F0-58B6-DD939BD4F9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5689" y="5491329"/>
            <a:ext cx="571967" cy="552644"/>
          </a:xfrm>
          <a:prstGeom prst="rect">
            <a:avLst/>
          </a:prstGeom>
        </p:spPr>
      </p:pic>
      <p:pic>
        <p:nvPicPr>
          <p:cNvPr id="98" name="그림 97">
            <a:extLst>
              <a:ext uri="{FF2B5EF4-FFF2-40B4-BE49-F238E27FC236}">
                <a16:creationId xmlns:a16="http://schemas.microsoft.com/office/drawing/2014/main" id="{4196D2DC-283E-6471-F5DA-2B9B9FE0AFF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5312" y="5431396"/>
            <a:ext cx="663549" cy="61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877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607</TotalTime>
  <Words>576</Words>
  <Application>Microsoft Office PowerPoint</Application>
  <PresentationFormat>사용자 지정</PresentationFormat>
  <Paragraphs>144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맑은 고딕</vt:lpstr>
      <vt:lpstr>Aptos</vt:lpstr>
      <vt:lpstr>Aptos Display</vt:lpstr>
      <vt:lpstr>Arial</vt:lpstr>
      <vt:lpstr>Cambria Math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강지호</dc:creator>
  <cp:lastModifiedBy>병선 문</cp:lastModifiedBy>
  <cp:revision>17</cp:revision>
  <dcterms:created xsi:type="dcterms:W3CDTF">2026-05-22T04:49:17Z</dcterms:created>
  <dcterms:modified xsi:type="dcterms:W3CDTF">2026-05-26T05:20:04Z</dcterms:modified>
</cp:coreProperties>
</file>