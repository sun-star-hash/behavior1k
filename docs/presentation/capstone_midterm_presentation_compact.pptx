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70" autoAdjust="0"/>
  </p:normalViewPr>
  <p:slideViewPr>
    <p:cSldViewPr snapToGrid="0">
      <p:cViewPr>
        <p:scale>
          <a:sx n="25" d="100"/>
          <a:sy n="25" d="100"/>
        </p:scale>
        <p:origin x="206" y="-13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CE3CB-5277-48E6-BCBF-B434DC32A1C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AD9B5-C3A7-43BC-9ED1-A76F64843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0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1pPr>
    <a:lvl2pPr marL="1239789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2pPr>
    <a:lvl3pPr marL="2479578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3pPr>
    <a:lvl4pPr marL="3719368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4pPr>
    <a:lvl5pPr marL="4959157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1" hangingPunct="1">
      <a:defRPr sz="3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AD9B5-C3A7-43BC-9ED1-A76F648430F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39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54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60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6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26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97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82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88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37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5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47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3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31A69-130F-4AFA-87E1-41757229F71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36860-EB71-4593-97E5-6A298007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3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그림 69">
            <a:extLst>
              <a:ext uri="{FF2B5EF4-FFF2-40B4-BE49-F238E27FC236}">
                <a16:creationId xmlns:a16="http://schemas.microsoft.com/office/drawing/2014/main" id="{960D056F-BB26-F74E-8730-70D872199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213" y="8854428"/>
            <a:ext cx="9892902" cy="5074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37C99B-9CE4-13DD-7E3A-61A600B1E6F9}"/>
              </a:ext>
            </a:extLst>
          </p:cNvPr>
          <p:cNvSpPr txBox="1"/>
          <p:nvPr/>
        </p:nvSpPr>
        <p:spPr>
          <a:xfrm>
            <a:off x="522513" y="436991"/>
            <a:ext cx="20338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/>
              <a:t>BEHAVIOR-1K </a:t>
            </a:r>
            <a:r>
              <a:rPr lang="ko-KR" altLang="en-US" sz="6000" b="1" dirty="0"/>
              <a:t>기반 양팔 로봇 정책 학습</a:t>
            </a:r>
            <a:endParaRPr lang="ko-KR" altLang="en-US" sz="5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791E0-6CF5-D63E-BD9E-794012C4381A}"/>
              </a:ext>
            </a:extLst>
          </p:cNvPr>
          <p:cNvSpPr txBox="1"/>
          <p:nvPr/>
        </p:nvSpPr>
        <p:spPr>
          <a:xfrm>
            <a:off x="512511" y="1767279"/>
            <a:ext cx="10179301" cy="830997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latin typeface="+mn-ea"/>
              </a:rPr>
              <a:t>지도 교수님</a:t>
            </a:r>
            <a:r>
              <a:rPr lang="en-US" altLang="ko-KR" sz="4800" b="1" dirty="0">
                <a:latin typeface="+mn-ea"/>
              </a:rPr>
              <a:t>: </a:t>
            </a:r>
            <a:r>
              <a:rPr lang="ko-KR" altLang="en-US" sz="4800" b="1" dirty="0" err="1">
                <a:latin typeface="+mn-ea"/>
              </a:rPr>
              <a:t>하종은</a:t>
            </a:r>
            <a:r>
              <a:rPr lang="ko-KR" altLang="en-US" sz="4800" b="1" dirty="0">
                <a:latin typeface="+mn-ea"/>
              </a:rPr>
              <a:t> 교수님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C29D6-F5C9-1FEE-2470-ECFA1AD996C6}"/>
              </a:ext>
            </a:extLst>
          </p:cNvPr>
          <p:cNvSpPr txBox="1"/>
          <p:nvPr/>
        </p:nvSpPr>
        <p:spPr>
          <a:xfrm>
            <a:off x="10691813" y="1767279"/>
            <a:ext cx="10175918" cy="830997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latin typeface="+mn-ea"/>
              </a:rPr>
              <a:t>조원</a:t>
            </a:r>
            <a:r>
              <a:rPr lang="en-US" altLang="ko-KR" sz="4800" b="1" dirty="0">
                <a:latin typeface="+mn-ea"/>
              </a:rPr>
              <a:t>: </a:t>
            </a:r>
            <a:r>
              <a:rPr lang="ko-KR" altLang="en-US" sz="4800" b="1" dirty="0">
                <a:latin typeface="+mn-ea"/>
              </a:rPr>
              <a:t>강지호</a:t>
            </a:r>
            <a:r>
              <a:rPr lang="en-US" altLang="ko-KR" sz="4800" b="1" dirty="0">
                <a:latin typeface="+mn-ea"/>
              </a:rPr>
              <a:t>, </a:t>
            </a:r>
            <a:r>
              <a:rPr lang="ko-KR" altLang="en-US" sz="4800" b="1" dirty="0" err="1">
                <a:latin typeface="+mn-ea"/>
              </a:rPr>
              <a:t>문병선</a:t>
            </a:r>
            <a:endParaRPr lang="ko-KR" altLang="en-US" sz="48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21E68-84F7-27E5-88B3-AD831848791A}"/>
              </a:ext>
            </a:extLst>
          </p:cNvPr>
          <p:cNvSpPr txBox="1"/>
          <p:nvPr/>
        </p:nvSpPr>
        <p:spPr>
          <a:xfrm>
            <a:off x="514201" y="2598276"/>
            <a:ext cx="10177612" cy="3570208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5400" b="1" dirty="0">
              <a:latin typeface="+mn-ea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BEHAVIOR-1K </a:t>
            </a:r>
            <a:r>
              <a:rPr lang="ko-KR" altLang="en-US" sz="2400" dirty="0">
                <a:latin typeface="+mn-ea"/>
              </a:rPr>
              <a:t>환경에서 </a:t>
            </a:r>
            <a:r>
              <a:rPr lang="en-US" altLang="ko-KR" sz="2400" dirty="0">
                <a:latin typeface="+mn-ea"/>
              </a:rPr>
              <a:t>Vision-Language-Action </a:t>
            </a:r>
            <a:r>
              <a:rPr lang="ko-KR" altLang="en-US" sz="2400" dirty="0">
                <a:latin typeface="+mn-ea"/>
              </a:rPr>
              <a:t>기반 양팔 로봇 조작 정책을 구현하고 평가</a:t>
            </a:r>
            <a:endParaRPr lang="en-US" altLang="ko-KR" sz="2400" dirty="0">
              <a:latin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ko-KR" altLang="ko-KR" sz="2400" dirty="0"/>
              <a:t>Pi0.5 기반 모델을 활용하여 장기 시퀀스 작업 수행 성능을 분석하고, </a:t>
            </a:r>
            <a:r>
              <a:rPr lang="ko-KR" altLang="ko-KR" sz="2400" dirty="0" err="1"/>
              <a:t>Flow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Matching</a:t>
            </a:r>
            <a:r>
              <a:rPr lang="ko-KR" altLang="ko-KR" sz="2400" dirty="0"/>
              <a:t> 기반 정책 학습 구조를 적용</a:t>
            </a:r>
            <a:endParaRPr lang="en-US" altLang="ko-KR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ko-KR" altLang="ko-KR" sz="2400" dirty="0" err="1"/>
              <a:t>OmniGibson</a:t>
            </a:r>
            <a:r>
              <a:rPr lang="ko-KR" altLang="ko-KR" sz="2400" dirty="0"/>
              <a:t> 환경에서 다양한 작업 수행 결과를 통해 모델의 실효성 검증</a:t>
            </a:r>
            <a:endParaRPr lang="en-US" altLang="ko-KR" sz="2400" dirty="0"/>
          </a:p>
          <a:p>
            <a:pPr algn="ctr"/>
            <a:endParaRPr lang="en-US" altLang="ko-K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A191C-5F83-480C-7015-4DA81E72DAFF}"/>
              </a:ext>
            </a:extLst>
          </p:cNvPr>
          <p:cNvSpPr txBox="1"/>
          <p:nvPr/>
        </p:nvSpPr>
        <p:spPr>
          <a:xfrm>
            <a:off x="530134" y="2598276"/>
            <a:ext cx="4019006" cy="646331"/>
          </a:xfrm>
          <a:prstGeom prst="rect">
            <a:avLst/>
          </a:prstGeom>
          <a:gradFill>
            <a:gsLst>
              <a:gs pos="0">
                <a:schemeClr val="accent4">
                  <a:shade val="30000"/>
                  <a:satMod val="115000"/>
                  <a:lumMod val="48000"/>
                  <a:alpha val="9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rect">
              <a:fillToRect l="50000" t="50000" r="50000" b="50000"/>
            </a:path>
          </a:gradFill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연구 목적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36297D-C66E-2FF3-A2C5-91FB5F095DDA}"/>
              </a:ext>
            </a:extLst>
          </p:cNvPr>
          <p:cNvSpPr txBox="1"/>
          <p:nvPr/>
        </p:nvSpPr>
        <p:spPr>
          <a:xfrm>
            <a:off x="10700123" y="2588074"/>
            <a:ext cx="10167608" cy="5940088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3600" b="1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16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BA792-A182-B99F-83BD-30DF7E0EBF88}"/>
              </a:ext>
            </a:extLst>
          </p:cNvPr>
          <p:cNvSpPr txBox="1"/>
          <p:nvPr/>
        </p:nvSpPr>
        <p:spPr>
          <a:xfrm>
            <a:off x="10691812" y="2598276"/>
            <a:ext cx="8112004" cy="646331"/>
          </a:xfrm>
          <a:prstGeom prst="rect">
            <a:avLst/>
          </a:prstGeom>
          <a:gradFill>
            <a:gsLst>
              <a:gs pos="0">
                <a:schemeClr val="accent4">
                  <a:shade val="30000"/>
                  <a:satMod val="115000"/>
                  <a:lumMod val="48000"/>
                  <a:alpha val="9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rect">
              <a:fillToRect l="50000" t="50000" r="50000" b="50000"/>
            </a:path>
          </a:gradFill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주차별 진행 상황 및 역할 분담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E37084-1706-89B6-3818-C425F45E15B4}"/>
              </a:ext>
            </a:extLst>
          </p:cNvPr>
          <p:cNvSpPr txBox="1"/>
          <p:nvPr/>
        </p:nvSpPr>
        <p:spPr>
          <a:xfrm>
            <a:off x="10691811" y="3343435"/>
            <a:ext cx="5084650" cy="4154984"/>
          </a:xfrm>
          <a:prstGeom prst="rect">
            <a:avLst/>
          </a:prstGeom>
          <a:noFill/>
          <a:ln w="57150"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1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en-US" sz="2400" dirty="0"/>
              <a:t>프로젝트 주제 선정 및 개발 </a:t>
            </a:r>
            <a:r>
              <a:rPr lang="en-US" altLang="ko-KR" sz="2400" dirty="0"/>
              <a:t>		</a:t>
            </a:r>
            <a:r>
              <a:rPr lang="ko-KR" altLang="en-US" sz="2400" dirty="0"/>
              <a:t>환경 조사</a:t>
            </a:r>
            <a:endParaRPr lang="en-US" altLang="ko-KR" sz="2400" dirty="0"/>
          </a:p>
          <a:p>
            <a:r>
              <a:rPr lang="en-US" altLang="ko-KR" sz="2400" dirty="0"/>
              <a:t> 2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ko-KR" sz="2400" dirty="0"/>
              <a:t>OpenPI·Pi0.5 기반 코드 구조 </a:t>
            </a:r>
            <a:r>
              <a:rPr lang="en-US" altLang="ko-KR" sz="2400" dirty="0"/>
              <a:t>		</a:t>
            </a:r>
            <a:r>
              <a:rPr lang="ko-KR" altLang="ko-KR" sz="2400" dirty="0"/>
              <a:t>분석 및 학습 파이프라인 구축</a:t>
            </a:r>
            <a:endParaRPr lang="en-US" altLang="ko-KR" sz="2400" dirty="0"/>
          </a:p>
          <a:p>
            <a:r>
              <a:rPr lang="en-US" altLang="ko-KR" sz="2400" dirty="0"/>
              <a:t> 3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ko-KR" sz="2400" dirty="0"/>
              <a:t>모델 구조 설계 및 실험 환경 </a:t>
            </a:r>
            <a:r>
              <a:rPr lang="en-US" altLang="ko-KR" sz="2400" dirty="0"/>
              <a:t>		</a:t>
            </a:r>
            <a:r>
              <a:rPr lang="ko-KR" altLang="ko-KR" sz="2400" dirty="0"/>
              <a:t>구성</a:t>
            </a:r>
            <a:endParaRPr lang="en-US" altLang="ko-KR" sz="2400" dirty="0"/>
          </a:p>
          <a:p>
            <a:r>
              <a:rPr lang="en-US" altLang="ko-KR" sz="2400" dirty="0"/>
              <a:t> 4</a:t>
            </a:r>
            <a:r>
              <a:rPr lang="ko-KR" altLang="en-US" sz="2400" dirty="0"/>
              <a:t>주차</a:t>
            </a:r>
            <a:r>
              <a:rPr lang="en-US" altLang="ko-KR" sz="2400" dirty="0"/>
              <a:t>:  </a:t>
            </a:r>
            <a:r>
              <a:rPr lang="ko-KR" altLang="ko-KR" sz="2400" dirty="0" err="1"/>
              <a:t>OmniGibson</a:t>
            </a:r>
            <a:r>
              <a:rPr lang="ko-KR" altLang="ko-KR" sz="2400" dirty="0"/>
              <a:t> 평가 환경 구축</a:t>
            </a:r>
            <a:endParaRPr lang="en-US" altLang="ko-KR" sz="2400" dirty="0"/>
          </a:p>
          <a:p>
            <a:r>
              <a:rPr lang="en-US" altLang="ko-KR" sz="2400" dirty="0"/>
              <a:t> 5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ko-KR" sz="2400" dirty="0"/>
              <a:t>실데이터 학습 파이프라인 </a:t>
            </a:r>
            <a:r>
              <a:rPr lang="en-US" altLang="ko-KR" sz="2400" dirty="0"/>
              <a:t>			</a:t>
            </a:r>
            <a:r>
              <a:rPr lang="ko-KR" altLang="ko-KR" sz="2400" dirty="0"/>
              <a:t>구현</a:t>
            </a:r>
            <a:endParaRPr lang="en-US" altLang="ko-KR" sz="2400" dirty="0"/>
          </a:p>
          <a:p>
            <a:r>
              <a:rPr lang="en-US" altLang="ko-KR" sz="2400" dirty="0"/>
              <a:t> 6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ko-KR" sz="2400" dirty="0"/>
              <a:t>메모리 최적화 및 학습 성능 </a:t>
            </a:r>
            <a:r>
              <a:rPr lang="en-US" altLang="ko-KR" sz="2400" dirty="0"/>
              <a:t>		</a:t>
            </a:r>
            <a:r>
              <a:rPr lang="ko-KR" altLang="ko-KR" sz="2400" dirty="0"/>
              <a:t>분석</a:t>
            </a:r>
            <a:r>
              <a:rPr lang="en-US" altLang="ko-KR" sz="2400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FBE48B-B887-151D-2BF6-D02E76534210}"/>
              </a:ext>
            </a:extLst>
          </p:cNvPr>
          <p:cNvSpPr txBox="1"/>
          <p:nvPr/>
        </p:nvSpPr>
        <p:spPr>
          <a:xfrm>
            <a:off x="15776460" y="3306162"/>
            <a:ext cx="5084650" cy="2954655"/>
          </a:xfrm>
          <a:prstGeom prst="rect">
            <a:avLst/>
          </a:prstGeom>
          <a:noFill/>
          <a:ln w="57150"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7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ko-KR" sz="2400" dirty="0"/>
              <a:t>학습 및 W&amp;B 로깅 시스템 </a:t>
            </a:r>
            <a:r>
              <a:rPr lang="en-US" altLang="ko-KR" sz="2400" dirty="0"/>
              <a:t>			</a:t>
            </a:r>
            <a:r>
              <a:rPr lang="ko-KR" altLang="ko-KR" sz="2400" dirty="0"/>
              <a:t>구축</a:t>
            </a:r>
            <a:endParaRPr lang="en-US" altLang="ko-KR" sz="2400" dirty="0"/>
          </a:p>
          <a:p>
            <a:r>
              <a:rPr lang="en-US" altLang="ko-KR" sz="2400" dirty="0"/>
              <a:t> 8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en-US" sz="2400" dirty="0"/>
              <a:t>경량화 모델 학습</a:t>
            </a:r>
            <a:endParaRPr lang="en-US" altLang="ko-KR" sz="2400" dirty="0"/>
          </a:p>
          <a:p>
            <a:r>
              <a:rPr lang="en-US" altLang="ko-KR" sz="2400" dirty="0"/>
              <a:t> 9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en-US" sz="2400" dirty="0"/>
              <a:t>경량화 모델 학습</a:t>
            </a:r>
            <a:endParaRPr lang="en-US" altLang="ko-KR" sz="2400" dirty="0"/>
          </a:p>
          <a:p>
            <a:r>
              <a:rPr lang="en-US" altLang="ko-KR" sz="2400" dirty="0"/>
              <a:t> 10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en-US" sz="2400" dirty="0"/>
              <a:t>경량화 모델 학습</a:t>
            </a:r>
            <a:endParaRPr lang="en-US" altLang="ko-KR" sz="2400" dirty="0"/>
          </a:p>
          <a:p>
            <a:r>
              <a:rPr lang="en-US" altLang="ko-KR" sz="2400" dirty="0"/>
              <a:t> 11</a:t>
            </a:r>
            <a:r>
              <a:rPr lang="ko-KR" altLang="en-US" sz="2400" dirty="0"/>
              <a:t>주차</a:t>
            </a:r>
            <a:r>
              <a:rPr lang="en-US" altLang="ko-KR" sz="2400" dirty="0"/>
              <a:t>: rollout </a:t>
            </a:r>
            <a:r>
              <a:rPr lang="ko-KR" altLang="en-US" sz="2400" dirty="0"/>
              <a:t>안정화 및 평가 개선</a:t>
            </a:r>
            <a:endParaRPr lang="en-US" altLang="ko-KR" sz="2400" dirty="0"/>
          </a:p>
          <a:p>
            <a:r>
              <a:rPr lang="en-US" altLang="ko-KR" sz="2400" dirty="0"/>
              <a:t> 12</a:t>
            </a:r>
            <a:r>
              <a:rPr lang="ko-KR" altLang="en-US" sz="2400" dirty="0"/>
              <a:t>주차</a:t>
            </a:r>
            <a:r>
              <a:rPr lang="en-US" altLang="ko-KR" sz="2400" dirty="0"/>
              <a:t>: </a:t>
            </a:r>
            <a:r>
              <a:rPr lang="ko-KR" altLang="ko-KR" sz="2400" dirty="0"/>
              <a:t>최종 실험 결과 정리</a:t>
            </a:r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28F00E-856C-97B8-EDC1-27E6B218DCA2}"/>
              </a:ext>
            </a:extLst>
          </p:cNvPr>
          <p:cNvSpPr txBox="1"/>
          <p:nvPr/>
        </p:nvSpPr>
        <p:spPr>
          <a:xfrm>
            <a:off x="10691811" y="7623380"/>
            <a:ext cx="10169298" cy="830997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n-ea"/>
              </a:rPr>
              <a:t> 강지호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ko-KR" sz="2400" dirty="0"/>
              <a:t>VLA 모델 </a:t>
            </a:r>
            <a:r>
              <a:rPr lang="ko-KR" altLang="ko-KR" sz="2400" dirty="0" err="1"/>
              <a:t>구현·학습</a:t>
            </a:r>
            <a:r>
              <a:rPr lang="ko-KR" altLang="ko-KR" sz="2400" dirty="0"/>
              <a:t> 및 핵심 알고리즘 실험 진행</a:t>
            </a:r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문병선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ko-KR" sz="2400" dirty="0" err="1"/>
              <a:t>OmniGibson</a:t>
            </a:r>
            <a:r>
              <a:rPr lang="ko-KR" altLang="ko-KR" sz="2400" dirty="0"/>
              <a:t> 평가 환경 </a:t>
            </a:r>
            <a:r>
              <a:rPr lang="ko-KR" altLang="ko-KR" sz="2400" dirty="0" err="1"/>
              <a:t>구축·영상</a:t>
            </a:r>
            <a:r>
              <a:rPr lang="ko-KR" altLang="ko-KR" sz="2400" dirty="0"/>
              <a:t> 생성 및 결과 정리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26A61D-12C0-0739-A1E6-47055D9A7D9B}"/>
              </a:ext>
            </a:extLst>
          </p:cNvPr>
          <p:cNvSpPr txBox="1"/>
          <p:nvPr/>
        </p:nvSpPr>
        <p:spPr>
          <a:xfrm>
            <a:off x="514202" y="6169960"/>
            <a:ext cx="10185952" cy="14773275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5400" b="1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+mn-ea"/>
              </a:rPr>
              <a:t>Model Architecture</a:t>
            </a:r>
          </a:p>
          <a:p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Backbone: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OpenPI의</a:t>
            </a:r>
            <a:r>
              <a:rPr lang="ko-KR" altLang="ko-KR" sz="2400" dirty="0">
                <a:latin typeface="+mn-ea"/>
              </a:rPr>
              <a:t> Pi0.5 기반 구조(</a:t>
            </a:r>
            <a:r>
              <a:rPr lang="ko-KR" altLang="ko-KR" sz="2400" dirty="0" err="1">
                <a:latin typeface="+mn-ea"/>
              </a:rPr>
              <a:t>SigLIP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ko-KR" sz="2400" dirty="0">
                <a:latin typeface="+mn-ea"/>
              </a:rPr>
              <a:t>+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PaliGemma</a:t>
            </a:r>
            <a:r>
              <a:rPr lang="en-US" altLang="ko-KR" sz="2400" dirty="0">
                <a:latin typeface="+mn-ea"/>
              </a:rPr>
              <a:t> + </a:t>
            </a:r>
            <a:r>
              <a:rPr lang="ko-KR" altLang="ko-KR" sz="2400" dirty="0" err="1">
                <a:latin typeface="+mn-ea"/>
              </a:rPr>
              <a:t>Flow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Matching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Action</a:t>
            </a:r>
            <a:r>
              <a:rPr lang="ko-KR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Expert</a:t>
            </a:r>
            <a:r>
              <a:rPr lang="ko-KR" altLang="ko-KR" sz="2400" dirty="0">
                <a:latin typeface="+mn-ea"/>
              </a:rPr>
              <a:t>)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System 2 Stage Tracking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Task Embedding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FAST Auxiliary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Correlated Noise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KV Transform</a:t>
            </a:r>
          </a:p>
          <a:p>
            <a:r>
              <a:rPr lang="en-US" altLang="ko-KR" sz="2400" b="1" dirty="0">
                <a:latin typeface="+mn-ea"/>
              </a:rPr>
              <a:t> Custom Attention Masks</a:t>
            </a: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endParaRPr lang="en-US" altLang="ko-KR" sz="3600" b="1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8B75AA-D85E-C3A4-7671-DD508ADE16BA}"/>
              </a:ext>
            </a:extLst>
          </p:cNvPr>
          <p:cNvSpPr txBox="1"/>
          <p:nvPr/>
        </p:nvSpPr>
        <p:spPr>
          <a:xfrm>
            <a:off x="530855" y="6169960"/>
            <a:ext cx="4019006" cy="646331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  <a:lumMod val="48000"/>
                  <a:alpha val="9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rect">
              <a:fillToRect l="50000" t="50000" r="50000" b="50000"/>
            </a:path>
            <a:tileRect/>
          </a:gradFill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모델 구조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EC81771-B908-395D-7D63-8730307F9584}"/>
              </a:ext>
            </a:extLst>
          </p:cNvPr>
          <p:cNvGrpSpPr/>
          <p:nvPr/>
        </p:nvGrpSpPr>
        <p:grpSpPr>
          <a:xfrm>
            <a:off x="10697906" y="8534723"/>
            <a:ext cx="10169825" cy="10895290"/>
            <a:chOff x="530719" y="2641752"/>
            <a:chExt cx="10169298" cy="108952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67BA1A4-385E-3AA0-0B3B-48717AC870FC}"/>
                </a:ext>
              </a:extLst>
            </p:cNvPr>
            <p:cNvSpPr txBox="1"/>
            <p:nvPr/>
          </p:nvSpPr>
          <p:spPr>
            <a:xfrm>
              <a:off x="530719" y="2641752"/>
              <a:ext cx="10169298" cy="10895290"/>
            </a:xfrm>
            <a:prstGeom prst="rect">
              <a:avLst/>
            </a:prstGeom>
            <a:noFill/>
            <a:ln w="57150">
              <a:solidFill>
                <a:schemeClr val="accent4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5400" b="1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  <a:p>
              <a:pPr algn="ctr"/>
              <a:endParaRPr lang="en-US" altLang="ko-KR" sz="3600" dirty="0"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0C0648-3A2F-0131-FB4B-1DCD67DE1899}"/>
                </a:ext>
              </a:extLst>
            </p:cNvPr>
            <p:cNvSpPr txBox="1"/>
            <p:nvPr/>
          </p:nvSpPr>
          <p:spPr>
            <a:xfrm>
              <a:off x="545663" y="2679034"/>
              <a:ext cx="4019006" cy="646331"/>
            </a:xfrm>
            <a:prstGeom prst="rect">
              <a:avLst/>
            </a:prstGeom>
            <a:gradFill>
              <a:gsLst>
                <a:gs pos="0">
                  <a:schemeClr val="accent4">
                    <a:shade val="30000"/>
                    <a:satMod val="115000"/>
                    <a:lumMod val="48000"/>
                    <a:alpha val="95000"/>
                  </a:schemeClr>
                </a:gs>
                <a:gs pos="50000">
                  <a:schemeClr val="accent4">
                    <a:lumMod val="50000"/>
                    <a:shade val="67500"/>
                    <a:satMod val="115000"/>
                  </a:schemeClr>
                </a:gs>
                <a:gs pos="100000">
                  <a:schemeClr val="accent4">
                    <a:lumMod val="50000"/>
                    <a:shade val="100000"/>
                    <a:satMod val="115000"/>
                  </a:schemeClr>
                </a:gs>
              </a:gsLst>
              <a:path path="rect">
                <a:fillToRect l="50000" t="50000" r="50000" b="50000"/>
              </a:path>
            </a:gradFill>
            <a:ln w="57150">
              <a:solidFill>
                <a:schemeClr val="accent4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b="1" dirty="0">
                  <a:solidFill>
                    <a:schemeClr val="bg1"/>
                  </a:solidFill>
                  <a:latin typeface="+mn-ea"/>
                </a:rPr>
                <a:t>결과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4B32F19-1AD2-59DB-F0B3-02E986BA816C}"/>
              </a:ext>
            </a:extLst>
          </p:cNvPr>
          <p:cNvGrpSpPr/>
          <p:nvPr/>
        </p:nvGrpSpPr>
        <p:grpSpPr>
          <a:xfrm>
            <a:off x="10699722" y="19435401"/>
            <a:ext cx="10169298" cy="2400657"/>
            <a:chOff x="518849" y="2676208"/>
            <a:chExt cx="10169298" cy="226852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7BA84FD-51C9-6B5E-DE5D-64607CD4740D}"/>
                </a:ext>
              </a:extLst>
            </p:cNvPr>
            <p:cNvSpPr txBox="1"/>
            <p:nvPr/>
          </p:nvSpPr>
          <p:spPr>
            <a:xfrm>
              <a:off x="518849" y="2676208"/>
              <a:ext cx="10169298" cy="2268526"/>
            </a:xfrm>
            <a:prstGeom prst="rect">
              <a:avLst/>
            </a:prstGeom>
            <a:noFill/>
            <a:ln w="57150">
              <a:solidFill>
                <a:schemeClr val="accent4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5400" b="1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400" dirty="0" err="1"/>
                <a:t>Loss는</a:t>
              </a:r>
              <a:r>
                <a:rPr lang="ko-KR" altLang="ko-KR" sz="2400" dirty="0"/>
                <a:t> 안정적으로 감소했으나 실제 </a:t>
              </a:r>
              <a:r>
                <a:rPr lang="ko-KR" altLang="ko-KR" sz="2400" dirty="0" err="1"/>
                <a:t>rollout</a:t>
              </a:r>
              <a:r>
                <a:rPr lang="ko-KR" altLang="ko-KR" sz="2400" dirty="0"/>
                <a:t> 성능과 완전히 비례하지 않음</a:t>
              </a:r>
              <a:endParaRPr lang="en-US" altLang="ko-KR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400" dirty="0" err="1"/>
                <a:t>Out</a:t>
              </a:r>
              <a:r>
                <a:rPr lang="ko-KR" altLang="ko-KR" sz="2400" dirty="0"/>
                <a:t>-of-</a:t>
              </a:r>
              <a:r>
                <a:rPr lang="ko-KR" altLang="ko-KR" sz="2400" dirty="0" err="1"/>
                <a:t>Distribution</a:t>
              </a:r>
              <a:r>
                <a:rPr lang="ko-KR" altLang="ko-KR" sz="2400" dirty="0"/>
                <a:t>(OOD) 상태 취약성</a:t>
              </a:r>
              <a:endParaRPr lang="en-US" altLang="ko-KR" sz="36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400" dirty="0" err="1"/>
                <a:t>Stage</a:t>
              </a:r>
              <a:r>
                <a:rPr lang="ko-KR" altLang="ko-KR" sz="2400" dirty="0"/>
                <a:t> </a:t>
              </a:r>
              <a:r>
                <a:rPr lang="ko-KR" altLang="ko-KR" sz="2400" dirty="0" err="1"/>
                <a:t>Tracking</a:t>
              </a:r>
              <a:r>
                <a:rPr lang="ko-KR" altLang="ko-KR" sz="2400" dirty="0"/>
                <a:t> 한계</a:t>
              </a:r>
              <a:endParaRPr lang="en-US" altLang="ko-KR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400" dirty="0"/>
                <a:t>제한된 GPU 자원 환경에서 </a:t>
              </a:r>
              <a:r>
                <a:rPr lang="ko-KR" altLang="en-US" sz="2400" dirty="0"/>
                <a:t>학습 </a:t>
              </a:r>
              <a:r>
                <a:rPr lang="ko-KR" altLang="ko-KR" sz="2400" dirty="0"/>
                <a:t>및 </a:t>
              </a:r>
              <a:r>
                <a:rPr lang="ko-KR" altLang="ko-KR" sz="2400" dirty="0" err="1"/>
                <a:t>rollout</a:t>
              </a:r>
              <a:r>
                <a:rPr lang="ko-KR" altLang="ko-KR" sz="2400" dirty="0"/>
                <a:t> </a:t>
              </a:r>
              <a:r>
                <a:rPr lang="ko-KR" altLang="ko-KR" sz="2400" dirty="0" err="1"/>
                <a:t>pipeline</a:t>
              </a:r>
              <a:r>
                <a:rPr lang="ko-KR" altLang="ko-KR" sz="2400" dirty="0"/>
                <a:t> 검증</a:t>
              </a:r>
              <a:endParaRPr lang="en-US" altLang="ko-KR" sz="2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2CDF326-5257-9AED-0676-9B3040D78972}"/>
                </a:ext>
              </a:extLst>
            </p:cNvPr>
            <p:cNvSpPr txBox="1"/>
            <p:nvPr/>
          </p:nvSpPr>
          <p:spPr>
            <a:xfrm>
              <a:off x="522513" y="2690609"/>
              <a:ext cx="4019006" cy="610757"/>
            </a:xfrm>
            <a:prstGeom prst="rect">
              <a:avLst/>
            </a:prstGeom>
            <a:gradFill>
              <a:gsLst>
                <a:gs pos="0">
                  <a:schemeClr val="accent4">
                    <a:shade val="30000"/>
                    <a:satMod val="115000"/>
                    <a:lumMod val="48000"/>
                    <a:alpha val="95000"/>
                  </a:schemeClr>
                </a:gs>
                <a:gs pos="50000">
                  <a:schemeClr val="accent4">
                    <a:lumMod val="50000"/>
                    <a:shade val="67500"/>
                    <a:satMod val="115000"/>
                  </a:schemeClr>
                </a:gs>
                <a:gs pos="100000">
                  <a:schemeClr val="accent4">
                    <a:lumMod val="50000"/>
                    <a:shade val="100000"/>
                    <a:satMod val="115000"/>
                  </a:schemeClr>
                </a:gs>
              </a:gsLst>
              <a:path path="rect">
                <a:fillToRect l="50000" t="50000" r="50000" b="50000"/>
              </a:path>
            </a:gradFill>
            <a:ln w="57150">
              <a:solidFill>
                <a:schemeClr val="accent4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b="1" dirty="0">
                  <a:solidFill>
                    <a:schemeClr val="bg1"/>
                  </a:solidFill>
                  <a:latin typeface="+mn-ea"/>
                </a:rPr>
                <a:t>결과 분석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B7E9E23-A4B9-47D5-4A0D-B241E1F2049F}"/>
              </a:ext>
            </a:extLst>
          </p:cNvPr>
          <p:cNvSpPr txBox="1"/>
          <p:nvPr/>
        </p:nvSpPr>
        <p:spPr>
          <a:xfrm>
            <a:off x="514201" y="20933409"/>
            <a:ext cx="10184232" cy="6340197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5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1. Hardware Environment</a:t>
            </a:r>
          </a:p>
          <a:p>
            <a:r>
              <a:rPr lang="en-US" altLang="ko-KR" sz="2400" dirty="0">
                <a:latin typeface="+mn-ea"/>
              </a:rPr>
              <a:t> A100 80GB GPU Server, RTX 5070 PC, Ubuntu + JAX/Flax</a:t>
            </a:r>
          </a:p>
          <a:p>
            <a:endParaRPr lang="en-US" altLang="ko-KR" sz="28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 2. </a:t>
            </a:r>
            <a:r>
              <a:rPr lang="ko-KR" altLang="en-US" sz="2400" b="1" dirty="0">
                <a:latin typeface="+mn-ea"/>
              </a:rPr>
              <a:t>실험 및 모델 경량화</a:t>
            </a:r>
            <a:endParaRPr lang="en-US" altLang="ko-KR" sz="2400" b="1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  <a:p>
            <a:pPr algn="ctr"/>
            <a:endParaRPr lang="en-US" altLang="ko-KR" sz="3600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9C2A2-C8D4-4271-EA33-35C6312F93C8}"/>
              </a:ext>
            </a:extLst>
          </p:cNvPr>
          <p:cNvSpPr txBox="1"/>
          <p:nvPr/>
        </p:nvSpPr>
        <p:spPr>
          <a:xfrm>
            <a:off x="534087" y="20933409"/>
            <a:ext cx="4014431" cy="646331"/>
          </a:xfrm>
          <a:prstGeom prst="rect">
            <a:avLst/>
          </a:prstGeom>
          <a:gradFill>
            <a:gsLst>
              <a:gs pos="0">
                <a:schemeClr val="accent4">
                  <a:shade val="30000"/>
                  <a:satMod val="115000"/>
                  <a:lumMod val="48000"/>
                  <a:alpha val="9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rect">
              <a:fillToRect l="50000" t="50000" r="50000" b="50000"/>
            </a:path>
          </a:gradFill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실험 전략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EC2704-2B83-6385-71E3-0D0E8ABD844A}"/>
              </a:ext>
            </a:extLst>
          </p:cNvPr>
          <p:cNvSpPr txBox="1"/>
          <p:nvPr/>
        </p:nvSpPr>
        <p:spPr>
          <a:xfrm>
            <a:off x="514202" y="27270982"/>
            <a:ext cx="20353529" cy="2268000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sz="4400" b="1" dirty="0">
              <a:latin typeface="+mn-ea"/>
            </a:endParaRPr>
          </a:p>
          <a:p>
            <a:r>
              <a:rPr lang="en-US" altLang="ko-KR" sz="2400" dirty="0"/>
              <a:t>1.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Ilia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Larchenko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al</a:t>
            </a:r>
            <a:r>
              <a:rPr lang="ko-KR" altLang="ko-KR" sz="2400" dirty="0"/>
              <a:t>., “</a:t>
            </a:r>
            <a:r>
              <a:rPr lang="ko-KR" altLang="ko-KR" sz="2400" dirty="0" err="1"/>
              <a:t>Task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Adaptation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Vision-Language-Action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Model</a:t>
            </a:r>
            <a:r>
              <a:rPr lang="ko-KR" altLang="ko-KR" sz="2400" dirty="0"/>
              <a:t>: 1st </a:t>
            </a:r>
            <a:r>
              <a:rPr lang="ko-KR" altLang="ko-KR" sz="2400" dirty="0" err="1"/>
              <a:t>Place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Solution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for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2025 BEHAVIOR </a:t>
            </a:r>
            <a:r>
              <a:rPr lang="ko-KR" altLang="ko-KR" sz="2400" dirty="0" err="1"/>
              <a:t>Challenge</a:t>
            </a:r>
            <a:r>
              <a:rPr lang="ko-KR" altLang="ko-KR" sz="2400" dirty="0"/>
              <a:t>”, 2025</a:t>
            </a:r>
            <a:br>
              <a:rPr lang="ko-KR" altLang="ko-KR" sz="2400" dirty="0"/>
            </a:br>
            <a:r>
              <a:rPr lang="ko-KR" altLang="ko-KR" sz="2400" dirty="0"/>
              <a:t>2. </a:t>
            </a:r>
            <a:r>
              <a:rPr lang="ko-KR" altLang="ko-KR" sz="2400" dirty="0" err="1"/>
              <a:t>M</a:t>
            </a:r>
            <a:r>
              <a:rPr lang="ko-KR" altLang="ko-KR" sz="2400" dirty="0"/>
              <a:t>. </a:t>
            </a:r>
            <a:r>
              <a:rPr lang="ko-KR" altLang="ko-KR" sz="2400" dirty="0" err="1"/>
              <a:t>Torne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al</a:t>
            </a:r>
            <a:r>
              <a:rPr lang="ko-KR" altLang="ko-KR" sz="2400" dirty="0"/>
              <a:t>.,</a:t>
            </a:r>
            <a:r>
              <a:rPr lang="en-US" altLang="ko-KR" sz="2400" dirty="0"/>
              <a:t> </a:t>
            </a:r>
            <a:r>
              <a:rPr lang="ko-KR" altLang="ko-KR" sz="2400" dirty="0"/>
              <a:t>“</a:t>
            </a:r>
            <a:r>
              <a:rPr lang="ko-KR" altLang="ko-KR" sz="2400" dirty="0" err="1"/>
              <a:t>MeM</a:t>
            </a:r>
            <a:r>
              <a:rPr lang="ko-KR" altLang="ko-KR" sz="2400" dirty="0"/>
              <a:t>: </a:t>
            </a:r>
            <a:r>
              <a:rPr lang="ko-KR" altLang="ko-KR" sz="2400" dirty="0" err="1"/>
              <a:t>Multi-Scale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Embodied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Memory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for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Vision-Language-Action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Models</a:t>
            </a:r>
            <a:r>
              <a:rPr lang="ko-KR" altLang="ko-KR" sz="2400" dirty="0"/>
              <a:t>”, 2026</a:t>
            </a:r>
            <a:br>
              <a:rPr lang="ko-KR" altLang="ko-KR" sz="2400" dirty="0"/>
            </a:br>
            <a:r>
              <a:rPr lang="ko-KR" altLang="ko-KR" sz="2400" dirty="0"/>
              <a:t>3. </a:t>
            </a:r>
            <a:r>
              <a:rPr lang="ko-KR" altLang="ko-KR" sz="2400" dirty="0" err="1"/>
              <a:t>Y</a:t>
            </a:r>
            <a:r>
              <a:rPr lang="ko-KR" altLang="ko-KR" sz="2400" dirty="0"/>
              <a:t>. </a:t>
            </a:r>
            <a:r>
              <a:rPr lang="ko-KR" altLang="ko-KR" sz="2400" dirty="0" err="1"/>
              <a:t>Tur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al</a:t>
            </a:r>
            <a:r>
              <a:rPr lang="ko-KR" altLang="ko-KR" sz="2400" dirty="0"/>
              <a:t>.,</a:t>
            </a:r>
            <a:r>
              <a:rPr lang="en-US" altLang="ko-KR" sz="2400" dirty="0"/>
              <a:t> </a:t>
            </a:r>
            <a:r>
              <a:rPr lang="ko-KR" altLang="ko-KR" sz="2400" dirty="0"/>
              <a:t>“</a:t>
            </a:r>
            <a:r>
              <a:rPr lang="ko-KR" altLang="ko-KR" sz="2400" dirty="0" err="1"/>
              <a:t>Recurrent-Depth</a:t>
            </a:r>
            <a:r>
              <a:rPr lang="ko-KR" altLang="ko-KR" sz="2400" dirty="0"/>
              <a:t> VLA: </a:t>
            </a:r>
            <a:r>
              <a:rPr lang="ko-KR" altLang="ko-KR" sz="2400" dirty="0" err="1"/>
              <a:t>Implicit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Test</a:t>
            </a:r>
            <a:r>
              <a:rPr lang="ko-KR" altLang="ko-KR" sz="2400" dirty="0"/>
              <a:t>-Time </a:t>
            </a:r>
            <a:r>
              <a:rPr lang="ko-KR" altLang="ko-KR" sz="2400" dirty="0" err="1"/>
              <a:t>Compute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Scaling</a:t>
            </a:r>
            <a:r>
              <a:rPr lang="ko-KR" altLang="ko-KR" sz="2400" dirty="0"/>
              <a:t> of </a:t>
            </a:r>
            <a:r>
              <a:rPr lang="ko-KR" altLang="ko-KR" sz="2400" dirty="0" err="1"/>
              <a:t>Vision-Language-Action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Models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via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Latent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Iterative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Reasoning</a:t>
            </a:r>
            <a:r>
              <a:rPr lang="ko-KR" altLang="ko-KR" sz="2400" dirty="0"/>
              <a:t>”, 2026</a:t>
            </a:r>
            <a:br>
              <a:rPr lang="ko-KR" altLang="ko-KR" sz="2400" dirty="0"/>
            </a:br>
            <a:r>
              <a:rPr lang="ko-KR" altLang="ko-KR" sz="2400" dirty="0"/>
              <a:t>4. </a:t>
            </a:r>
            <a:r>
              <a:rPr lang="ko-KR" altLang="ko-KR" sz="2400" dirty="0" err="1"/>
              <a:t>Physical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Intelligence</a:t>
            </a:r>
            <a:r>
              <a:rPr lang="ko-KR" altLang="ko-KR" sz="2400" dirty="0"/>
              <a:t>,</a:t>
            </a:r>
            <a:r>
              <a:rPr lang="en-US" altLang="ko-KR" sz="2400" dirty="0"/>
              <a:t> </a:t>
            </a:r>
            <a:r>
              <a:rPr lang="ko-KR" altLang="ko-KR" sz="2400" dirty="0"/>
              <a:t>“π*0.6: </a:t>
            </a:r>
            <a:r>
              <a:rPr lang="ko-KR" altLang="ko-KR" sz="2400" dirty="0" err="1"/>
              <a:t>A</a:t>
            </a:r>
            <a:r>
              <a:rPr lang="ko-KR" altLang="ko-KR" sz="2400" dirty="0"/>
              <a:t> </a:t>
            </a:r>
            <a:r>
              <a:rPr lang="ko-KR" altLang="ko-KR" sz="2400" dirty="0" err="1"/>
              <a:t>Vision-Language-Action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Model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That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Learns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From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Experience</a:t>
            </a:r>
            <a:r>
              <a:rPr lang="ko-KR" altLang="ko-KR" sz="2400" dirty="0"/>
              <a:t>”, 2025</a:t>
            </a:r>
            <a:endParaRPr lang="en-US" altLang="ko-KR" sz="3600" dirty="0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55A3BA-B8CA-CFC2-B324-40802DD3C8F7}"/>
              </a:ext>
            </a:extLst>
          </p:cNvPr>
          <p:cNvSpPr txBox="1"/>
          <p:nvPr/>
        </p:nvSpPr>
        <p:spPr>
          <a:xfrm>
            <a:off x="530160" y="27270982"/>
            <a:ext cx="4021957" cy="646330"/>
          </a:xfrm>
          <a:prstGeom prst="rect">
            <a:avLst/>
          </a:prstGeom>
          <a:gradFill>
            <a:gsLst>
              <a:gs pos="0">
                <a:schemeClr val="accent4">
                  <a:shade val="30000"/>
                  <a:satMod val="115000"/>
                  <a:lumMod val="48000"/>
                  <a:alpha val="9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rect">
              <a:fillToRect l="50000" t="50000" r="50000" b="50000"/>
            </a:path>
          </a:gradFill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참고 문헌</a:t>
            </a:r>
            <a:endParaRPr lang="en-US" altLang="ko-KR" sz="3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9ECEE2F-DA3C-A19B-0A1C-3EFB6CB0D3AF}"/>
              </a:ext>
            </a:extLst>
          </p:cNvPr>
          <p:cNvCxnSpPr>
            <a:cxnSpLocks/>
          </p:cNvCxnSpPr>
          <p:nvPr/>
        </p:nvCxnSpPr>
        <p:spPr>
          <a:xfrm>
            <a:off x="15776460" y="3428082"/>
            <a:ext cx="0" cy="3948078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8D0F76D-4880-0354-E114-EE979387E359}"/>
              </a:ext>
            </a:extLst>
          </p:cNvPr>
          <p:cNvCxnSpPr>
            <a:cxnSpLocks/>
          </p:cNvCxnSpPr>
          <p:nvPr/>
        </p:nvCxnSpPr>
        <p:spPr>
          <a:xfrm>
            <a:off x="10957560" y="7527669"/>
            <a:ext cx="9646920" cy="0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0E319863-8D29-8677-0528-71E664C10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0" y="7043570"/>
            <a:ext cx="9595121" cy="5168680"/>
          </a:xfrm>
          <a:prstGeom prst="rect">
            <a:avLst/>
          </a:prstGeom>
        </p:spPr>
      </p:pic>
      <p:sp>
        <p:nvSpPr>
          <p:cNvPr id="63" name="AutoShape 8">
            <a:extLst>
              <a:ext uri="{FF2B5EF4-FFF2-40B4-BE49-F238E27FC236}">
                <a16:creationId xmlns:a16="http://schemas.microsoft.com/office/drawing/2014/main" id="{FB9C8253-00AC-F309-D968-60B6A8055B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39413" y="149844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8983FFBB-814B-2803-43F3-68CC70CD6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4213" y="13880209"/>
            <a:ext cx="9892903" cy="5074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5FFC5BA-CB4A-01E7-524A-DE54FC1B8E73}"/>
                  </a:ext>
                </a:extLst>
              </p:cNvPr>
              <p:cNvSpPr txBox="1"/>
              <p:nvPr/>
            </p:nvSpPr>
            <p:spPr>
              <a:xfrm>
                <a:off x="12448985" y="11453512"/>
                <a:ext cx="6694550" cy="13847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ko-KR" sz="2600" b="1" dirty="0"/>
                  <a:t>System2 </a:t>
                </a:r>
                <a:r>
                  <a:rPr lang="ko-KR" altLang="ko-KR" sz="2600" b="1" dirty="0" err="1"/>
                  <a:t>stage</a:t>
                </a:r>
                <a:r>
                  <a:rPr lang="ko-KR" altLang="ko-KR" sz="2600" b="1" dirty="0"/>
                  <a:t>/</a:t>
                </a:r>
                <a:r>
                  <a:rPr lang="ko-KR" altLang="ko-KR" sz="2600" b="1" dirty="0" err="1"/>
                  <a:t>subtask</a:t>
                </a:r>
                <a:r>
                  <a:rPr lang="ko-KR" altLang="ko-KR" sz="2600" b="1" dirty="0"/>
                  <a:t> </a:t>
                </a:r>
                <a:r>
                  <a:rPr lang="ko-KR" altLang="ko-KR" sz="2600" b="1" dirty="0" err="1"/>
                  <a:t>prediction의</a:t>
                </a:r>
                <a:r>
                  <a:rPr lang="ko-KR" altLang="ko-KR" sz="2600" b="1" dirty="0"/>
                  <a:t> 정확도</a:t>
                </a:r>
                <a:endParaRPr lang="en-US" altLang="ko-KR" sz="2600" b="1" dirty="0"/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US" altLang="ko-KR" sz="2600" b="1" dirty="0">
                  <a:latin typeface="+mj-ea"/>
                  <a:ea typeface="+mj-ea"/>
                </a:endParaRPr>
              </a:p>
              <a:p>
                <a:pPr algn="ctr"/>
                <a:r>
                  <a:rPr lang="en-US" altLang="ko-KR" sz="2600" dirty="0">
                    <a:latin typeface="+mj-ea"/>
                    <a:ea typeface="+mj-ea"/>
                  </a:rPr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6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Number</m:t>
                        </m:r>
                        <m: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of</m:t>
                        </m:r>
                        <m: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Correct</m:t>
                        </m:r>
                        <m: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Prediction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Total</m:t>
                        </m:r>
                        <m: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600" b="0" i="0" smtClean="0">
                            <a:latin typeface="Cambria Math" panose="02040503050406030204" pitchFamily="18" charset="0"/>
                            <a:ea typeface="+mj-ea"/>
                          </a:rPr>
                          <m:t>Prediction</m:t>
                        </m:r>
                      </m:den>
                    </m:f>
                  </m:oMath>
                </a14:m>
                <a:endParaRPr lang="ko-KR" altLang="en-US" sz="26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5FFC5BA-CB4A-01E7-524A-DE54FC1B8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8985" y="11453512"/>
                <a:ext cx="6694550" cy="1384738"/>
              </a:xfrm>
              <a:prstGeom prst="rect">
                <a:avLst/>
              </a:prstGeom>
              <a:blipFill>
                <a:blip r:embed="rId6"/>
                <a:stretch>
                  <a:fillRect l="-1364" t="-7860" r="-1364" b="-61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5D4B410-2449-16E0-3BAA-69809814850A}"/>
                  </a:ext>
                </a:extLst>
              </p:cNvPr>
              <p:cNvSpPr txBox="1"/>
              <p:nvPr/>
            </p:nvSpPr>
            <p:spPr>
              <a:xfrm>
                <a:off x="13099945" y="15107630"/>
                <a:ext cx="5392630" cy="12382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o-KR" altLang="en-US" sz="2600" b="1" dirty="0">
                    <a:latin typeface="+mj-ea"/>
                    <a:ea typeface="+mj-ea"/>
                  </a:rPr>
                  <a:t>모델의 전체 학습 손실</a:t>
                </a:r>
                <a:r>
                  <a:rPr lang="en-US" altLang="ko-KR" sz="2600" b="1" dirty="0">
                    <a:latin typeface="+mj-ea"/>
                    <a:ea typeface="+mj-ea"/>
                  </a:rPr>
                  <a:t>(total loss)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600" i="1" dirty="0">
                  <a:latin typeface="+mj-ea"/>
                  <a:ea typeface="+mj-ea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6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+mj-ea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ko-KR" altLang="en-US" sz="2600" dirty="0">
                    <a:latin typeface="+mj-ea"/>
                    <a:ea typeface="+mj-ea"/>
                  </a:rPr>
                  <a:t> </a:t>
                </a:r>
                <a:r>
                  <a:rPr lang="en-US" altLang="ko-KR" sz="2600" dirty="0">
                    <a:latin typeface="+mj-ea"/>
                    <a:ea typeface="+mj-ea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6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2600" b="0" i="1"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+mj-ea"/>
                          </a:rPr>
                          <m:t>𝑎𝑐𝑡𝑖𝑜𝑛</m:t>
                        </m:r>
                      </m:sub>
                    </m:sSub>
                  </m:oMath>
                </a14:m>
                <a:r>
                  <a:rPr lang="ko-KR" altLang="en-US" sz="2600" dirty="0">
                    <a:latin typeface="+mj-ea"/>
                    <a:ea typeface="+mj-ea"/>
                  </a:rPr>
                  <a:t> </a:t>
                </a:r>
                <a:r>
                  <a:rPr lang="en-US" altLang="ko-KR" sz="2600" dirty="0">
                    <a:latin typeface="+mj-ea"/>
                    <a:ea typeface="+mj-ea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6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ko-KR" altLang="en-US" sz="2600" i="1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ko-KR" altLang="en-US" sz="2600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2600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𝑠</m:t>
                            </m:r>
                          </m:sub>
                        </m:sSub>
                        <m:r>
                          <a:rPr lang="en-US" altLang="ko-KR" sz="2600" b="0" i="1"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+mj-ea"/>
                          </a:rPr>
                          <m:t>𝑠𝑡𝑎𝑔𝑒</m:t>
                        </m:r>
                      </m:sub>
                    </m:sSub>
                  </m:oMath>
                </a14:m>
                <a:r>
                  <a:rPr lang="ko-KR" altLang="en-US" sz="2600" dirty="0">
                    <a:latin typeface="+mj-ea"/>
                    <a:ea typeface="+mj-ea"/>
                  </a:rPr>
                  <a:t> </a:t>
                </a:r>
                <a:r>
                  <a:rPr lang="en-US" altLang="ko-KR" sz="2600" dirty="0">
                    <a:latin typeface="+mj-ea"/>
                    <a:ea typeface="+mj-ea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6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en-US" sz="2600" b="0" i="1">
                            <a:latin typeface="Cambria Math" panose="02040503050406030204" pitchFamily="18" charset="0"/>
                            <a:ea typeface="+mj-ea"/>
                          </a:rPr>
                          <m:t>𝜆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+mj-ea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ko-KR" altLang="en-US" sz="26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2600" b="0" i="1"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+mj-ea"/>
                          </a:rPr>
                          <m:t>𝐹𝐴𝑆𝑇</m:t>
                        </m:r>
                      </m:sub>
                    </m:sSub>
                  </m:oMath>
                </a14:m>
                <a:endParaRPr lang="ko-KR" altLang="en-US" sz="26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5D4B410-2449-16E0-3BAA-698098148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9945" y="15107630"/>
                <a:ext cx="5392630" cy="1238224"/>
              </a:xfrm>
              <a:prstGeom prst="rect">
                <a:avLst/>
              </a:prstGeom>
              <a:blipFill>
                <a:blip r:embed="rId7"/>
                <a:stretch>
                  <a:fillRect t="-7317" b="-112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48999F9D-D38D-4137-315A-515D9D102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77192"/>
              </p:ext>
            </p:extLst>
          </p:nvPr>
        </p:nvGraphicFramePr>
        <p:xfrm>
          <a:off x="1756887" y="23490254"/>
          <a:ext cx="7690548" cy="3627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11858">
                  <a:extLst>
                    <a:ext uri="{9D8B030D-6E8A-4147-A177-3AD203B41FA5}">
                      <a16:colId xmlns:a16="http://schemas.microsoft.com/office/drawing/2014/main" val="75515524"/>
                    </a:ext>
                  </a:extLst>
                </a:gridCol>
                <a:gridCol w="2971101">
                  <a:extLst>
                    <a:ext uri="{9D8B030D-6E8A-4147-A177-3AD203B41FA5}">
                      <a16:colId xmlns:a16="http://schemas.microsoft.com/office/drawing/2014/main" val="3559314400"/>
                    </a:ext>
                  </a:extLst>
                </a:gridCol>
                <a:gridCol w="2807589">
                  <a:extLst>
                    <a:ext uri="{9D8B030D-6E8A-4147-A177-3AD203B41FA5}">
                      <a16:colId xmlns:a16="http://schemas.microsoft.com/office/drawing/2014/main" val="1007297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r>
                        <a:rPr lang="en-US" altLang="ko-KR" sz="2800" baseline="30000" dirty="0"/>
                        <a:t>st</a:t>
                      </a:r>
                      <a:r>
                        <a:rPr lang="en-US" altLang="ko-KR" sz="2800" dirty="0"/>
                        <a:t> 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경량화 모델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8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GPU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H200 x 8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RTX 4090 x</a:t>
                      </a:r>
                      <a:r>
                        <a:rPr lang="ko-KR" altLang="en-US" sz="2400" dirty="0"/>
                        <a:t> </a:t>
                      </a:r>
                      <a:r>
                        <a:rPr lang="en-US" altLang="ko-KR" sz="2400" dirty="0"/>
                        <a:t>20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A100 x 1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RTX 5070 x 2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4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Task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12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78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Batch size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2048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5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Step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200,000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70,000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49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Flow sample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48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evaluation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50 task x 10 instance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12 task x 1 instance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022273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8BC2F8D5-B6FF-D3FA-99B9-5DE02FA7AD64}"/>
              </a:ext>
            </a:extLst>
          </p:cNvPr>
          <p:cNvSpPr txBox="1"/>
          <p:nvPr/>
        </p:nvSpPr>
        <p:spPr>
          <a:xfrm>
            <a:off x="10698433" y="21836668"/>
            <a:ext cx="10169298" cy="5436000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5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1. </a:t>
            </a:r>
            <a:r>
              <a:rPr lang="ko-KR" altLang="en-US" sz="2400" b="1" dirty="0">
                <a:latin typeface="+mn-ea"/>
              </a:rPr>
              <a:t>학습 관련</a:t>
            </a:r>
            <a:endParaRPr lang="en-US" altLang="ko-KR" sz="2400" b="1" dirty="0">
              <a:latin typeface="+mn-ea"/>
            </a:endParaRPr>
          </a:p>
          <a:p>
            <a:r>
              <a:rPr lang="ko-KR" altLang="ko-KR" sz="2400" dirty="0">
                <a:latin typeface="+mn-ea"/>
              </a:rPr>
              <a:t>학습 </a:t>
            </a:r>
            <a:r>
              <a:rPr lang="ko-KR" altLang="ko-KR" sz="2400" dirty="0" err="1">
                <a:latin typeface="+mn-ea"/>
              </a:rPr>
              <a:t>step</a:t>
            </a:r>
            <a:r>
              <a:rPr lang="ko-KR" altLang="ko-KR" sz="2400" dirty="0">
                <a:latin typeface="+mn-ea"/>
              </a:rPr>
              <a:t> 증가를 통한 장기 수렴 성능 분석</a:t>
            </a:r>
            <a:endParaRPr lang="en-US" altLang="ko-KR" sz="2400" dirty="0">
              <a:latin typeface="+mn-ea"/>
            </a:endParaRPr>
          </a:p>
          <a:p>
            <a:r>
              <a:rPr lang="ko-KR" altLang="ko-KR" sz="2400" dirty="0">
                <a:latin typeface="+mn-ea"/>
              </a:rPr>
              <a:t>다양한 </a:t>
            </a:r>
            <a:r>
              <a:rPr lang="ko-KR" altLang="ko-KR" sz="2400" dirty="0" err="1">
                <a:latin typeface="+mn-ea"/>
              </a:rPr>
              <a:t>seed</a:t>
            </a:r>
            <a:r>
              <a:rPr lang="ko-KR" altLang="ko-KR" sz="2400" dirty="0">
                <a:latin typeface="+mn-ea"/>
              </a:rPr>
              <a:t> 기반 반복 실험을 통한 모델 재현성 검증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2400" dirty="0" err="1">
                <a:latin typeface="+mn-ea"/>
              </a:rPr>
              <a:t>Task</a:t>
            </a:r>
            <a:r>
              <a:rPr lang="ko-KR" altLang="ko-KR" sz="2400" dirty="0">
                <a:latin typeface="+mn-ea"/>
              </a:rPr>
              <a:t> 수 확장을 통한 </a:t>
            </a:r>
            <a:r>
              <a:rPr lang="ko-KR" altLang="ko-KR" sz="2400" dirty="0" err="1">
                <a:latin typeface="+mn-ea"/>
              </a:rPr>
              <a:t>multi-task</a:t>
            </a:r>
            <a:r>
              <a:rPr lang="ko-KR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generalization</a:t>
            </a:r>
            <a:r>
              <a:rPr lang="ko-KR" altLang="ko-KR" sz="2400" dirty="0">
                <a:latin typeface="+mn-ea"/>
              </a:rPr>
              <a:t> 성능 분석 </a:t>
            </a:r>
            <a:endParaRPr lang="en-US" altLang="ko-KR" sz="2400" dirty="0">
              <a:latin typeface="+mn-ea"/>
            </a:endParaRPr>
          </a:p>
          <a:p>
            <a:endParaRPr lang="en-US" altLang="ko-KR" sz="28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2. </a:t>
            </a:r>
            <a:r>
              <a:rPr lang="ko-KR" altLang="en-US" sz="2400" b="1" dirty="0">
                <a:latin typeface="+mn-ea"/>
              </a:rPr>
              <a:t>추가 </a:t>
            </a:r>
            <a:r>
              <a:rPr lang="en-US" altLang="ko-KR" sz="2400" b="1" dirty="0">
                <a:latin typeface="+mn-ea"/>
              </a:rPr>
              <a:t>VLA </a:t>
            </a:r>
            <a:r>
              <a:rPr lang="ko-KR" altLang="en-US" sz="2400" b="1" dirty="0">
                <a:latin typeface="+mn-ea"/>
              </a:rPr>
              <a:t>기술</a:t>
            </a:r>
            <a:endParaRPr lang="en-US" altLang="ko-KR" sz="2400" b="1" dirty="0">
              <a:latin typeface="+mn-ea"/>
            </a:endParaRPr>
          </a:p>
          <a:p>
            <a:r>
              <a:rPr lang="ko-KR" altLang="ko-KR" sz="2400" b="1" dirty="0" err="1">
                <a:latin typeface="+mn-ea"/>
              </a:rPr>
              <a:t>MeM</a:t>
            </a:r>
            <a:r>
              <a:rPr lang="ko-KR" altLang="ko-KR" sz="2400" b="1" dirty="0">
                <a:latin typeface="+mn-ea"/>
              </a:rPr>
              <a:t> (</a:t>
            </a:r>
            <a:r>
              <a:rPr lang="ko-KR" altLang="ko-KR" sz="2400" b="1" dirty="0" err="1">
                <a:latin typeface="+mn-ea"/>
              </a:rPr>
              <a:t>Multi-Scale</a:t>
            </a:r>
            <a:r>
              <a:rPr lang="ko-KR" altLang="ko-KR" sz="2400" b="1" dirty="0">
                <a:latin typeface="+mn-ea"/>
              </a:rPr>
              <a:t> </a:t>
            </a:r>
            <a:r>
              <a:rPr lang="ko-KR" altLang="ko-KR" sz="2400" b="1" dirty="0" err="1">
                <a:latin typeface="+mn-ea"/>
              </a:rPr>
              <a:t>Embodied</a:t>
            </a:r>
            <a:r>
              <a:rPr lang="ko-KR" altLang="ko-KR" sz="2400" b="1" dirty="0">
                <a:latin typeface="+mn-ea"/>
              </a:rPr>
              <a:t> </a:t>
            </a:r>
            <a:r>
              <a:rPr lang="ko-KR" altLang="ko-KR" sz="2400" b="1" dirty="0" err="1">
                <a:latin typeface="+mn-ea"/>
              </a:rPr>
              <a:t>Memory</a:t>
            </a:r>
            <a:r>
              <a:rPr lang="ko-KR" altLang="ko-KR" sz="2400" b="1" dirty="0">
                <a:latin typeface="+mn-ea"/>
              </a:rPr>
              <a:t>)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ko-KR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short-term</a:t>
            </a:r>
            <a:r>
              <a:rPr lang="ko-KR" altLang="ko-KR" sz="2400" dirty="0">
                <a:latin typeface="+mn-ea"/>
              </a:rPr>
              <a:t> / </a:t>
            </a:r>
            <a:r>
              <a:rPr lang="ko-KR" altLang="ko-KR" sz="2400" dirty="0" err="1">
                <a:latin typeface="+mn-ea"/>
              </a:rPr>
              <a:t>long-term</a:t>
            </a:r>
            <a:r>
              <a:rPr lang="ko-KR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memory</a:t>
            </a:r>
            <a:r>
              <a:rPr lang="ko-KR" altLang="ko-KR" sz="2400" dirty="0">
                <a:latin typeface="+mn-ea"/>
              </a:rPr>
              <a:t> 기반 </a:t>
            </a:r>
            <a:r>
              <a:rPr lang="ko-KR" altLang="ko-KR" sz="2400" dirty="0" err="1">
                <a:latin typeface="+mn-ea"/>
              </a:rPr>
              <a:t>long-horizon</a:t>
            </a:r>
            <a:r>
              <a:rPr lang="ko-KR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task</a:t>
            </a:r>
            <a:r>
              <a:rPr lang="ko-KR" altLang="ko-KR" sz="2400" dirty="0">
                <a:latin typeface="+mn-ea"/>
              </a:rPr>
              <a:t> 안정성 향상</a:t>
            </a:r>
            <a:endParaRPr lang="en-US" altLang="ko-KR" sz="2400" dirty="0">
              <a:latin typeface="+mn-ea"/>
            </a:endParaRPr>
          </a:p>
          <a:p>
            <a:r>
              <a:rPr lang="ko-KR" altLang="ko-KR" sz="2400" b="1" dirty="0">
                <a:latin typeface="+mn-ea"/>
              </a:rPr>
              <a:t>RD-VLA (</a:t>
            </a:r>
            <a:r>
              <a:rPr lang="ko-KR" altLang="ko-KR" sz="2400" b="1" dirty="0" err="1">
                <a:latin typeface="+mn-ea"/>
              </a:rPr>
              <a:t>Recurrent-Depth</a:t>
            </a:r>
            <a:r>
              <a:rPr lang="ko-KR" altLang="ko-KR" sz="2400" b="1" dirty="0">
                <a:latin typeface="+mn-ea"/>
              </a:rPr>
              <a:t> VLA)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잠재 행동 계획을 반복적으로 </a:t>
            </a:r>
            <a:r>
              <a:rPr lang="ko-KR" altLang="en-US" sz="2400" dirty="0" err="1">
                <a:latin typeface="+mn-ea"/>
              </a:rPr>
              <a:t>정교화하여</a:t>
            </a:r>
            <a:r>
              <a:rPr lang="ko-KR" altLang="en-US" sz="2400" dirty="0">
                <a:latin typeface="+mn-ea"/>
              </a:rPr>
              <a:t> 장기 작업에서 더 정밀한 행동 궤적 생성</a:t>
            </a:r>
            <a:endParaRPr lang="en-US" altLang="ko-KR" sz="2400" dirty="0">
              <a:latin typeface="+mn-ea"/>
            </a:endParaRPr>
          </a:p>
          <a:p>
            <a:r>
              <a:rPr lang="ko-KR" altLang="ko-KR" sz="2400" b="1" dirty="0">
                <a:latin typeface="+mn-ea"/>
              </a:rPr>
              <a:t>π*0.6-lite </a:t>
            </a:r>
            <a:r>
              <a:rPr lang="ko-KR" altLang="ko-KR" sz="2400" b="1" dirty="0" err="1">
                <a:latin typeface="+mn-ea"/>
              </a:rPr>
              <a:t>Recovery</a:t>
            </a:r>
            <a:r>
              <a:rPr lang="ko-KR" altLang="ko-KR" sz="2400" b="1" dirty="0">
                <a:latin typeface="+mn-ea"/>
              </a:rPr>
              <a:t> </a:t>
            </a:r>
            <a:r>
              <a:rPr lang="ko-KR" altLang="ko-KR" sz="2400" b="1" dirty="0" err="1">
                <a:latin typeface="+mn-ea"/>
              </a:rPr>
              <a:t>Learning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ko-KR" sz="2400" dirty="0">
                <a:latin typeface="+mn-ea"/>
              </a:rPr>
              <a:t>실패 </a:t>
            </a:r>
            <a:r>
              <a:rPr lang="ko-KR" altLang="ko-KR" sz="2400" dirty="0" err="1">
                <a:latin typeface="+mn-ea"/>
              </a:rPr>
              <a:t>rollout과</a:t>
            </a:r>
            <a:r>
              <a:rPr lang="ko-KR" altLang="ko-KR" sz="2400" dirty="0">
                <a:latin typeface="+mn-ea"/>
              </a:rPr>
              <a:t> </a:t>
            </a:r>
            <a:r>
              <a:rPr lang="ko-KR" altLang="ko-KR" sz="2400" dirty="0" err="1">
                <a:latin typeface="+mn-ea"/>
              </a:rPr>
              <a:t>stage</a:t>
            </a:r>
            <a:r>
              <a:rPr lang="ko-KR" altLang="ko-KR" sz="2400" dirty="0">
                <a:latin typeface="+mn-ea"/>
              </a:rPr>
              <a:t>/</a:t>
            </a:r>
            <a:r>
              <a:rPr lang="ko-KR" altLang="ko-KR" sz="2400" dirty="0" err="1">
                <a:latin typeface="+mn-ea"/>
              </a:rPr>
              <a:t>value</a:t>
            </a:r>
            <a:r>
              <a:rPr lang="ko-KR" altLang="ko-KR" sz="2400" dirty="0">
                <a:latin typeface="+mn-ea"/>
              </a:rPr>
              <a:t> 정보를 활용하여 OOD 상태에서 </a:t>
            </a:r>
            <a:r>
              <a:rPr lang="ko-KR" altLang="ko-KR" sz="2400" dirty="0"/>
              <a:t>복구 행동 및 </a:t>
            </a:r>
            <a:r>
              <a:rPr lang="ko-KR" altLang="ko-KR" sz="2400" dirty="0" err="1"/>
              <a:t>rollout</a:t>
            </a:r>
            <a:r>
              <a:rPr lang="ko-KR" altLang="ko-KR" sz="2400" dirty="0"/>
              <a:t> 안정성 향상</a:t>
            </a:r>
            <a:endParaRPr lang="ko-KR" altLang="ko-KR" sz="2400" dirty="0">
              <a:latin typeface="+mn-ea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12367E2-2923-2FE1-2E7E-78D4E1A602A4}"/>
              </a:ext>
            </a:extLst>
          </p:cNvPr>
          <p:cNvSpPr txBox="1"/>
          <p:nvPr/>
        </p:nvSpPr>
        <p:spPr>
          <a:xfrm>
            <a:off x="10702097" y="21838918"/>
            <a:ext cx="4019006" cy="646331"/>
          </a:xfrm>
          <a:prstGeom prst="rect">
            <a:avLst/>
          </a:prstGeom>
          <a:gradFill>
            <a:gsLst>
              <a:gs pos="0">
                <a:schemeClr val="accent4">
                  <a:shade val="30000"/>
                  <a:satMod val="115000"/>
                  <a:lumMod val="48000"/>
                  <a:alpha val="9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rect">
              <a:fillToRect l="50000" t="50000" r="50000" b="50000"/>
            </a:path>
          </a:gradFill>
          <a:ln w="571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+mn-ea"/>
              </a:rPr>
              <a:t>향후 계획</a:t>
            </a: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3967B010-75E5-F8F0-58B6-DD939BD4F9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510" y="16302393"/>
            <a:ext cx="4581260" cy="4426488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196D2DC-283E-6471-F5DA-2B9B9FE0AF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9097" y="15822354"/>
            <a:ext cx="5314803" cy="489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77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777</TotalTime>
  <Words>572</Words>
  <Application>Microsoft Office PowerPoint</Application>
  <PresentationFormat>사용자 지정</PresentationFormat>
  <Paragraphs>142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Aptos</vt:lpstr>
      <vt:lpstr>Aptos Display</vt:lpstr>
      <vt:lpstr>Arial</vt:lpstr>
      <vt:lpstr>Cambria Math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강지호</dc:creator>
  <cp:lastModifiedBy>강지호</cp:lastModifiedBy>
  <cp:revision>19</cp:revision>
  <dcterms:created xsi:type="dcterms:W3CDTF">2026-05-22T04:49:17Z</dcterms:created>
  <dcterms:modified xsi:type="dcterms:W3CDTF">2026-05-26T06:33:06Z</dcterms:modified>
</cp:coreProperties>
</file>